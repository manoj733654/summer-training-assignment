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82" r:id="rId2"/>
    <p:sldId id="283" r:id="rId3"/>
    <p:sldId id="284" r:id="rId4"/>
    <p:sldId id="285" r:id="rId5"/>
    <p:sldId id="286" r:id="rId6"/>
    <p:sldId id="287" r:id="rId7"/>
    <p:sldId id="271" r:id="rId8"/>
    <p:sldId id="273" r:id="rId9"/>
    <p:sldId id="274" r:id="rId10"/>
    <p:sldId id="279" r:id="rId11"/>
    <p:sldId id="276" r:id="rId12"/>
    <p:sldId id="277" r:id="rId13"/>
    <p:sldId id="280" r:id="rId14"/>
    <p:sldId id="281" r:id="rId15"/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</p:sldIdLst>
  <p:sldSz cx="12069763" cy="147224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8EB67D-872F-55B2-8C45-232B8F3384D2}" v="384" dt="2026-06-17T04:10:32.259"/>
    <p1510:client id="{FA1D3503-8121-40C0-AD24-DC185F72742E}" v="32" dt="2026-06-17T03:19:13.2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925" y="-12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5232" y="2409443"/>
            <a:ext cx="10259299" cy="5125602"/>
          </a:xfrm>
        </p:spPr>
        <p:txBody>
          <a:bodyPr anchor="b"/>
          <a:lstStyle>
            <a:lvl1pPr algn="ctr">
              <a:defRPr sz="79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21" y="7732709"/>
            <a:ext cx="9052322" cy="3554522"/>
          </a:xfrm>
        </p:spPr>
        <p:txBody>
          <a:bodyPr/>
          <a:lstStyle>
            <a:lvl1pPr marL="0" indent="0" algn="ctr">
              <a:buNone/>
              <a:defRPr sz="3168"/>
            </a:lvl1pPr>
            <a:lvl2pPr marL="603504" indent="0" algn="ctr">
              <a:buNone/>
              <a:defRPr sz="2640"/>
            </a:lvl2pPr>
            <a:lvl3pPr marL="1207008" indent="0" algn="ctr">
              <a:buNone/>
              <a:defRPr sz="2376"/>
            </a:lvl3pPr>
            <a:lvl4pPr marL="1810512" indent="0" algn="ctr">
              <a:buNone/>
              <a:defRPr sz="2112"/>
            </a:lvl4pPr>
            <a:lvl5pPr marL="2414016" indent="0" algn="ctr">
              <a:buNone/>
              <a:defRPr sz="2112"/>
            </a:lvl5pPr>
            <a:lvl6pPr marL="3017520" indent="0" algn="ctr">
              <a:buNone/>
              <a:defRPr sz="2112"/>
            </a:lvl6pPr>
            <a:lvl7pPr marL="3621024" indent="0" algn="ctr">
              <a:buNone/>
              <a:defRPr sz="2112"/>
            </a:lvl7pPr>
            <a:lvl8pPr marL="4224528" indent="0" algn="ctr">
              <a:buNone/>
              <a:defRPr sz="2112"/>
            </a:lvl8pPr>
            <a:lvl9pPr marL="4828032" indent="0" algn="ctr">
              <a:buNone/>
              <a:defRPr sz="2112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5BD2-5EF3-49C8-BC44-C3201F814ED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390D3-78DC-4948-8331-74801D2A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222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5BD2-5EF3-49C8-BC44-C3201F814ED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390D3-78DC-4948-8331-74801D2A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02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3510" y="3670399"/>
            <a:ext cx="10410171" cy="6124140"/>
          </a:xfrm>
        </p:spPr>
        <p:txBody>
          <a:bodyPr anchor="b"/>
          <a:lstStyle>
            <a:lvl1pPr>
              <a:defRPr sz="79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3510" y="9852476"/>
            <a:ext cx="10410171" cy="3220540"/>
          </a:xfrm>
        </p:spPr>
        <p:txBody>
          <a:bodyPr/>
          <a:lstStyle>
            <a:lvl1pPr marL="0" indent="0">
              <a:buNone/>
              <a:defRPr sz="3168">
                <a:solidFill>
                  <a:schemeClr val="tx1">
                    <a:tint val="82000"/>
                  </a:schemeClr>
                </a:solidFill>
              </a:defRPr>
            </a:lvl1pPr>
            <a:lvl2pPr marL="603504" indent="0">
              <a:buNone/>
              <a:defRPr sz="2640">
                <a:solidFill>
                  <a:schemeClr val="tx1">
                    <a:tint val="82000"/>
                  </a:schemeClr>
                </a:solidFill>
              </a:defRPr>
            </a:lvl2pPr>
            <a:lvl3pPr marL="1207008" indent="0">
              <a:buNone/>
              <a:defRPr sz="2376">
                <a:solidFill>
                  <a:schemeClr val="tx1">
                    <a:tint val="82000"/>
                  </a:schemeClr>
                </a:solidFill>
              </a:defRPr>
            </a:lvl3pPr>
            <a:lvl4pPr marL="1810512" indent="0">
              <a:buNone/>
              <a:defRPr sz="2112">
                <a:solidFill>
                  <a:schemeClr val="tx1">
                    <a:tint val="82000"/>
                  </a:schemeClr>
                </a:solidFill>
              </a:defRPr>
            </a:lvl4pPr>
            <a:lvl5pPr marL="2414016" indent="0">
              <a:buNone/>
              <a:defRPr sz="2112">
                <a:solidFill>
                  <a:schemeClr val="tx1">
                    <a:tint val="82000"/>
                  </a:schemeClr>
                </a:solidFill>
              </a:defRPr>
            </a:lvl5pPr>
            <a:lvl6pPr marL="3017520" indent="0">
              <a:buNone/>
              <a:defRPr sz="2112">
                <a:solidFill>
                  <a:schemeClr val="tx1">
                    <a:tint val="82000"/>
                  </a:schemeClr>
                </a:solidFill>
              </a:defRPr>
            </a:lvl6pPr>
            <a:lvl7pPr marL="3621024" indent="0">
              <a:buNone/>
              <a:defRPr sz="2112">
                <a:solidFill>
                  <a:schemeClr val="tx1">
                    <a:tint val="82000"/>
                  </a:schemeClr>
                </a:solidFill>
              </a:defRPr>
            </a:lvl7pPr>
            <a:lvl8pPr marL="4224528" indent="0">
              <a:buNone/>
              <a:defRPr sz="2112">
                <a:solidFill>
                  <a:schemeClr val="tx1">
                    <a:tint val="82000"/>
                  </a:schemeClr>
                </a:solidFill>
              </a:defRPr>
            </a:lvl8pPr>
            <a:lvl9pPr marL="4828032" indent="0">
              <a:buNone/>
              <a:defRPr sz="211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5BD2-5EF3-49C8-BC44-C3201F814ED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390D3-78DC-4948-8331-74801D2A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121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9796" y="3919177"/>
            <a:ext cx="5129649" cy="9341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0318" y="3919177"/>
            <a:ext cx="5129649" cy="9341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5BD2-5EF3-49C8-BC44-C3201F814ED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390D3-78DC-4948-8331-74801D2A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030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368" y="783839"/>
            <a:ext cx="10410171" cy="28456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369" y="3609052"/>
            <a:ext cx="5106075" cy="1768741"/>
          </a:xfrm>
        </p:spPr>
        <p:txBody>
          <a:bodyPr anchor="b"/>
          <a:lstStyle>
            <a:lvl1pPr marL="0" indent="0">
              <a:buNone/>
              <a:defRPr sz="3168" b="1"/>
            </a:lvl1pPr>
            <a:lvl2pPr marL="603504" indent="0">
              <a:buNone/>
              <a:defRPr sz="2640" b="1"/>
            </a:lvl2pPr>
            <a:lvl3pPr marL="1207008" indent="0">
              <a:buNone/>
              <a:defRPr sz="2376" b="1"/>
            </a:lvl3pPr>
            <a:lvl4pPr marL="1810512" indent="0">
              <a:buNone/>
              <a:defRPr sz="2112" b="1"/>
            </a:lvl4pPr>
            <a:lvl5pPr marL="2414016" indent="0">
              <a:buNone/>
              <a:defRPr sz="2112" b="1"/>
            </a:lvl5pPr>
            <a:lvl6pPr marL="3017520" indent="0">
              <a:buNone/>
              <a:defRPr sz="2112" b="1"/>
            </a:lvl6pPr>
            <a:lvl7pPr marL="3621024" indent="0">
              <a:buNone/>
              <a:defRPr sz="2112" b="1"/>
            </a:lvl7pPr>
            <a:lvl8pPr marL="4224528" indent="0">
              <a:buNone/>
              <a:defRPr sz="2112" b="1"/>
            </a:lvl8pPr>
            <a:lvl9pPr marL="4828032" indent="0">
              <a:buNone/>
              <a:defRPr sz="211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369" y="5377793"/>
            <a:ext cx="5106075" cy="79099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10318" y="3609052"/>
            <a:ext cx="5131221" cy="1768741"/>
          </a:xfrm>
        </p:spPr>
        <p:txBody>
          <a:bodyPr anchor="b"/>
          <a:lstStyle>
            <a:lvl1pPr marL="0" indent="0">
              <a:buNone/>
              <a:defRPr sz="3168" b="1"/>
            </a:lvl1pPr>
            <a:lvl2pPr marL="603504" indent="0">
              <a:buNone/>
              <a:defRPr sz="2640" b="1"/>
            </a:lvl2pPr>
            <a:lvl3pPr marL="1207008" indent="0">
              <a:buNone/>
              <a:defRPr sz="2376" b="1"/>
            </a:lvl3pPr>
            <a:lvl4pPr marL="1810512" indent="0">
              <a:buNone/>
              <a:defRPr sz="2112" b="1"/>
            </a:lvl4pPr>
            <a:lvl5pPr marL="2414016" indent="0">
              <a:buNone/>
              <a:defRPr sz="2112" b="1"/>
            </a:lvl5pPr>
            <a:lvl6pPr marL="3017520" indent="0">
              <a:buNone/>
              <a:defRPr sz="2112" b="1"/>
            </a:lvl6pPr>
            <a:lvl7pPr marL="3621024" indent="0">
              <a:buNone/>
              <a:defRPr sz="2112" b="1"/>
            </a:lvl7pPr>
            <a:lvl8pPr marL="4224528" indent="0">
              <a:buNone/>
              <a:defRPr sz="2112" b="1"/>
            </a:lvl8pPr>
            <a:lvl9pPr marL="4828032" indent="0">
              <a:buNone/>
              <a:defRPr sz="211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10318" y="5377793"/>
            <a:ext cx="5131221" cy="79099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5BD2-5EF3-49C8-BC44-C3201F814ED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390D3-78DC-4948-8331-74801D2A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312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5BD2-5EF3-49C8-BC44-C3201F814ED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390D3-78DC-4948-8331-74801D2A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110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5BD2-5EF3-49C8-BC44-C3201F814ED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390D3-78DC-4948-8331-74801D2A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845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368" y="981498"/>
            <a:ext cx="3892813" cy="3435244"/>
          </a:xfrm>
        </p:spPr>
        <p:txBody>
          <a:bodyPr anchor="b"/>
          <a:lstStyle>
            <a:lvl1pPr>
              <a:defRPr sz="422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221" y="2119767"/>
            <a:ext cx="6110318" cy="10462500"/>
          </a:xfrm>
        </p:spPr>
        <p:txBody>
          <a:bodyPr/>
          <a:lstStyle>
            <a:lvl1pPr>
              <a:defRPr sz="4224"/>
            </a:lvl1pPr>
            <a:lvl2pPr>
              <a:defRPr sz="3696"/>
            </a:lvl2pPr>
            <a:lvl3pPr>
              <a:defRPr sz="3168"/>
            </a:lvl3pPr>
            <a:lvl4pPr>
              <a:defRPr sz="2640"/>
            </a:lvl4pPr>
            <a:lvl5pPr>
              <a:defRPr sz="2640"/>
            </a:lvl5pPr>
            <a:lvl6pPr>
              <a:defRPr sz="2640"/>
            </a:lvl6pPr>
            <a:lvl7pPr>
              <a:defRPr sz="2640"/>
            </a:lvl7pPr>
            <a:lvl8pPr>
              <a:defRPr sz="2640"/>
            </a:lvl8pPr>
            <a:lvl9pPr>
              <a:defRPr sz="26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1368" y="4416742"/>
            <a:ext cx="3892813" cy="8182562"/>
          </a:xfrm>
        </p:spPr>
        <p:txBody>
          <a:bodyPr/>
          <a:lstStyle>
            <a:lvl1pPr marL="0" indent="0">
              <a:buNone/>
              <a:defRPr sz="2112"/>
            </a:lvl1pPr>
            <a:lvl2pPr marL="603504" indent="0">
              <a:buNone/>
              <a:defRPr sz="1848"/>
            </a:lvl2pPr>
            <a:lvl3pPr marL="1207008" indent="0">
              <a:buNone/>
              <a:defRPr sz="1584"/>
            </a:lvl3pPr>
            <a:lvl4pPr marL="1810512" indent="0">
              <a:buNone/>
              <a:defRPr sz="1320"/>
            </a:lvl4pPr>
            <a:lvl5pPr marL="2414016" indent="0">
              <a:buNone/>
              <a:defRPr sz="1320"/>
            </a:lvl5pPr>
            <a:lvl6pPr marL="3017520" indent="0">
              <a:buNone/>
              <a:defRPr sz="1320"/>
            </a:lvl6pPr>
            <a:lvl7pPr marL="3621024" indent="0">
              <a:buNone/>
              <a:defRPr sz="1320"/>
            </a:lvl7pPr>
            <a:lvl8pPr marL="4224528" indent="0">
              <a:buNone/>
              <a:defRPr sz="1320"/>
            </a:lvl8pPr>
            <a:lvl9pPr marL="4828032" indent="0">
              <a:buNone/>
              <a:defRPr sz="13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5BD2-5EF3-49C8-BC44-C3201F814ED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390D3-78DC-4948-8331-74801D2A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412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368" y="981498"/>
            <a:ext cx="3892813" cy="3435244"/>
          </a:xfrm>
        </p:spPr>
        <p:txBody>
          <a:bodyPr anchor="b"/>
          <a:lstStyle>
            <a:lvl1pPr>
              <a:defRPr sz="422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31221" y="2119767"/>
            <a:ext cx="6110318" cy="10462500"/>
          </a:xfrm>
        </p:spPr>
        <p:txBody>
          <a:bodyPr anchor="t"/>
          <a:lstStyle>
            <a:lvl1pPr marL="0" indent="0">
              <a:buNone/>
              <a:defRPr sz="4224"/>
            </a:lvl1pPr>
            <a:lvl2pPr marL="603504" indent="0">
              <a:buNone/>
              <a:defRPr sz="3696"/>
            </a:lvl2pPr>
            <a:lvl3pPr marL="1207008" indent="0">
              <a:buNone/>
              <a:defRPr sz="3168"/>
            </a:lvl3pPr>
            <a:lvl4pPr marL="1810512" indent="0">
              <a:buNone/>
              <a:defRPr sz="2640"/>
            </a:lvl4pPr>
            <a:lvl5pPr marL="2414016" indent="0">
              <a:buNone/>
              <a:defRPr sz="2640"/>
            </a:lvl5pPr>
            <a:lvl6pPr marL="3017520" indent="0">
              <a:buNone/>
              <a:defRPr sz="2640"/>
            </a:lvl6pPr>
            <a:lvl7pPr marL="3621024" indent="0">
              <a:buNone/>
              <a:defRPr sz="2640"/>
            </a:lvl7pPr>
            <a:lvl8pPr marL="4224528" indent="0">
              <a:buNone/>
              <a:defRPr sz="2640"/>
            </a:lvl8pPr>
            <a:lvl9pPr marL="4828032" indent="0">
              <a:buNone/>
              <a:defRPr sz="264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1368" y="4416742"/>
            <a:ext cx="3892813" cy="8182562"/>
          </a:xfrm>
        </p:spPr>
        <p:txBody>
          <a:bodyPr/>
          <a:lstStyle>
            <a:lvl1pPr marL="0" indent="0">
              <a:buNone/>
              <a:defRPr sz="2112"/>
            </a:lvl1pPr>
            <a:lvl2pPr marL="603504" indent="0">
              <a:buNone/>
              <a:defRPr sz="1848"/>
            </a:lvl2pPr>
            <a:lvl3pPr marL="1207008" indent="0">
              <a:buNone/>
              <a:defRPr sz="1584"/>
            </a:lvl3pPr>
            <a:lvl4pPr marL="1810512" indent="0">
              <a:buNone/>
              <a:defRPr sz="1320"/>
            </a:lvl4pPr>
            <a:lvl5pPr marL="2414016" indent="0">
              <a:buNone/>
              <a:defRPr sz="1320"/>
            </a:lvl5pPr>
            <a:lvl6pPr marL="3017520" indent="0">
              <a:buNone/>
              <a:defRPr sz="1320"/>
            </a:lvl6pPr>
            <a:lvl7pPr marL="3621024" indent="0">
              <a:buNone/>
              <a:defRPr sz="1320"/>
            </a:lvl7pPr>
            <a:lvl8pPr marL="4224528" indent="0">
              <a:buNone/>
              <a:defRPr sz="1320"/>
            </a:lvl8pPr>
            <a:lvl9pPr marL="4828032" indent="0">
              <a:buNone/>
              <a:defRPr sz="13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5BD2-5EF3-49C8-BC44-C3201F814ED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390D3-78DC-4948-8331-74801D2A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195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5BD2-5EF3-49C8-BC44-C3201F814ED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390D3-78DC-4948-8331-74801D2A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300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37425" y="783835"/>
            <a:ext cx="2602543" cy="124766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9797" y="783835"/>
            <a:ext cx="7656756" cy="124766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5BD2-5EF3-49C8-BC44-C3201F814ED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390D3-78DC-4948-8331-74801D2A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313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9796" y="783839"/>
            <a:ext cx="10410171" cy="2845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9796" y="3919177"/>
            <a:ext cx="10410171" cy="9341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9796" y="13645557"/>
            <a:ext cx="2715697" cy="7838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5E5BD2-5EF3-49C8-BC44-C3201F814ED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98109" y="13645557"/>
            <a:ext cx="4073545" cy="7838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24270" y="13645557"/>
            <a:ext cx="2715697" cy="7838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0390D3-78DC-4948-8331-74801D2A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144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1207008" rtl="0" eaLnBrk="1" latinLnBrk="0" hangingPunct="1">
        <a:lnSpc>
          <a:spcPct val="90000"/>
        </a:lnSpc>
        <a:spcBef>
          <a:spcPct val="0"/>
        </a:spcBef>
        <a:buNone/>
        <a:defRPr sz="580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1752" indent="-301752" algn="l" defTabSz="1207008" rtl="0" eaLnBrk="1" latinLnBrk="0" hangingPunct="1">
        <a:lnSpc>
          <a:spcPct val="90000"/>
        </a:lnSpc>
        <a:spcBef>
          <a:spcPts val="1320"/>
        </a:spcBef>
        <a:buFont typeface="Arial" panose="020B0604020202020204" pitchFamily="34" charset="0"/>
        <a:buChar char="•"/>
        <a:defRPr sz="3696" kern="1200">
          <a:solidFill>
            <a:schemeClr val="tx1"/>
          </a:solidFill>
          <a:latin typeface="+mn-lt"/>
          <a:ea typeface="+mn-ea"/>
          <a:cs typeface="+mn-cs"/>
        </a:defRPr>
      </a:lvl1pPr>
      <a:lvl2pPr marL="905256" indent="-301752" algn="l" defTabSz="1207008" rtl="0" eaLnBrk="1" latinLnBrk="0" hangingPunct="1">
        <a:lnSpc>
          <a:spcPct val="90000"/>
        </a:lnSpc>
        <a:spcBef>
          <a:spcPts val="660"/>
        </a:spcBef>
        <a:buFont typeface="Arial" panose="020B0604020202020204" pitchFamily="34" charset="0"/>
        <a:buChar char="•"/>
        <a:defRPr sz="3168" kern="1200">
          <a:solidFill>
            <a:schemeClr val="tx1"/>
          </a:solidFill>
          <a:latin typeface="+mn-lt"/>
          <a:ea typeface="+mn-ea"/>
          <a:cs typeface="+mn-cs"/>
        </a:defRPr>
      </a:lvl2pPr>
      <a:lvl3pPr marL="1508760" indent="-301752" algn="l" defTabSz="1207008" rtl="0" eaLnBrk="1" latinLnBrk="0" hangingPunct="1">
        <a:lnSpc>
          <a:spcPct val="90000"/>
        </a:lnSpc>
        <a:spcBef>
          <a:spcPts val="66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3pPr>
      <a:lvl4pPr marL="2112264" indent="-301752" algn="l" defTabSz="1207008" rtl="0" eaLnBrk="1" latinLnBrk="0" hangingPunct="1">
        <a:lnSpc>
          <a:spcPct val="90000"/>
        </a:lnSpc>
        <a:spcBef>
          <a:spcPts val="660"/>
        </a:spcBef>
        <a:buFont typeface="Arial" panose="020B0604020202020204" pitchFamily="34" charset="0"/>
        <a:buChar char="•"/>
        <a:defRPr sz="2376" kern="1200">
          <a:solidFill>
            <a:schemeClr val="tx1"/>
          </a:solidFill>
          <a:latin typeface="+mn-lt"/>
          <a:ea typeface="+mn-ea"/>
          <a:cs typeface="+mn-cs"/>
        </a:defRPr>
      </a:lvl4pPr>
      <a:lvl5pPr marL="2715768" indent="-301752" algn="l" defTabSz="1207008" rtl="0" eaLnBrk="1" latinLnBrk="0" hangingPunct="1">
        <a:lnSpc>
          <a:spcPct val="90000"/>
        </a:lnSpc>
        <a:spcBef>
          <a:spcPts val="660"/>
        </a:spcBef>
        <a:buFont typeface="Arial" panose="020B0604020202020204" pitchFamily="34" charset="0"/>
        <a:buChar char="•"/>
        <a:defRPr sz="2376" kern="1200">
          <a:solidFill>
            <a:schemeClr val="tx1"/>
          </a:solidFill>
          <a:latin typeface="+mn-lt"/>
          <a:ea typeface="+mn-ea"/>
          <a:cs typeface="+mn-cs"/>
        </a:defRPr>
      </a:lvl5pPr>
      <a:lvl6pPr marL="3319272" indent="-301752" algn="l" defTabSz="1207008" rtl="0" eaLnBrk="1" latinLnBrk="0" hangingPunct="1">
        <a:lnSpc>
          <a:spcPct val="90000"/>
        </a:lnSpc>
        <a:spcBef>
          <a:spcPts val="660"/>
        </a:spcBef>
        <a:buFont typeface="Arial" panose="020B0604020202020204" pitchFamily="34" charset="0"/>
        <a:buChar char="•"/>
        <a:defRPr sz="2376" kern="1200">
          <a:solidFill>
            <a:schemeClr val="tx1"/>
          </a:solidFill>
          <a:latin typeface="+mn-lt"/>
          <a:ea typeface="+mn-ea"/>
          <a:cs typeface="+mn-cs"/>
        </a:defRPr>
      </a:lvl6pPr>
      <a:lvl7pPr marL="3922776" indent="-301752" algn="l" defTabSz="1207008" rtl="0" eaLnBrk="1" latinLnBrk="0" hangingPunct="1">
        <a:lnSpc>
          <a:spcPct val="90000"/>
        </a:lnSpc>
        <a:spcBef>
          <a:spcPts val="660"/>
        </a:spcBef>
        <a:buFont typeface="Arial" panose="020B0604020202020204" pitchFamily="34" charset="0"/>
        <a:buChar char="•"/>
        <a:defRPr sz="2376" kern="1200">
          <a:solidFill>
            <a:schemeClr val="tx1"/>
          </a:solidFill>
          <a:latin typeface="+mn-lt"/>
          <a:ea typeface="+mn-ea"/>
          <a:cs typeface="+mn-cs"/>
        </a:defRPr>
      </a:lvl7pPr>
      <a:lvl8pPr marL="4526280" indent="-301752" algn="l" defTabSz="1207008" rtl="0" eaLnBrk="1" latinLnBrk="0" hangingPunct="1">
        <a:lnSpc>
          <a:spcPct val="90000"/>
        </a:lnSpc>
        <a:spcBef>
          <a:spcPts val="660"/>
        </a:spcBef>
        <a:buFont typeface="Arial" panose="020B0604020202020204" pitchFamily="34" charset="0"/>
        <a:buChar char="•"/>
        <a:defRPr sz="2376" kern="1200">
          <a:solidFill>
            <a:schemeClr val="tx1"/>
          </a:solidFill>
          <a:latin typeface="+mn-lt"/>
          <a:ea typeface="+mn-ea"/>
          <a:cs typeface="+mn-cs"/>
        </a:defRPr>
      </a:lvl8pPr>
      <a:lvl9pPr marL="5129784" indent="-301752" algn="l" defTabSz="1207008" rtl="0" eaLnBrk="1" latinLnBrk="0" hangingPunct="1">
        <a:lnSpc>
          <a:spcPct val="90000"/>
        </a:lnSpc>
        <a:spcBef>
          <a:spcPts val="660"/>
        </a:spcBef>
        <a:buFont typeface="Arial" panose="020B0604020202020204" pitchFamily="34" charset="0"/>
        <a:buChar char="•"/>
        <a:defRPr sz="23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07008" rtl="0" eaLnBrk="1" latinLnBrk="0" hangingPunct="1">
        <a:defRPr sz="2376" kern="1200">
          <a:solidFill>
            <a:schemeClr val="tx1"/>
          </a:solidFill>
          <a:latin typeface="+mn-lt"/>
          <a:ea typeface="+mn-ea"/>
          <a:cs typeface="+mn-cs"/>
        </a:defRPr>
      </a:lvl1pPr>
      <a:lvl2pPr marL="603504" algn="l" defTabSz="1207008" rtl="0" eaLnBrk="1" latinLnBrk="0" hangingPunct="1">
        <a:defRPr sz="2376" kern="1200">
          <a:solidFill>
            <a:schemeClr val="tx1"/>
          </a:solidFill>
          <a:latin typeface="+mn-lt"/>
          <a:ea typeface="+mn-ea"/>
          <a:cs typeface="+mn-cs"/>
        </a:defRPr>
      </a:lvl2pPr>
      <a:lvl3pPr marL="1207008" algn="l" defTabSz="1207008" rtl="0" eaLnBrk="1" latinLnBrk="0" hangingPunct="1">
        <a:defRPr sz="2376" kern="1200">
          <a:solidFill>
            <a:schemeClr val="tx1"/>
          </a:solidFill>
          <a:latin typeface="+mn-lt"/>
          <a:ea typeface="+mn-ea"/>
          <a:cs typeface="+mn-cs"/>
        </a:defRPr>
      </a:lvl3pPr>
      <a:lvl4pPr marL="1810512" algn="l" defTabSz="1207008" rtl="0" eaLnBrk="1" latinLnBrk="0" hangingPunct="1">
        <a:defRPr sz="2376" kern="1200">
          <a:solidFill>
            <a:schemeClr val="tx1"/>
          </a:solidFill>
          <a:latin typeface="+mn-lt"/>
          <a:ea typeface="+mn-ea"/>
          <a:cs typeface="+mn-cs"/>
        </a:defRPr>
      </a:lvl4pPr>
      <a:lvl5pPr marL="2414016" algn="l" defTabSz="1207008" rtl="0" eaLnBrk="1" latinLnBrk="0" hangingPunct="1">
        <a:defRPr sz="2376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algn="l" defTabSz="1207008" rtl="0" eaLnBrk="1" latinLnBrk="0" hangingPunct="1">
        <a:defRPr sz="2376" kern="1200">
          <a:solidFill>
            <a:schemeClr val="tx1"/>
          </a:solidFill>
          <a:latin typeface="+mn-lt"/>
          <a:ea typeface="+mn-ea"/>
          <a:cs typeface="+mn-cs"/>
        </a:defRPr>
      </a:lvl6pPr>
      <a:lvl7pPr marL="3621024" algn="l" defTabSz="1207008" rtl="0" eaLnBrk="1" latinLnBrk="0" hangingPunct="1">
        <a:defRPr sz="2376" kern="1200">
          <a:solidFill>
            <a:schemeClr val="tx1"/>
          </a:solidFill>
          <a:latin typeface="+mn-lt"/>
          <a:ea typeface="+mn-ea"/>
          <a:cs typeface="+mn-cs"/>
        </a:defRPr>
      </a:lvl7pPr>
      <a:lvl8pPr marL="4224528" algn="l" defTabSz="1207008" rtl="0" eaLnBrk="1" latinLnBrk="0" hangingPunct="1">
        <a:defRPr sz="2376" kern="1200">
          <a:solidFill>
            <a:schemeClr val="tx1"/>
          </a:solidFill>
          <a:latin typeface="+mn-lt"/>
          <a:ea typeface="+mn-ea"/>
          <a:cs typeface="+mn-cs"/>
        </a:defRPr>
      </a:lvl8pPr>
      <a:lvl9pPr marL="4828032" algn="l" defTabSz="1207008" rtl="0" eaLnBrk="1" latinLnBrk="0" hangingPunct="1">
        <a:defRPr sz="23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627A83-3195-96C0-85D7-801ED3F4276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935132" y="390729"/>
            <a:ext cx="603231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Question 1 what is a conditional statement in programming ?</a:t>
            </a: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Ans: </a:t>
            </a:r>
            <a:r>
              <a:rPr lang="en-IN" dirty="0"/>
              <a:t>A </a:t>
            </a:r>
            <a:r>
              <a:rPr lang="en-IN" b="1" dirty="0"/>
              <a:t>conditional statement</a:t>
            </a:r>
            <a:r>
              <a:rPr lang="en-IN" dirty="0"/>
              <a:t> is a programming statement that allows a program to make decisions based on a condition. If the condition is true, one block of code runs; otherwise, another block may run.</a:t>
            </a:r>
            <a:endParaRPr lang="en-US" b="0" i="0" dirty="0">
              <a:effectLst/>
              <a:latin typeface="-apple-system-body"/>
            </a:endParaRPr>
          </a:p>
          <a:p>
            <a:pPr>
              <a:buNone/>
            </a:pPr>
            <a:r>
              <a:rPr lang="en-US" dirty="0"/>
              <a:t>Example:</a:t>
            </a:r>
          </a:p>
          <a:p>
            <a:pPr>
              <a:buNone/>
            </a:pPr>
            <a:r>
              <a:rPr lang="en-US" dirty="0"/>
              <a:t>int age = 18;</a:t>
            </a:r>
          </a:p>
          <a:p>
            <a:pPr>
              <a:buNone/>
            </a:pPr>
            <a:r>
              <a:rPr lang="en-US" dirty="0"/>
              <a:t>if (age &gt;= 18)</a:t>
            </a:r>
          </a:p>
          <a:p>
            <a:pPr>
              <a:buNone/>
            </a:pPr>
            <a:r>
              <a:rPr lang="en-US" dirty="0"/>
              <a:t>{</a:t>
            </a:r>
          </a:p>
          <a:p>
            <a:pPr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"You are eligible to vote.";</a:t>
            </a:r>
          </a:p>
          <a:p>
            <a:pPr>
              <a:buNone/>
            </a:pPr>
            <a:r>
              <a:rPr lang="en-US" dirty="0"/>
              <a:t>}</a:t>
            </a:r>
          </a:p>
          <a:p>
            <a:pPr>
              <a:buNone/>
            </a:pPr>
            <a:r>
              <a:rPr lang="en-US" dirty="0"/>
              <a:t>Output=You are eligible to vote.</a:t>
            </a:r>
            <a:br>
              <a:rPr lang="en-US" dirty="0"/>
            </a:b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3A9B4-5979-C7B5-72F0-902446B7C55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931246" y="3269179"/>
            <a:ext cx="6036196" cy="104720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buNone/>
            </a:pPr>
            <a:br>
              <a:rPr lang="en-US" b="0" i="0" dirty="0">
                <a:effectLst/>
                <a:latin typeface="-apple-system-body"/>
              </a:rPr>
            </a:br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350"/>
              </a:lnSpc>
              <a:spcAft>
                <a:spcPts val="1200"/>
              </a:spcAft>
              <a:buNone/>
            </a:pPr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Question 2   what does an if statement do?</a:t>
            </a:r>
          </a:p>
          <a:p>
            <a:r>
              <a:rPr lang="en-US" dirty="0">
                <a:solidFill>
                  <a:srgbClr val="0D0D0D"/>
                </a:solidFill>
                <a:latin typeface="-apple-system-body"/>
              </a:rPr>
              <a:t>Ans: </a:t>
            </a:r>
            <a:r>
              <a:rPr lang="en-IN" dirty="0"/>
              <a:t>An </a:t>
            </a:r>
            <a:r>
              <a:rPr lang="en-IN" b="1" dirty="0"/>
              <a:t>if statement</a:t>
            </a:r>
            <a:r>
              <a:rPr lang="en-IN" dirty="0"/>
              <a:t> is used to make decisions in a program. It checks a condition and executes a block of code only if the condition is </a:t>
            </a:r>
            <a:r>
              <a:rPr lang="en-IN" b="1" dirty="0"/>
              <a:t>true</a:t>
            </a:r>
            <a:r>
              <a:rPr lang="en-IN" dirty="0"/>
              <a:t>.</a:t>
            </a:r>
            <a:br>
              <a:rPr lang="en-US" b="0" i="0" dirty="0">
                <a:effectLst/>
                <a:latin typeface="-apple-system-body"/>
              </a:rPr>
            </a:br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 dirty="0">
                <a:solidFill>
                  <a:srgbClr val="0D0D0D"/>
                </a:solidFill>
                <a:effectLst/>
                <a:latin typeface="-apple-system-body"/>
              </a:rPr>
              <a:t>Syntax</a:t>
            </a:r>
            <a:r>
              <a:rPr lang="en-US" b="1" dirty="0">
                <a:solidFill>
                  <a:srgbClr val="0D0D0D"/>
                </a:solidFill>
                <a:latin typeface="-apple-system-body"/>
              </a:rPr>
              <a:t>:</a:t>
            </a:r>
          </a:p>
          <a:p>
            <a:pPr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</a:pPr>
            <a:r>
              <a:rPr lang="en-US" dirty="0">
                <a:solidFill>
                  <a:srgbClr val="0D0D0D"/>
                </a:solidFill>
                <a:latin typeface="-apple-system-body"/>
              </a:rPr>
              <a:t>if (condition)</a:t>
            </a:r>
          </a:p>
          <a:p>
            <a:pPr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</a:pPr>
            <a:r>
              <a:rPr lang="en-US" dirty="0">
                <a:solidFill>
                  <a:srgbClr val="0D0D0D"/>
                </a:solidFill>
                <a:latin typeface="-apple-system-body"/>
              </a:rPr>
              <a:t>{</a:t>
            </a:r>
          </a:p>
          <a:p>
            <a:pPr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</a:pPr>
            <a:r>
              <a:rPr lang="en-US" dirty="0">
                <a:solidFill>
                  <a:srgbClr val="0D0D0D"/>
                </a:solidFill>
                <a:latin typeface="-apple-system-body"/>
              </a:rPr>
              <a:t>    // code to execute if condition is true</a:t>
            </a:r>
          </a:p>
          <a:p>
            <a:pPr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</a:pPr>
            <a:r>
              <a:rPr lang="en-US" dirty="0">
                <a:solidFill>
                  <a:srgbClr val="0D0D0D"/>
                </a:solidFill>
                <a:latin typeface="-apple-system-body"/>
              </a:rPr>
              <a:t>}</a:t>
            </a:r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 dirty="0">
                <a:solidFill>
                  <a:srgbClr val="0D0D0D"/>
                </a:solidFill>
                <a:effectLst/>
                <a:latin typeface="-apple-system-body"/>
              </a:rPr>
              <a:t> Example:</a:t>
            </a:r>
          </a:p>
          <a:p>
            <a:pPr>
              <a:lnSpc>
                <a:spcPts val="1950"/>
              </a:lnSpc>
              <a:spcAft>
                <a:spcPts val="300"/>
              </a:spcAft>
            </a:pPr>
            <a:r>
              <a:rPr lang="en-US" dirty="0">
                <a:solidFill>
                  <a:srgbClr val="0D0D0D"/>
                </a:solidFill>
                <a:latin typeface="ui-monospace"/>
              </a:rPr>
              <a:t>#include &lt;iostream&gt;</a:t>
            </a:r>
          </a:p>
          <a:p>
            <a:pPr>
              <a:lnSpc>
                <a:spcPts val="1950"/>
              </a:lnSpc>
              <a:spcAft>
                <a:spcPts val="300"/>
              </a:spcAft>
            </a:pPr>
            <a:r>
              <a:rPr lang="en-US" dirty="0">
                <a:solidFill>
                  <a:srgbClr val="0D0D0D"/>
                </a:solidFill>
                <a:latin typeface="ui-monospace"/>
              </a:rPr>
              <a:t>using namespace std;</a:t>
            </a:r>
          </a:p>
          <a:p>
            <a:pPr>
              <a:lnSpc>
                <a:spcPts val="1950"/>
              </a:lnSpc>
              <a:spcAft>
                <a:spcPts val="300"/>
              </a:spcAft>
            </a:pPr>
            <a:r>
              <a:rPr lang="en-US" dirty="0">
                <a:solidFill>
                  <a:srgbClr val="0D0D0D"/>
                </a:solidFill>
                <a:latin typeface="ui-monospace"/>
              </a:rPr>
              <a:t>int main()</a:t>
            </a:r>
          </a:p>
          <a:p>
            <a:pPr>
              <a:lnSpc>
                <a:spcPts val="1950"/>
              </a:lnSpc>
              <a:spcAft>
                <a:spcPts val="300"/>
              </a:spcAft>
            </a:pPr>
            <a:r>
              <a:rPr lang="en-US" dirty="0">
                <a:solidFill>
                  <a:srgbClr val="0D0D0D"/>
                </a:solidFill>
                <a:latin typeface="ui-monospace"/>
              </a:rPr>
              <a:t>{</a:t>
            </a:r>
          </a:p>
          <a:p>
            <a:pPr>
              <a:lnSpc>
                <a:spcPts val="1950"/>
              </a:lnSpc>
              <a:spcAft>
                <a:spcPts val="300"/>
              </a:spcAft>
            </a:pPr>
            <a:r>
              <a:rPr lang="en-US" dirty="0">
                <a:solidFill>
                  <a:srgbClr val="0D0D0D"/>
                </a:solidFill>
                <a:latin typeface="ui-monospace"/>
              </a:rPr>
              <a:t>    int age = 20;</a:t>
            </a:r>
          </a:p>
          <a:p>
            <a:pPr>
              <a:lnSpc>
                <a:spcPts val="1950"/>
              </a:lnSpc>
              <a:spcAft>
                <a:spcPts val="300"/>
              </a:spcAft>
            </a:pPr>
            <a:endParaRPr lang="en-US" dirty="0">
              <a:solidFill>
                <a:srgbClr val="0D0D0D"/>
              </a:solidFill>
              <a:latin typeface="ui-monospace"/>
            </a:endParaRPr>
          </a:p>
          <a:p>
            <a:pPr>
              <a:lnSpc>
                <a:spcPts val="1950"/>
              </a:lnSpc>
              <a:spcAft>
                <a:spcPts val="300"/>
              </a:spcAft>
            </a:pPr>
            <a:r>
              <a:rPr lang="en-US" dirty="0">
                <a:solidFill>
                  <a:srgbClr val="0D0D0D"/>
                </a:solidFill>
                <a:latin typeface="ui-monospace"/>
              </a:rPr>
              <a:t>    if (age &gt;= 18)</a:t>
            </a:r>
          </a:p>
          <a:p>
            <a:pPr>
              <a:lnSpc>
                <a:spcPts val="1950"/>
              </a:lnSpc>
              <a:spcAft>
                <a:spcPts val="300"/>
              </a:spcAft>
            </a:pPr>
            <a:r>
              <a:rPr lang="en-US" dirty="0">
                <a:solidFill>
                  <a:srgbClr val="0D0D0D"/>
                </a:solidFill>
                <a:latin typeface="ui-monospace"/>
              </a:rPr>
              <a:t>    {</a:t>
            </a:r>
          </a:p>
          <a:p>
            <a:pPr>
              <a:lnSpc>
                <a:spcPts val="1950"/>
              </a:lnSpc>
              <a:spcAft>
                <a:spcPts val="300"/>
              </a:spcAft>
            </a:pPr>
            <a:r>
              <a:rPr lang="en-US" dirty="0">
                <a:solidFill>
                  <a:srgbClr val="0D0D0D"/>
                </a:solidFill>
                <a:latin typeface="ui-monospace"/>
              </a:rPr>
              <a:t>        </a:t>
            </a:r>
            <a:r>
              <a:rPr lang="en-US" dirty="0" err="1">
                <a:solidFill>
                  <a:srgbClr val="0D0D0D"/>
                </a:solidFill>
                <a:latin typeface="ui-monospace"/>
              </a:rPr>
              <a:t>cout</a:t>
            </a:r>
            <a:r>
              <a:rPr lang="en-US" dirty="0">
                <a:solidFill>
                  <a:srgbClr val="0D0D0D"/>
                </a:solidFill>
                <a:latin typeface="ui-monospace"/>
              </a:rPr>
              <a:t> &lt;&lt; "You are eligible to vote.";</a:t>
            </a:r>
          </a:p>
          <a:p>
            <a:pPr>
              <a:lnSpc>
                <a:spcPts val="1950"/>
              </a:lnSpc>
              <a:spcAft>
                <a:spcPts val="300"/>
              </a:spcAft>
            </a:pPr>
            <a:r>
              <a:rPr lang="en-US" dirty="0">
                <a:solidFill>
                  <a:srgbClr val="0D0D0D"/>
                </a:solidFill>
                <a:latin typeface="ui-monospace"/>
              </a:rPr>
              <a:t>    }</a:t>
            </a:r>
          </a:p>
          <a:p>
            <a:pPr>
              <a:lnSpc>
                <a:spcPts val="1950"/>
              </a:lnSpc>
              <a:spcAft>
                <a:spcPts val="300"/>
              </a:spcAft>
            </a:pPr>
            <a:r>
              <a:rPr lang="en-US" dirty="0">
                <a:solidFill>
                  <a:srgbClr val="0D0D0D"/>
                </a:solidFill>
                <a:latin typeface="ui-monospace"/>
              </a:rPr>
              <a:t>    return 0;</a:t>
            </a:r>
          </a:p>
          <a:p>
            <a:pPr>
              <a:lnSpc>
                <a:spcPts val="1950"/>
              </a:lnSpc>
              <a:spcAft>
                <a:spcPts val="300"/>
              </a:spcAft>
            </a:pPr>
            <a:r>
              <a:rPr lang="en-US" dirty="0">
                <a:solidFill>
                  <a:srgbClr val="0D0D0D"/>
                </a:solidFill>
                <a:latin typeface="ui-monospace"/>
              </a:rPr>
              <a:t>}</a:t>
            </a:r>
            <a:endParaRPr lang="en-US" b="0" i="0" dirty="0">
              <a:solidFill>
                <a:srgbClr val="0D0D0D"/>
              </a:solidFill>
              <a:effectLst/>
              <a:latin typeface="ui-monospace"/>
            </a:endParaRP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 dirty="0">
                <a:solidFill>
                  <a:srgbClr val="0D0D0D"/>
                </a:solidFill>
                <a:effectLst/>
                <a:latin typeface="-apple-system-body"/>
              </a:rPr>
              <a:t> </a:t>
            </a:r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br>
              <a:rPr lang="en-US" b="0" i="0" dirty="0">
                <a:effectLst/>
                <a:latin typeface="-apple-system-body"/>
              </a:rPr>
            </a:br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242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FA8391-88D8-FC1A-89DE-4D394C507C3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16783" y="164087"/>
            <a:ext cx="6036196" cy="84228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buNone/>
            </a:pPr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Question 3    what is the purpose of an else statement?</a:t>
            </a:r>
            <a:br>
              <a:rPr lang="en-US" b="0" i="0" dirty="0">
                <a:effectLst/>
                <a:latin typeface="-apple-system-body"/>
              </a:rPr>
            </a:br>
            <a:r>
              <a:rPr lang="en-US" dirty="0">
                <a:solidFill>
                  <a:srgbClr val="0D0D0D"/>
                </a:solidFill>
                <a:latin typeface="-apple-system-body"/>
              </a:rPr>
              <a:t>Ans: </a:t>
            </a:r>
            <a:r>
              <a:rPr lang="en-IN" dirty="0"/>
              <a:t>An </a:t>
            </a:r>
            <a:r>
              <a:rPr lang="en-IN" b="1" dirty="0"/>
              <a:t>else statement</a:t>
            </a:r>
            <a:r>
              <a:rPr lang="en-IN" dirty="0"/>
              <a:t> is used to execute a block of code when the condition in an if statement is </a:t>
            </a:r>
            <a:r>
              <a:rPr lang="en-IN" b="1" dirty="0"/>
              <a:t>false</a:t>
            </a:r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 dirty="0">
                <a:effectLst/>
                <a:latin typeface="-apple-system-body"/>
              </a:rPr>
              <a:t>Syntax:</a:t>
            </a:r>
          </a:p>
          <a:p>
            <a:pPr>
              <a:lnSpc>
                <a:spcPts val="1950"/>
              </a:lnSpc>
            </a:pPr>
            <a:r>
              <a:rPr lang="en-US" dirty="0">
                <a:latin typeface="-apple-system-body"/>
              </a:rPr>
              <a:t>if (condition)</a:t>
            </a:r>
          </a:p>
          <a:p>
            <a:pPr>
              <a:lnSpc>
                <a:spcPts val="1950"/>
              </a:lnSpc>
            </a:pPr>
            <a:r>
              <a:rPr lang="en-US" dirty="0">
                <a:latin typeface="-apple-system-body"/>
              </a:rPr>
              <a:t>{</a:t>
            </a:r>
          </a:p>
          <a:p>
            <a:pPr>
              <a:lnSpc>
                <a:spcPts val="1950"/>
              </a:lnSpc>
            </a:pPr>
            <a:r>
              <a:rPr lang="en-US" dirty="0">
                <a:latin typeface="-apple-system-body"/>
              </a:rPr>
              <a:t>    // Code runs if condition is true</a:t>
            </a:r>
          </a:p>
          <a:p>
            <a:pPr>
              <a:lnSpc>
                <a:spcPts val="1950"/>
              </a:lnSpc>
            </a:pPr>
            <a:r>
              <a:rPr lang="en-US" dirty="0">
                <a:latin typeface="-apple-system-body"/>
              </a:rPr>
              <a:t>}</a:t>
            </a:r>
          </a:p>
          <a:p>
            <a:pPr>
              <a:lnSpc>
                <a:spcPts val="1950"/>
              </a:lnSpc>
            </a:pPr>
            <a:r>
              <a:rPr lang="en-US" dirty="0">
                <a:latin typeface="-apple-system-body"/>
              </a:rPr>
              <a:t>else</a:t>
            </a:r>
          </a:p>
          <a:p>
            <a:pPr>
              <a:lnSpc>
                <a:spcPts val="1950"/>
              </a:lnSpc>
            </a:pPr>
            <a:r>
              <a:rPr lang="en-US" dirty="0">
                <a:latin typeface="-apple-system-body"/>
              </a:rPr>
              <a:t>{</a:t>
            </a:r>
          </a:p>
          <a:p>
            <a:pPr>
              <a:lnSpc>
                <a:spcPts val="1950"/>
              </a:lnSpc>
            </a:pPr>
            <a:r>
              <a:rPr lang="en-US" dirty="0">
                <a:latin typeface="-apple-system-body"/>
              </a:rPr>
              <a:t>    // Code runs if condition is false</a:t>
            </a:r>
          </a:p>
          <a:p>
            <a:pPr>
              <a:lnSpc>
                <a:spcPts val="1950"/>
              </a:lnSpc>
            </a:pPr>
            <a:r>
              <a:rPr lang="en-US" dirty="0">
                <a:latin typeface="-apple-system-body"/>
              </a:rPr>
              <a:t>}</a:t>
            </a:r>
          </a:p>
          <a:p>
            <a:pPr>
              <a:lnSpc>
                <a:spcPts val="1950"/>
              </a:lnSpc>
            </a:pPr>
            <a:endParaRPr lang="en-US" b="0" i="0" dirty="0">
              <a:effectLst/>
              <a:latin typeface="-apple-system-body"/>
            </a:endParaRPr>
          </a:p>
          <a:p>
            <a:pPr>
              <a:lnSpc>
                <a:spcPts val="1950"/>
              </a:lnSpc>
            </a:pPr>
            <a:r>
              <a:rPr lang="en-US" dirty="0">
                <a:latin typeface="-apple-system-body"/>
              </a:rPr>
              <a:t>Example:</a:t>
            </a:r>
          </a:p>
          <a:p>
            <a:pPr>
              <a:lnSpc>
                <a:spcPts val="1950"/>
              </a:lnSpc>
            </a:pPr>
            <a:r>
              <a:rPr lang="en-US" dirty="0">
                <a:latin typeface="-apple-system-body"/>
              </a:rPr>
              <a:t>#include &lt;iostream&gt;</a:t>
            </a:r>
          </a:p>
          <a:p>
            <a:pPr>
              <a:lnSpc>
                <a:spcPts val="1950"/>
              </a:lnSpc>
            </a:pPr>
            <a:r>
              <a:rPr lang="en-US" dirty="0">
                <a:latin typeface="-apple-system-body"/>
              </a:rPr>
              <a:t>using namespace std;</a:t>
            </a:r>
          </a:p>
          <a:p>
            <a:pPr>
              <a:lnSpc>
                <a:spcPts val="1950"/>
              </a:lnSpc>
            </a:pPr>
            <a:r>
              <a:rPr lang="en-US" dirty="0">
                <a:latin typeface="-apple-system-body"/>
              </a:rPr>
              <a:t>int main() {</a:t>
            </a:r>
          </a:p>
          <a:p>
            <a:pPr>
              <a:lnSpc>
                <a:spcPts val="1950"/>
              </a:lnSpc>
            </a:pPr>
            <a:r>
              <a:rPr lang="en-US" dirty="0">
                <a:latin typeface="-apple-system-body"/>
              </a:rPr>
              <a:t>    int age = 16;</a:t>
            </a:r>
          </a:p>
          <a:p>
            <a:pPr>
              <a:lnSpc>
                <a:spcPts val="1950"/>
              </a:lnSpc>
            </a:pPr>
            <a:endParaRPr lang="en-US" dirty="0">
              <a:latin typeface="-apple-system-body"/>
            </a:endParaRPr>
          </a:p>
          <a:p>
            <a:pPr>
              <a:lnSpc>
                <a:spcPts val="1950"/>
              </a:lnSpc>
            </a:pPr>
            <a:r>
              <a:rPr lang="en-US" dirty="0">
                <a:latin typeface="-apple-system-body"/>
              </a:rPr>
              <a:t>    if (age &gt;= 18) {</a:t>
            </a:r>
          </a:p>
          <a:p>
            <a:pPr>
              <a:lnSpc>
                <a:spcPts val="1950"/>
              </a:lnSpc>
            </a:pPr>
            <a:r>
              <a:rPr lang="en-US" dirty="0">
                <a:latin typeface="-apple-system-body"/>
              </a:rPr>
              <a:t>        </a:t>
            </a:r>
            <a:r>
              <a:rPr lang="en-US" dirty="0" err="1">
                <a:latin typeface="-apple-system-body"/>
              </a:rPr>
              <a:t>cout</a:t>
            </a:r>
            <a:r>
              <a:rPr lang="en-US" dirty="0">
                <a:latin typeface="-apple-system-body"/>
              </a:rPr>
              <a:t> &lt;&lt; "You can vote.";</a:t>
            </a:r>
          </a:p>
          <a:p>
            <a:pPr>
              <a:lnSpc>
                <a:spcPts val="1950"/>
              </a:lnSpc>
            </a:pPr>
            <a:r>
              <a:rPr lang="en-US" dirty="0">
                <a:latin typeface="-apple-system-body"/>
              </a:rPr>
              <a:t>    }</a:t>
            </a:r>
          </a:p>
          <a:p>
            <a:pPr>
              <a:lnSpc>
                <a:spcPts val="1950"/>
              </a:lnSpc>
            </a:pPr>
            <a:r>
              <a:rPr lang="en-US" dirty="0">
                <a:latin typeface="-apple-system-body"/>
              </a:rPr>
              <a:t>    else {</a:t>
            </a:r>
          </a:p>
          <a:p>
            <a:pPr>
              <a:lnSpc>
                <a:spcPts val="1950"/>
              </a:lnSpc>
            </a:pPr>
            <a:r>
              <a:rPr lang="en-US" dirty="0">
                <a:latin typeface="-apple-system-body"/>
              </a:rPr>
              <a:t>        </a:t>
            </a:r>
            <a:r>
              <a:rPr lang="en-US" dirty="0" err="1">
                <a:latin typeface="-apple-system-body"/>
              </a:rPr>
              <a:t>cout</a:t>
            </a:r>
            <a:r>
              <a:rPr lang="en-US" dirty="0">
                <a:latin typeface="-apple-system-body"/>
              </a:rPr>
              <a:t> &lt;&lt; "You cannot vote.";</a:t>
            </a:r>
          </a:p>
          <a:p>
            <a:pPr>
              <a:lnSpc>
                <a:spcPts val="1950"/>
              </a:lnSpc>
            </a:pPr>
            <a:r>
              <a:rPr lang="en-US" dirty="0">
                <a:latin typeface="-apple-system-body"/>
              </a:rPr>
              <a:t>    }</a:t>
            </a:r>
          </a:p>
          <a:p>
            <a:pPr>
              <a:lnSpc>
                <a:spcPts val="1950"/>
              </a:lnSpc>
            </a:pPr>
            <a:r>
              <a:rPr lang="en-US" dirty="0">
                <a:latin typeface="-apple-system-body"/>
              </a:rPr>
              <a:t>    return 0;</a:t>
            </a:r>
          </a:p>
          <a:p>
            <a:pPr>
              <a:lnSpc>
                <a:spcPts val="1950"/>
              </a:lnSpc>
            </a:pPr>
            <a:r>
              <a:rPr lang="en-US" dirty="0">
                <a:latin typeface="-apple-system-body"/>
              </a:rPr>
              <a:t>}</a:t>
            </a:r>
          </a:p>
          <a:p>
            <a:pPr>
              <a:lnSpc>
                <a:spcPts val="1950"/>
              </a:lnSpc>
            </a:pPr>
            <a:r>
              <a:rPr lang="en-US" dirty="0">
                <a:latin typeface="-apple-system-body"/>
              </a:rPr>
              <a:t>Output=You cannot vote.</a:t>
            </a:r>
            <a:br>
              <a:rPr lang="en-US" b="0" i="0" dirty="0">
                <a:effectLst/>
                <a:latin typeface="-apple-system-body"/>
              </a:rPr>
            </a:br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A16CBF-7785-20BD-A0FD-07433DA563C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89836" y="8561464"/>
            <a:ext cx="603619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question 4 when is an else block executed?</a:t>
            </a:r>
          </a:p>
          <a:p>
            <a:pPr>
              <a:buNone/>
            </a:pPr>
            <a:r>
              <a:rPr lang="en-US" dirty="0"/>
              <a:t>Ans: </a:t>
            </a:r>
            <a:r>
              <a:rPr lang="en-IN" dirty="0"/>
              <a:t>In C++, an </a:t>
            </a:r>
            <a:r>
              <a:rPr lang="en-IN" b="1" dirty="0"/>
              <a:t>else block</a:t>
            </a:r>
            <a:r>
              <a:rPr lang="en-IN" dirty="0"/>
              <a:t> is executed when the condition in the </a:t>
            </a:r>
            <a:r>
              <a:rPr lang="en-IN" b="1" dirty="0"/>
              <a:t>if statement is false.</a:t>
            </a:r>
          </a:p>
          <a:p>
            <a:pPr>
              <a:buNone/>
            </a:pPr>
            <a:r>
              <a:rPr lang="en-IN" b="1" dirty="0"/>
              <a:t>Example:</a:t>
            </a:r>
          </a:p>
          <a:p>
            <a:pPr>
              <a:buNone/>
            </a:pPr>
            <a:r>
              <a:rPr lang="en-US" dirty="0"/>
              <a:t>#include &lt;iostream&gt;</a:t>
            </a:r>
          </a:p>
          <a:p>
            <a:pPr>
              <a:buNone/>
            </a:pPr>
            <a:r>
              <a:rPr lang="en-US" dirty="0"/>
              <a:t>using namespace std;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int main() {</a:t>
            </a:r>
          </a:p>
          <a:p>
            <a:pPr>
              <a:buNone/>
            </a:pPr>
            <a:r>
              <a:rPr lang="en-US" dirty="0"/>
              <a:t>    int age = 16;</a:t>
            </a:r>
          </a:p>
          <a:p>
            <a:pPr>
              <a:buNone/>
            </a:pPr>
            <a:r>
              <a:rPr lang="en-US" dirty="0"/>
              <a:t>    if (age &gt;= 18) {</a:t>
            </a:r>
          </a:p>
          <a:p>
            <a:pPr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"Eligible to vote";</a:t>
            </a:r>
          </a:p>
          <a:p>
            <a:pPr>
              <a:buNone/>
            </a:pPr>
            <a:r>
              <a:rPr lang="en-US" dirty="0"/>
              <a:t>    }</a:t>
            </a:r>
          </a:p>
          <a:p>
            <a:pPr>
              <a:buNone/>
            </a:pPr>
            <a:r>
              <a:rPr lang="en-US" dirty="0"/>
              <a:t>    else {</a:t>
            </a:r>
          </a:p>
          <a:p>
            <a:pPr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"Not eligible to vote";</a:t>
            </a:r>
          </a:p>
          <a:p>
            <a:pPr>
              <a:buNone/>
            </a:pPr>
            <a:r>
              <a:rPr lang="en-US" dirty="0"/>
              <a:t>    }</a:t>
            </a:r>
          </a:p>
          <a:p>
            <a:pPr>
              <a:buNone/>
            </a:pPr>
            <a:r>
              <a:rPr lang="en-US" dirty="0"/>
              <a:t>    return 0;</a:t>
            </a:r>
          </a:p>
          <a:p>
            <a:pPr>
              <a:buNone/>
            </a:pPr>
            <a:r>
              <a:rPr lang="en-US" dirty="0"/>
              <a:t>}</a:t>
            </a:r>
          </a:p>
          <a:p>
            <a:pPr>
              <a:buNone/>
            </a:pPr>
            <a:r>
              <a:rPr lang="en-US" dirty="0"/>
              <a:t>Output= Not eligible to vote.</a:t>
            </a:r>
          </a:p>
          <a:p>
            <a:pPr>
              <a:buNone/>
            </a:pPr>
            <a:r>
              <a:rPr lang="en-IN" b="1" dirty="0"/>
              <a:t>Explanation:</a:t>
            </a:r>
            <a:r>
              <a:rPr lang="en-IN" dirty="0"/>
              <a:t> Since age &gt;= 18 is </a:t>
            </a:r>
            <a:r>
              <a:rPr lang="en-IN" b="1" dirty="0"/>
              <a:t>false</a:t>
            </a:r>
            <a:r>
              <a:rPr lang="en-IN" dirty="0"/>
              <a:t> (16 is less than 18), the </a:t>
            </a:r>
            <a:r>
              <a:rPr lang="en-IN" b="1" dirty="0"/>
              <a:t>else block</a:t>
            </a:r>
            <a:r>
              <a:rPr lang="en-IN" dirty="0"/>
              <a:t> is executed.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32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28E027-D3B0-E00F-BD21-76496A9101B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18099" y="-394531"/>
            <a:ext cx="6036196" cy="120366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buNone/>
            </a:pPr>
            <a:br>
              <a:rPr lang="en-US" b="0" i="0" dirty="0">
                <a:effectLst/>
                <a:latin typeface="-apple-system-body"/>
              </a:rPr>
            </a:br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buNone/>
            </a:pPr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Question 5  what is Boolean expression?</a:t>
            </a:r>
          </a:p>
          <a:p>
            <a:pPr>
              <a:buNone/>
            </a:pPr>
            <a:r>
              <a:rPr lang="en-US" dirty="0">
                <a:solidFill>
                  <a:srgbClr val="0D0D0D"/>
                </a:solidFill>
                <a:latin typeface="-apple-system-body"/>
              </a:rPr>
              <a:t>Ans: </a:t>
            </a:r>
            <a:r>
              <a:rPr lang="en-IN" dirty="0"/>
              <a:t>A </a:t>
            </a:r>
            <a:r>
              <a:rPr lang="en-IN" b="1" dirty="0"/>
              <a:t>Boolean expression</a:t>
            </a:r>
            <a:r>
              <a:rPr lang="en-IN" dirty="0"/>
              <a:t> is an expression that uses </a:t>
            </a:r>
            <a:r>
              <a:rPr lang="en-IN" b="1" dirty="0"/>
              <a:t>Boolean variables</a:t>
            </a:r>
            <a:r>
              <a:rPr lang="en-IN" dirty="0"/>
              <a:t> and </a:t>
            </a:r>
            <a:r>
              <a:rPr lang="en-IN" b="1" dirty="0"/>
              <a:t>logical operators</a:t>
            </a:r>
            <a:r>
              <a:rPr lang="en-IN" dirty="0"/>
              <a:t> to produce a result that is either </a:t>
            </a:r>
            <a:r>
              <a:rPr lang="en-IN" b="1" dirty="0"/>
              <a:t>True (1)</a:t>
            </a:r>
            <a:r>
              <a:rPr lang="en-IN" dirty="0"/>
              <a:t> or </a:t>
            </a:r>
            <a:r>
              <a:rPr lang="en-IN" b="1" dirty="0"/>
              <a:t>False (0)</a:t>
            </a:r>
            <a:r>
              <a:rPr lang="en-IN" dirty="0"/>
              <a:t>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Common Boolean Operators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AND (·)</a:t>
            </a:r>
            <a:r>
              <a:rPr lang="en-IN" dirty="0"/>
              <a:t> : True only if both inputs are True.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OR (+)</a:t>
            </a:r>
            <a:r>
              <a:rPr lang="en-IN" dirty="0"/>
              <a:t> : True if at least one input is True.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NOT (')</a:t>
            </a:r>
            <a:r>
              <a:rPr lang="en-IN" dirty="0"/>
              <a:t> : Reverses the value (True becomes False, and vice versa).</a:t>
            </a:r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br>
              <a:rPr lang="en-US" b="0" i="0" dirty="0">
                <a:effectLst/>
                <a:latin typeface="-apple-system-body"/>
              </a:rPr>
            </a:br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 dirty="0">
                <a:solidFill>
                  <a:srgbClr val="0D0D0D"/>
                </a:solidFill>
                <a:effectLst/>
                <a:latin typeface="-apple-system-body"/>
              </a:rPr>
              <a:t> C++ Example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 dirty="0">
                <a:effectLst/>
                <a:latin typeface="ui-monospace"/>
              </a:rPr>
              <a:t>#include &lt;iostream&gt;</a:t>
            </a:r>
            <a:br>
              <a:rPr lang="en-US" b="0" i="0" dirty="0">
                <a:effectLst/>
                <a:latin typeface="ui-monospace"/>
              </a:rPr>
            </a:br>
            <a:r>
              <a:rPr lang="en-US" b="0" i="0" dirty="0">
                <a:effectLst/>
                <a:latin typeface="ui-monospace"/>
              </a:rPr>
              <a:t>using namespace std;</a:t>
            </a:r>
            <a:br>
              <a:rPr lang="en-US" b="0" i="0" dirty="0">
                <a:effectLst/>
                <a:latin typeface="ui-monospace"/>
              </a:rPr>
            </a:br>
            <a:br>
              <a:rPr lang="en-US" b="0" i="0" dirty="0">
                <a:effectLst/>
                <a:latin typeface="ui-monospace"/>
              </a:rPr>
            </a:br>
            <a:r>
              <a:rPr lang="en-US" b="0" i="0" dirty="0">
                <a:effectLst/>
                <a:latin typeface="ui-monospace"/>
              </a:rPr>
              <a:t>int main() {</a:t>
            </a:r>
            <a:br>
              <a:rPr lang="en-US" b="0" i="0" dirty="0">
                <a:effectLst/>
                <a:latin typeface="ui-monospace"/>
              </a:rPr>
            </a:br>
            <a:r>
              <a:rPr lang="en-US" b="0" i="0" dirty="0">
                <a:effectLst/>
                <a:latin typeface="ui-monospace"/>
              </a:rPr>
              <a:t>    int age = 20;</a:t>
            </a:r>
            <a:br>
              <a:rPr lang="en-US" b="0" i="0" dirty="0">
                <a:effectLst/>
                <a:latin typeface="ui-monospace"/>
              </a:rPr>
            </a:br>
            <a:r>
              <a:rPr lang="en-US" b="0" i="0" dirty="0">
                <a:effectLst/>
                <a:latin typeface="ui-monospace"/>
              </a:rPr>
              <a:t>    int marks = 75;</a:t>
            </a:r>
            <a:br>
              <a:rPr lang="en-US" b="0" i="0" dirty="0">
                <a:effectLst/>
                <a:latin typeface="ui-monospace"/>
              </a:rPr>
            </a:br>
            <a:br>
              <a:rPr lang="en-US" b="0" i="0" dirty="0">
                <a:effectLst/>
                <a:latin typeface="ui-monospace"/>
              </a:rPr>
            </a:br>
            <a:r>
              <a:rPr lang="en-US" b="0" i="0" dirty="0">
                <a:effectLst/>
                <a:latin typeface="ui-monospace"/>
              </a:rPr>
              <a:t>    </a:t>
            </a:r>
            <a:r>
              <a:rPr lang="en-US" b="0" i="1" dirty="0">
                <a:effectLst/>
                <a:latin typeface="ui-monospace"/>
              </a:rPr>
              <a:t>// Boolean expression</a:t>
            </a:r>
            <a:br>
              <a:rPr lang="en-US" b="0" i="0" dirty="0">
                <a:effectLst/>
                <a:latin typeface="ui-monospace"/>
              </a:rPr>
            </a:br>
            <a:r>
              <a:rPr lang="en-US" b="0" i="0" dirty="0">
                <a:effectLst/>
                <a:latin typeface="ui-monospace"/>
              </a:rPr>
              <a:t>    bool result = (age &gt;= 18) &amp;&amp; (marks &gt;= 60);</a:t>
            </a:r>
            <a:br>
              <a:rPr lang="en-US" b="0" i="0" dirty="0">
                <a:effectLst/>
                <a:latin typeface="ui-monospace"/>
              </a:rPr>
            </a:br>
            <a:br>
              <a:rPr lang="en-US" b="0" i="0" dirty="0">
                <a:effectLst/>
                <a:latin typeface="ui-monospace"/>
              </a:rPr>
            </a:br>
            <a:r>
              <a:rPr lang="en-US" b="0" i="0" dirty="0">
                <a:effectLst/>
                <a:latin typeface="ui-monospace"/>
              </a:rPr>
              <a:t>    if (result) {</a:t>
            </a:r>
            <a:br>
              <a:rPr lang="en-US" b="0" i="0" dirty="0">
                <a:effectLst/>
                <a:latin typeface="ui-monospace"/>
              </a:rPr>
            </a:br>
            <a:r>
              <a:rPr lang="en-US" b="0" i="0" dirty="0">
                <a:effectLst/>
                <a:latin typeface="ui-monospace"/>
              </a:rPr>
              <a:t>        </a:t>
            </a:r>
            <a:r>
              <a:rPr lang="en-US" b="0" i="0" dirty="0" err="1">
                <a:effectLst/>
                <a:latin typeface="ui-monospace"/>
              </a:rPr>
              <a:t>cout</a:t>
            </a:r>
            <a:r>
              <a:rPr lang="en-US" b="0" i="0" dirty="0">
                <a:effectLst/>
                <a:latin typeface="ui-monospace"/>
              </a:rPr>
              <a:t> &lt;&lt; "Eligible for admission" &lt;&lt; </a:t>
            </a:r>
            <a:r>
              <a:rPr lang="en-US" b="0" i="0" dirty="0" err="1">
                <a:effectLst/>
                <a:latin typeface="ui-monospace"/>
              </a:rPr>
              <a:t>endl</a:t>
            </a:r>
            <a:r>
              <a:rPr lang="en-US" b="0" i="0" dirty="0">
                <a:effectLst/>
                <a:latin typeface="ui-monospace"/>
              </a:rPr>
              <a:t>;</a:t>
            </a:r>
            <a:br>
              <a:rPr lang="en-US" b="0" i="0" dirty="0">
                <a:effectLst/>
                <a:latin typeface="ui-monospace"/>
              </a:rPr>
            </a:br>
            <a:r>
              <a:rPr lang="en-US" b="0" i="0" dirty="0">
                <a:effectLst/>
                <a:latin typeface="ui-monospace"/>
              </a:rPr>
              <a:t>    } else {</a:t>
            </a:r>
            <a:br>
              <a:rPr lang="en-US" b="0" i="0" dirty="0">
                <a:effectLst/>
                <a:latin typeface="ui-monospace"/>
              </a:rPr>
            </a:br>
            <a:r>
              <a:rPr lang="en-US" b="0" i="0" dirty="0">
                <a:effectLst/>
                <a:latin typeface="ui-monospace"/>
              </a:rPr>
              <a:t>        </a:t>
            </a:r>
            <a:r>
              <a:rPr lang="en-US" b="0" i="0" dirty="0" err="1">
                <a:effectLst/>
                <a:latin typeface="ui-monospace"/>
              </a:rPr>
              <a:t>cout</a:t>
            </a:r>
            <a:r>
              <a:rPr lang="en-US" b="0" i="0" dirty="0">
                <a:effectLst/>
                <a:latin typeface="ui-monospace"/>
              </a:rPr>
              <a:t> &lt;&lt; "Not eligible" &lt;&lt; </a:t>
            </a:r>
            <a:r>
              <a:rPr lang="en-US" b="0" i="0" dirty="0" err="1">
                <a:effectLst/>
                <a:latin typeface="ui-monospace"/>
              </a:rPr>
              <a:t>endl</a:t>
            </a:r>
            <a:r>
              <a:rPr lang="en-US" b="0" i="0" dirty="0">
                <a:effectLst/>
                <a:latin typeface="ui-monospace"/>
              </a:rPr>
              <a:t>;</a:t>
            </a:r>
            <a:br>
              <a:rPr lang="en-US" b="0" i="0" dirty="0">
                <a:effectLst/>
                <a:latin typeface="ui-monospace"/>
              </a:rPr>
            </a:br>
            <a:r>
              <a:rPr lang="en-US" b="0" i="0" dirty="0">
                <a:effectLst/>
                <a:latin typeface="ui-monospace"/>
              </a:rPr>
              <a:t>    }</a:t>
            </a:r>
            <a:br>
              <a:rPr lang="en-US" b="0" i="0" dirty="0">
                <a:effectLst/>
                <a:latin typeface="ui-monospace"/>
              </a:rPr>
            </a:br>
            <a:br>
              <a:rPr lang="en-US" b="0" i="0" dirty="0">
                <a:effectLst/>
                <a:latin typeface="ui-monospace"/>
              </a:rPr>
            </a:br>
            <a:r>
              <a:rPr lang="en-US" b="0" i="0" dirty="0">
                <a:effectLst/>
                <a:latin typeface="ui-monospace"/>
              </a:rPr>
              <a:t>    return 0;</a:t>
            </a:r>
            <a:br>
              <a:rPr lang="en-US" b="0" i="0" dirty="0">
                <a:effectLst/>
                <a:latin typeface="ui-monospace"/>
              </a:rPr>
            </a:br>
            <a:r>
              <a:rPr lang="en-US" b="0" i="0" dirty="0">
                <a:solidFill>
                  <a:srgbClr val="0D0D0D"/>
                </a:solidFill>
                <a:effectLst/>
                <a:latin typeface="ui-monospace"/>
              </a:rPr>
              <a:t>}</a:t>
            </a:r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 dirty="0">
                <a:solidFill>
                  <a:srgbClr val="0D0D0D"/>
                </a:solidFill>
                <a:effectLst/>
                <a:latin typeface="-apple-system-body"/>
              </a:rPr>
              <a:t> Explanation of the example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ui-monospace"/>
              </a:rPr>
              <a:t>(age &gt;= 18)</a:t>
            </a:r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 → true (20 ≥ 18)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ui-monospace"/>
              </a:rPr>
              <a:t>(marks &gt;= 60)</a:t>
            </a:r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 → true (75 ≥ 60)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ui-monospace"/>
              </a:rPr>
              <a:t>true &amp;&amp; true</a:t>
            </a:r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 → true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So, the Boolean expression evaluates to </a:t>
            </a:r>
            <a:r>
              <a:rPr lang="en-US" b="1" i="0" dirty="0">
                <a:solidFill>
                  <a:srgbClr val="0D0D0D"/>
                </a:solidFill>
                <a:effectLst/>
                <a:latin typeface="-apple-system-body"/>
              </a:rPr>
              <a:t>true</a:t>
            </a:r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, and the program prints: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 dirty="0">
                <a:solidFill>
                  <a:srgbClr val="0D0D0D"/>
                </a:solidFill>
                <a:effectLst/>
                <a:latin typeface="ui-monospace"/>
              </a:rPr>
              <a:t>Eligible for admission</a:t>
            </a:r>
          </a:p>
          <a:p>
            <a:pPr algn="l">
              <a:lnSpc>
                <a:spcPts val="1950"/>
              </a:lnSpc>
              <a:buNone/>
            </a:pPr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 dirty="0"/>
            </a:br>
            <a:r>
              <a:rPr lang="en-US" dirty="0"/>
              <a:t>question 6    write the syntax of a simple if statement?</a:t>
            </a:r>
          </a:p>
          <a:p>
            <a:pPr>
              <a:buNone/>
            </a:pPr>
            <a:r>
              <a:rPr lang="en-US" dirty="0"/>
              <a:t>Ans: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84DD6-05FE-5C8F-489B-1BFB02D8667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90777" y="10569009"/>
            <a:ext cx="603619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Basic syntax:</a:t>
            </a:r>
          </a:p>
          <a:p>
            <a:r>
              <a:rPr lang="en-US" dirty="0"/>
              <a:t>if (condition) {</a:t>
            </a:r>
          </a:p>
          <a:p>
            <a:r>
              <a:rPr lang="en-US" dirty="0"/>
              <a:t>    // code to execute if condition is true</a:t>
            </a:r>
          </a:p>
          <a:p>
            <a:r>
              <a:rPr lang="en-US" dirty="0"/>
              <a:t>}</a:t>
            </a:r>
          </a:p>
          <a:p>
            <a:pPr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98977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1BFBE9-3749-C2DC-AE5F-A5C153B65E29}"/>
              </a:ext>
            </a:extLst>
          </p:cNvPr>
          <p:cNvSpPr txBox="1"/>
          <p:nvPr/>
        </p:nvSpPr>
        <p:spPr>
          <a:xfrm>
            <a:off x="1825907" y="1644132"/>
            <a:ext cx="6036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/>
              <a:t>The equality operator commonly used in C++ is </a:t>
            </a:r>
            <a:r>
              <a:rPr lang="en-US">
                <a:latin typeface="Courier New" panose="02070309020205020404" pitchFamily="49" charset="0"/>
              </a:rPr>
              <a:t>==</a:t>
            </a:r>
            <a:r>
              <a:rPr lang="en-US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B70A33-D426-66B3-8798-2FE11F70C451}"/>
              </a:ext>
            </a:extLst>
          </p:cNvPr>
          <p:cNvSpPr txBox="1"/>
          <p:nvPr/>
        </p:nvSpPr>
        <p:spPr>
          <a:xfrm>
            <a:off x="1536540" y="1193118"/>
            <a:ext cx="6036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what operator is commonly used to test equality 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053405-CFBF-6A20-43E4-E38E606E6183}"/>
              </a:ext>
            </a:extLst>
          </p:cNvPr>
          <p:cNvSpPr txBox="1"/>
          <p:nvPr/>
        </p:nvSpPr>
        <p:spPr>
          <a:xfrm>
            <a:off x="170727" y="1193118"/>
            <a:ext cx="60361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/>
              <a:t>question 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9582E6-5C15-EA2B-893F-4EBAFA928933}"/>
              </a:ext>
            </a:extLst>
          </p:cNvPr>
          <p:cNvSpPr txBox="1"/>
          <p:nvPr/>
        </p:nvSpPr>
        <p:spPr>
          <a:xfrm>
            <a:off x="656864" y="1644132"/>
            <a:ext cx="6036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/>
              <a:t>answer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D96C63-8198-2BE9-E1A1-D5735AC8B25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92528" y="1244333"/>
            <a:ext cx="6036196" cy="749435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buNone/>
            </a:pPr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350"/>
              </a:lnSpc>
              <a:spcAft>
                <a:spcPts val="1200"/>
              </a:spcAft>
              <a:buNone/>
            </a:pPr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r>
              <a:rPr lang="en-US" sz="2800" b="0" i="0" dirty="0">
                <a:solidFill>
                  <a:srgbClr val="0D0D0D"/>
                </a:solidFill>
                <a:effectLst/>
                <a:latin typeface="-apple-system-body"/>
              </a:rPr>
              <a:t>Questio</a:t>
            </a:r>
            <a:r>
              <a:rPr lang="en-US" sz="2800" dirty="0">
                <a:solidFill>
                  <a:srgbClr val="0D0D0D"/>
                </a:solidFill>
                <a:latin typeface="-apple-system-body"/>
              </a:rPr>
              <a:t>n 8 </a:t>
            </a:r>
            <a:r>
              <a:rPr lang="en-US" dirty="0">
                <a:solidFill>
                  <a:srgbClr val="0D0D0D"/>
                </a:solidFill>
                <a:latin typeface="-apple-system-body"/>
              </a:rPr>
              <a:t>what does the modulus operator return?</a:t>
            </a:r>
            <a:br>
              <a:rPr lang="en-US" b="0" i="0" dirty="0">
                <a:effectLst/>
                <a:latin typeface="-apple-system-body"/>
              </a:rPr>
            </a:br>
            <a:r>
              <a:rPr lang="en-US" b="0" i="0" dirty="0">
                <a:effectLst/>
                <a:latin typeface="-apple-system-body"/>
              </a:rPr>
              <a:t>Ans: </a:t>
            </a:r>
            <a:r>
              <a:rPr lang="en-IN" dirty="0"/>
              <a:t>The modulus (%) operator returns the </a:t>
            </a:r>
            <a:r>
              <a:rPr lang="en-IN" b="1" dirty="0"/>
              <a:t>remainder</a:t>
            </a:r>
            <a:r>
              <a:rPr lang="en-IN" dirty="0"/>
              <a:t> after dividing one number by another.</a:t>
            </a:r>
            <a:endParaRPr lang="en-US" dirty="0">
              <a:solidFill>
                <a:srgbClr val="0D0D0D"/>
              </a:solidFill>
              <a:latin typeface="-apple-system-body"/>
            </a:endParaRPr>
          </a:p>
          <a:p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r>
              <a:rPr lang="en-US" dirty="0" err="1">
                <a:solidFill>
                  <a:srgbClr val="0D0D0D"/>
                </a:solidFill>
                <a:latin typeface="-apple-system-body"/>
              </a:rPr>
              <a:t>a%b</a:t>
            </a:r>
            <a:endParaRPr lang="en-US" b="0" i="0" dirty="0">
              <a:solidFill>
                <a:srgbClr val="6B3AB4"/>
              </a:solidFill>
              <a:effectLst/>
              <a:latin typeface="ui-monospace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it gives the </a:t>
            </a:r>
            <a:r>
              <a:rPr lang="en-US" b="1" i="0" dirty="0">
                <a:solidFill>
                  <a:srgbClr val="0D0D0D"/>
                </a:solidFill>
                <a:effectLst/>
                <a:latin typeface="-apple-system-body"/>
              </a:rPr>
              <a:t>remainder when </a:t>
            </a:r>
            <a:r>
              <a:rPr lang="en-US" b="0" i="0" dirty="0">
                <a:solidFill>
                  <a:srgbClr val="0D0D0D"/>
                </a:solidFill>
                <a:effectLst/>
                <a:latin typeface="ui-monospace"/>
              </a:rPr>
              <a:t>a</a:t>
            </a:r>
            <a:r>
              <a:rPr lang="en-US" b="1" i="0" dirty="0">
                <a:solidFill>
                  <a:srgbClr val="0D0D0D"/>
                </a:solidFill>
                <a:effectLst/>
                <a:latin typeface="-apple-system-body"/>
              </a:rPr>
              <a:t> is divided by </a:t>
            </a:r>
            <a:r>
              <a:rPr lang="en-US" b="0" i="0" dirty="0">
                <a:solidFill>
                  <a:srgbClr val="0D0D0D"/>
                </a:solidFill>
                <a:effectLst/>
                <a:latin typeface="ui-monospace"/>
              </a:rPr>
              <a:t>b</a:t>
            </a:r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.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 dirty="0">
                <a:effectLst/>
                <a:latin typeface="-apple-system-body"/>
              </a:rPr>
            </a:br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 dirty="0">
                <a:solidFill>
                  <a:srgbClr val="0D0D0D"/>
                </a:solidFill>
                <a:effectLst/>
                <a:latin typeface="-apple-system-body"/>
              </a:rPr>
              <a:t>Example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 dirty="0">
                <a:solidFill>
                  <a:srgbClr val="6B3AB4"/>
                </a:solidFill>
                <a:effectLst/>
                <a:latin typeface="ui-monospace"/>
              </a:rPr>
              <a:t>i</a:t>
            </a:r>
            <a:r>
              <a:rPr lang="en-US" b="0" i="0" dirty="0">
                <a:effectLst/>
                <a:latin typeface="ui-monospace"/>
              </a:rPr>
              <a:t>nt a = 17;</a:t>
            </a:r>
            <a:br>
              <a:rPr lang="en-US" b="0" i="0" dirty="0">
                <a:effectLst/>
                <a:latin typeface="ui-monospace"/>
              </a:rPr>
            </a:br>
            <a:r>
              <a:rPr lang="en-US" b="0" i="0" dirty="0">
                <a:effectLst/>
                <a:latin typeface="ui-monospace"/>
              </a:rPr>
              <a:t>int b = 5;</a:t>
            </a:r>
            <a:br>
              <a:rPr lang="en-US" b="0" i="0" dirty="0">
                <a:effectLst/>
                <a:latin typeface="ui-monospace"/>
              </a:rPr>
            </a:br>
            <a:br>
              <a:rPr lang="en-US" b="0" i="0" dirty="0">
                <a:effectLst/>
                <a:latin typeface="ui-monospace"/>
              </a:rPr>
            </a:br>
            <a:r>
              <a:rPr lang="en-US" b="0" i="0" dirty="0" err="1">
                <a:effectLst/>
                <a:latin typeface="ui-monospace"/>
              </a:rPr>
              <a:t>cout</a:t>
            </a:r>
            <a:r>
              <a:rPr lang="en-US" b="0" i="0" dirty="0">
                <a:effectLst/>
                <a:latin typeface="ui-monospace"/>
              </a:rPr>
              <a:t> &lt;&lt; a % b;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 dirty="0">
                <a:solidFill>
                  <a:srgbClr val="0D0D0D"/>
                </a:solidFill>
                <a:effectLst/>
                <a:latin typeface="-apple-system-body"/>
              </a:rPr>
              <a:t>Calculation: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14 ÷ 3 = 4 remainder 2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Output=  2</a:t>
            </a:r>
          </a:p>
          <a:p>
            <a:pPr>
              <a:lnSpc>
                <a:spcPts val="1950"/>
              </a:lnSpc>
            </a:pPr>
            <a:br>
              <a:rPr lang="en-US" b="0" i="0" dirty="0">
                <a:effectLst/>
                <a:latin typeface="-apple-system-body"/>
              </a:rPr>
            </a:br>
            <a:r>
              <a:rPr lang="en-US" sz="3200" dirty="0">
                <a:solidFill>
                  <a:srgbClr val="0D0D0D"/>
                </a:solidFill>
                <a:latin typeface="-apple-system-body"/>
              </a:rPr>
              <a:t>question 9   how does we check if a number is even?</a:t>
            </a:r>
          </a:p>
          <a:p>
            <a:pPr algn="l">
              <a:lnSpc>
                <a:spcPts val="1950"/>
              </a:lnSpc>
              <a:buNone/>
            </a:pPr>
            <a:endParaRPr lang="en-US" sz="3200" dirty="0">
              <a:solidFill>
                <a:srgbClr val="0D0D0D"/>
              </a:solidFill>
              <a:latin typeface="-apple-system-body"/>
            </a:endParaRPr>
          </a:p>
          <a:p>
            <a:pPr>
              <a:lnSpc>
                <a:spcPts val="1950"/>
              </a:lnSpc>
            </a:pPr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Ans:</a:t>
            </a:r>
            <a:r>
              <a:rPr lang="en-IN" dirty="0"/>
              <a:t>A number is </a:t>
            </a:r>
            <a:r>
              <a:rPr lang="en-IN" b="1" dirty="0"/>
              <a:t>even</a:t>
            </a:r>
            <a:r>
              <a:rPr lang="en-IN" dirty="0"/>
              <a:t> if it is divisible by </a:t>
            </a:r>
            <a:r>
              <a:rPr lang="en-IN" b="1" dirty="0"/>
              <a:t>2</a:t>
            </a:r>
            <a:r>
              <a:rPr lang="en-IN" dirty="0"/>
              <a:t> and leaves a remainder of </a:t>
            </a:r>
            <a:r>
              <a:rPr lang="en-IN" b="1" dirty="0"/>
              <a:t>0</a:t>
            </a:r>
            <a:r>
              <a:rPr lang="en-IN" dirty="0"/>
              <a:t>.</a:t>
            </a:r>
            <a:br>
              <a:rPr lang="en-US" dirty="0"/>
            </a:b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Example: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DB04C7-6B1D-7E3B-9409-2905E763A1F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19851" y="9318028"/>
            <a:ext cx="603619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r>
              <a:rPr lang="en-US" dirty="0"/>
              <a:t>int main(){</a:t>
            </a:r>
          </a:p>
          <a:p>
            <a:r>
              <a:rPr lang="en-US" dirty="0"/>
              <a:t>    int num;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"Enter a number: ";</a:t>
            </a:r>
          </a:p>
          <a:p>
            <a:r>
              <a:rPr lang="en-US" dirty="0"/>
              <a:t>    </a:t>
            </a:r>
            <a:r>
              <a:rPr lang="en-US" dirty="0" err="1"/>
              <a:t>cin</a:t>
            </a:r>
            <a:r>
              <a:rPr lang="en-US" dirty="0"/>
              <a:t> &gt;&gt; num;</a:t>
            </a:r>
          </a:p>
          <a:p>
            <a:endParaRPr lang="en-US" dirty="0"/>
          </a:p>
          <a:p>
            <a:r>
              <a:rPr lang="en-US" dirty="0"/>
              <a:t>    if (num % 2 == 0)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num &lt;&lt; " is an Even Number";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else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num &lt;&lt; " is an Odd Number";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Output=Enter a number: 8</a:t>
            </a:r>
          </a:p>
          <a:p>
            <a:r>
              <a:rPr lang="en-US" dirty="0"/>
              <a:t>8 is an Even Number</a:t>
            </a:r>
          </a:p>
        </p:txBody>
      </p:sp>
    </p:spTree>
    <p:extLst>
      <p:ext uri="{BB962C8B-B14F-4D97-AF65-F5344CB8AC3E}">
        <p14:creationId xmlns:p14="http://schemas.microsoft.com/office/powerpoint/2010/main" val="1714916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889E580-5495-8DC9-43C7-B571C3EEE35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18099" y="1434235"/>
            <a:ext cx="6036196" cy="58631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buNone/>
            </a:pPr>
            <a:r>
              <a:rPr lang="en-US" b="0" i="0" dirty="0" err="1">
                <a:solidFill>
                  <a:srgbClr val="0D0D0D"/>
                </a:solidFill>
                <a:effectLst/>
                <a:latin typeface="-apple-system-body"/>
              </a:rPr>
              <a:t>Questio</a:t>
            </a:r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 10</a:t>
            </a:r>
          </a:p>
          <a:p>
            <a:pPr algn="l">
              <a:lnSpc>
                <a:spcPts val="1800"/>
              </a:lnSpc>
              <a:buNone/>
            </a:pPr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how can u check if a number is odd </a:t>
            </a:r>
            <a:r>
              <a:rPr lang="en-US" dirty="0">
                <a:solidFill>
                  <a:srgbClr val="0D0D0D"/>
                </a:solidFill>
                <a:latin typeface="-apple-system-body"/>
              </a:rPr>
              <a:t>?</a:t>
            </a:r>
          </a:p>
          <a:p>
            <a:pPr>
              <a:lnSpc>
                <a:spcPts val="1800"/>
              </a:lnSpc>
            </a:pPr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Ans:</a:t>
            </a:r>
            <a:r>
              <a:rPr lang="en-IN" dirty="0"/>
              <a:t>You can check if a number is </a:t>
            </a:r>
            <a:r>
              <a:rPr lang="en-IN" b="1" dirty="0"/>
              <a:t>odd</a:t>
            </a:r>
            <a:r>
              <a:rPr lang="en-IN" dirty="0"/>
              <a:t> by using the </a:t>
            </a:r>
            <a:r>
              <a:rPr lang="en-IN" b="1" dirty="0"/>
              <a:t>modulus operator (%)</a:t>
            </a:r>
            <a:r>
              <a:rPr lang="en-IN" dirty="0"/>
              <a:t>.</a:t>
            </a:r>
          </a:p>
          <a:p>
            <a:pPr>
              <a:lnSpc>
                <a:spcPts val="1800"/>
              </a:lnSpc>
            </a:pPr>
            <a:endParaRPr lang="en-IN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lnSpc>
                <a:spcPts val="1800"/>
              </a:lnSpc>
            </a:pPr>
            <a:r>
              <a:rPr lang="en-IN" dirty="0">
                <a:solidFill>
                  <a:srgbClr val="0D0D0D"/>
                </a:solidFill>
                <a:latin typeface="-apple-system-body"/>
              </a:rPr>
              <a:t>Example:</a:t>
            </a:r>
          </a:p>
          <a:p>
            <a:pPr>
              <a:lnSpc>
                <a:spcPts val="1800"/>
              </a:lnSpc>
            </a:pPr>
            <a:r>
              <a:rPr lang="en-US" dirty="0">
                <a:solidFill>
                  <a:srgbClr val="0D0D0D"/>
                </a:solidFill>
                <a:latin typeface="-apple-system-body"/>
              </a:rPr>
              <a:t>#include &lt;iostream&gt;</a:t>
            </a:r>
          </a:p>
          <a:p>
            <a:pPr>
              <a:lnSpc>
                <a:spcPts val="1800"/>
              </a:lnSpc>
            </a:pPr>
            <a:r>
              <a:rPr lang="en-US" dirty="0">
                <a:solidFill>
                  <a:srgbClr val="0D0D0D"/>
                </a:solidFill>
                <a:latin typeface="-apple-system-body"/>
              </a:rPr>
              <a:t>using namespace std;</a:t>
            </a:r>
          </a:p>
          <a:p>
            <a:pPr>
              <a:lnSpc>
                <a:spcPts val="1800"/>
              </a:lnSpc>
            </a:pPr>
            <a:endParaRPr lang="en-US" dirty="0">
              <a:solidFill>
                <a:srgbClr val="0D0D0D"/>
              </a:solidFill>
              <a:latin typeface="-apple-system-body"/>
            </a:endParaRPr>
          </a:p>
          <a:p>
            <a:pPr>
              <a:lnSpc>
                <a:spcPts val="1800"/>
              </a:lnSpc>
            </a:pPr>
            <a:r>
              <a:rPr lang="en-US" dirty="0">
                <a:solidFill>
                  <a:srgbClr val="0D0D0D"/>
                </a:solidFill>
                <a:latin typeface="-apple-system-body"/>
              </a:rPr>
              <a:t>int main() {</a:t>
            </a:r>
          </a:p>
          <a:p>
            <a:pPr>
              <a:lnSpc>
                <a:spcPts val="1800"/>
              </a:lnSpc>
            </a:pPr>
            <a:r>
              <a:rPr lang="en-US" dirty="0">
                <a:solidFill>
                  <a:srgbClr val="0D0D0D"/>
                </a:solidFill>
                <a:latin typeface="-apple-system-body"/>
              </a:rPr>
              <a:t>    int number = 7;</a:t>
            </a:r>
          </a:p>
          <a:p>
            <a:pPr>
              <a:lnSpc>
                <a:spcPts val="1800"/>
              </a:lnSpc>
            </a:pPr>
            <a:endParaRPr lang="en-US" dirty="0">
              <a:solidFill>
                <a:srgbClr val="0D0D0D"/>
              </a:solidFill>
              <a:latin typeface="-apple-system-body"/>
            </a:endParaRPr>
          </a:p>
          <a:p>
            <a:pPr>
              <a:lnSpc>
                <a:spcPts val="1800"/>
              </a:lnSpc>
            </a:pPr>
            <a:r>
              <a:rPr lang="en-US" dirty="0">
                <a:solidFill>
                  <a:srgbClr val="0D0D0D"/>
                </a:solidFill>
                <a:latin typeface="-apple-system-body"/>
              </a:rPr>
              <a:t>    if (number % 2 != 0) {</a:t>
            </a:r>
          </a:p>
          <a:p>
            <a:pPr>
              <a:lnSpc>
                <a:spcPts val="1800"/>
              </a:lnSpc>
            </a:pPr>
            <a:r>
              <a:rPr lang="en-US" dirty="0">
                <a:solidFill>
                  <a:srgbClr val="0D0D0D"/>
                </a:solidFill>
                <a:latin typeface="-apple-system-body"/>
              </a:rPr>
              <a:t>        </a:t>
            </a:r>
            <a:r>
              <a:rPr lang="en-US" dirty="0" err="1">
                <a:solidFill>
                  <a:srgbClr val="0D0D0D"/>
                </a:solidFill>
                <a:latin typeface="-apple-system-body"/>
              </a:rPr>
              <a:t>cout</a:t>
            </a:r>
            <a:r>
              <a:rPr lang="en-US" dirty="0">
                <a:solidFill>
                  <a:srgbClr val="0D0D0D"/>
                </a:solidFill>
                <a:latin typeface="-apple-system-body"/>
              </a:rPr>
              <a:t> &lt;&lt; "The number is odd.";</a:t>
            </a:r>
          </a:p>
          <a:p>
            <a:pPr>
              <a:lnSpc>
                <a:spcPts val="1800"/>
              </a:lnSpc>
            </a:pPr>
            <a:r>
              <a:rPr lang="en-US" dirty="0">
                <a:solidFill>
                  <a:srgbClr val="0D0D0D"/>
                </a:solidFill>
                <a:latin typeface="-apple-system-body"/>
              </a:rPr>
              <a:t>    }</a:t>
            </a:r>
          </a:p>
          <a:p>
            <a:pPr>
              <a:lnSpc>
                <a:spcPts val="1800"/>
              </a:lnSpc>
            </a:pPr>
            <a:endParaRPr lang="en-US" dirty="0">
              <a:solidFill>
                <a:srgbClr val="0D0D0D"/>
              </a:solidFill>
              <a:latin typeface="-apple-system-body"/>
            </a:endParaRPr>
          </a:p>
          <a:p>
            <a:pPr>
              <a:lnSpc>
                <a:spcPts val="1800"/>
              </a:lnSpc>
            </a:pPr>
            <a:r>
              <a:rPr lang="en-US" dirty="0">
                <a:solidFill>
                  <a:srgbClr val="0D0D0D"/>
                </a:solidFill>
                <a:latin typeface="-apple-system-body"/>
              </a:rPr>
              <a:t>    return 0;</a:t>
            </a:r>
          </a:p>
          <a:p>
            <a:pPr>
              <a:lnSpc>
                <a:spcPts val="1800"/>
              </a:lnSpc>
            </a:pPr>
            <a:r>
              <a:rPr lang="en-US" dirty="0">
                <a:solidFill>
                  <a:srgbClr val="0D0D0D"/>
                </a:solidFill>
                <a:latin typeface="-apple-system-body"/>
              </a:rPr>
              <a:t>}</a:t>
            </a:r>
          </a:p>
          <a:p>
            <a:pPr>
              <a:lnSpc>
                <a:spcPts val="1800"/>
              </a:lnSpc>
            </a:pPr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lnSpc>
                <a:spcPts val="1800"/>
              </a:lnSpc>
            </a:pPr>
            <a:r>
              <a:rPr lang="en-US" dirty="0">
                <a:solidFill>
                  <a:srgbClr val="0D0D0D"/>
                </a:solidFill>
                <a:latin typeface="-apple-system-body"/>
              </a:rPr>
              <a:t>Output=The number is odd.</a:t>
            </a:r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buNone/>
            </a:pPr>
            <a:br>
              <a:rPr lang="en-US" b="0" i="0" dirty="0">
                <a:effectLst/>
                <a:latin typeface="-apple-system-body"/>
              </a:rPr>
            </a:br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867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E839F1-04DA-155C-03D9-2E5CDE9518B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21329" y="507692"/>
            <a:ext cx="6036196" cy="4411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Question 11</a:t>
            </a:r>
            <a:b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800"/>
              </a:lnSpc>
              <a:buNone/>
            </a:pPr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what is the purpose of else if just theory not code?</a:t>
            </a:r>
          </a:p>
          <a:p>
            <a:endParaRPr lang="en-US" dirty="0">
              <a:solidFill>
                <a:srgbClr val="0D0D0D"/>
              </a:solidFill>
              <a:latin typeface="-apple-system-body"/>
            </a:endParaRPr>
          </a:p>
          <a:p>
            <a:r>
              <a:rPr lang="en-US" dirty="0">
                <a:solidFill>
                  <a:srgbClr val="0D0D0D"/>
                </a:solidFill>
                <a:latin typeface="-apple-system-body"/>
              </a:rPr>
              <a:t>Ans: </a:t>
            </a:r>
            <a:r>
              <a:rPr lang="en-IN" dirty="0"/>
              <a:t>The else if statement is used to check </a:t>
            </a:r>
            <a:r>
              <a:rPr lang="en-IN" b="1" dirty="0"/>
              <a:t>another condition</a:t>
            </a:r>
            <a:r>
              <a:rPr lang="en-IN" dirty="0"/>
              <a:t> when the previous if condition is </a:t>
            </a:r>
            <a:r>
              <a:rPr lang="en-IN" b="1" dirty="0"/>
              <a:t>false</a:t>
            </a:r>
            <a:r>
              <a:rPr lang="en-IN" dirty="0"/>
              <a:t>.</a:t>
            </a:r>
          </a:p>
          <a:p>
            <a:r>
              <a:rPr lang="en-IN" dirty="0"/>
              <a:t>It helps a program choose </a:t>
            </a:r>
            <a:r>
              <a:rPr lang="en-IN" b="1" dirty="0"/>
              <a:t>one option from multiple possible conditions</a:t>
            </a:r>
            <a:r>
              <a:rPr lang="en-IN" dirty="0"/>
              <a:t>. The conditions are checked one by one, and as soon as a true condition is found, its corresponding block is executed.</a:t>
            </a:r>
          </a:p>
          <a:p>
            <a:pPr algn="l">
              <a:lnSpc>
                <a:spcPts val="1800"/>
              </a:lnSpc>
              <a:buNone/>
            </a:pPr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buNone/>
            </a:pPr>
            <a:b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A85890-52F0-9393-952E-B803DBAD72B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21329" y="4011716"/>
            <a:ext cx="6036196" cy="42146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buNone/>
            </a:pPr>
            <a:br>
              <a:rPr lang="en-US" b="0" i="0" dirty="0">
                <a:effectLst/>
                <a:latin typeface="-apple-system-body"/>
              </a:rPr>
            </a:br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350"/>
              </a:lnSpc>
              <a:spcAft>
                <a:spcPts val="1200"/>
              </a:spcAft>
              <a:buNone/>
            </a:pPr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Question 12</a:t>
            </a:r>
          </a:p>
          <a:p>
            <a:pPr algn="l">
              <a:lnSpc>
                <a:spcPts val="1800"/>
              </a:lnSpc>
              <a:buNone/>
            </a:pPr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what is nested if statement ?</a:t>
            </a:r>
          </a:p>
          <a:p>
            <a:pPr algn="l">
              <a:lnSpc>
                <a:spcPts val="1800"/>
              </a:lnSpc>
              <a:buNone/>
            </a:pPr>
            <a:endParaRPr lang="en-US" dirty="0">
              <a:solidFill>
                <a:srgbClr val="0D0D0D"/>
              </a:solidFill>
              <a:latin typeface="-apple-system-body"/>
            </a:endParaRPr>
          </a:p>
          <a:p>
            <a:pPr>
              <a:lnSpc>
                <a:spcPts val="1800"/>
              </a:lnSpc>
            </a:pPr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Ans:</a:t>
            </a:r>
            <a:r>
              <a:rPr lang="en-IN" dirty="0"/>
              <a:t>A </a:t>
            </a:r>
            <a:r>
              <a:rPr lang="en-IN" b="1" dirty="0"/>
              <a:t>nested if statement</a:t>
            </a:r>
            <a:r>
              <a:rPr lang="en-IN" dirty="0"/>
              <a:t> is an if statement placed </a:t>
            </a:r>
            <a:r>
              <a:rPr lang="en-IN" b="1" dirty="0"/>
              <a:t>inside another if statement</a:t>
            </a:r>
            <a:r>
              <a:rPr lang="en-IN" dirty="0"/>
              <a:t>. It is used when a second condition should be checked only if the first condition is true.</a:t>
            </a:r>
          </a:p>
          <a:p>
            <a:pPr>
              <a:lnSpc>
                <a:spcPts val="1800"/>
              </a:lnSpc>
            </a:pPr>
            <a:endParaRPr lang="en-IN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lnSpc>
                <a:spcPts val="1800"/>
              </a:lnSpc>
            </a:pPr>
            <a:r>
              <a:rPr lang="en-IN" dirty="0">
                <a:solidFill>
                  <a:srgbClr val="0D0D0D"/>
                </a:solidFill>
                <a:latin typeface="-apple-system-body"/>
              </a:rPr>
              <a:t>Syntax: </a:t>
            </a:r>
          </a:p>
          <a:p>
            <a:pPr>
              <a:lnSpc>
                <a:spcPts val="1800"/>
              </a:lnSpc>
            </a:pPr>
            <a:r>
              <a:rPr lang="en-US" dirty="0">
                <a:solidFill>
                  <a:srgbClr val="0D0D0D"/>
                </a:solidFill>
                <a:latin typeface="-apple-system-body"/>
              </a:rPr>
              <a:t>if (condition1)</a:t>
            </a:r>
          </a:p>
          <a:p>
            <a:pPr>
              <a:lnSpc>
                <a:spcPts val="1800"/>
              </a:lnSpc>
            </a:pPr>
            <a:r>
              <a:rPr lang="en-US" dirty="0">
                <a:solidFill>
                  <a:srgbClr val="0D0D0D"/>
                </a:solidFill>
                <a:latin typeface="-apple-system-body"/>
              </a:rPr>
              <a:t>{</a:t>
            </a:r>
          </a:p>
          <a:p>
            <a:pPr>
              <a:lnSpc>
                <a:spcPts val="1800"/>
              </a:lnSpc>
            </a:pPr>
            <a:r>
              <a:rPr lang="en-US" dirty="0">
                <a:solidFill>
                  <a:srgbClr val="0D0D0D"/>
                </a:solidFill>
                <a:latin typeface="-apple-system-body"/>
              </a:rPr>
              <a:t>    if (condition2)</a:t>
            </a:r>
          </a:p>
          <a:p>
            <a:pPr>
              <a:lnSpc>
                <a:spcPts val="1800"/>
              </a:lnSpc>
            </a:pPr>
            <a:r>
              <a:rPr lang="en-US" dirty="0">
                <a:solidFill>
                  <a:srgbClr val="0D0D0D"/>
                </a:solidFill>
                <a:latin typeface="-apple-system-body"/>
              </a:rPr>
              <a:t>    {</a:t>
            </a:r>
          </a:p>
          <a:p>
            <a:pPr>
              <a:lnSpc>
                <a:spcPts val="1800"/>
              </a:lnSpc>
            </a:pPr>
            <a:r>
              <a:rPr lang="en-US" dirty="0">
                <a:solidFill>
                  <a:srgbClr val="0D0D0D"/>
                </a:solidFill>
                <a:latin typeface="-apple-system-body"/>
              </a:rPr>
              <a:t>        // statements</a:t>
            </a:r>
          </a:p>
          <a:p>
            <a:pPr>
              <a:lnSpc>
                <a:spcPts val="1800"/>
              </a:lnSpc>
            </a:pPr>
            <a:r>
              <a:rPr lang="en-US" dirty="0">
                <a:solidFill>
                  <a:srgbClr val="0D0D0D"/>
                </a:solidFill>
                <a:latin typeface="-apple-system-body"/>
              </a:rPr>
              <a:t>    }</a:t>
            </a:r>
          </a:p>
          <a:p>
            <a:pPr>
              <a:lnSpc>
                <a:spcPts val="1800"/>
              </a:lnSpc>
            </a:pPr>
            <a:r>
              <a:rPr lang="en-US" dirty="0">
                <a:solidFill>
                  <a:srgbClr val="0D0D0D"/>
                </a:solidFill>
                <a:latin typeface="-apple-system-body"/>
              </a:rPr>
              <a:t>}</a:t>
            </a:r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005432-574F-5C68-4A26-FBDE00C345A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21329" y="9182636"/>
            <a:ext cx="603619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Courier New" panose="02070309020205020404" pitchFamily="49" charset="0"/>
              </a:rPr>
              <a:t>Question 13: Can an if statement exist without an else?</a:t>
            </a:r>
            <a:endParaRPr lang="en-US" kern="100" dirty="0"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Courier New" panose="02070309020205020404" pitchFamily="49" charset="0"/>
              </a:rPr>
              <a:t>Ans: </a:t>
            </a:r>
            <a:r>
              <a:rPr lang="en-IN" dirty="0"/>
              <a:t>Yes, an if statement can exist without an else statement.</a:t>
            </a:r>
            <a:endParaRPr lang="en-US" kern="100" dirty="0"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Courier New" panose="02070309020205020404" pitchFamily="49" charset="0"/>
              </a:rPr>
              <a:t> </a:t>
            </a:r>
            <a:endParaRPr lang="en-US" kern="100" dirty="0"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Courier New" panose="02070309020205020404" pitchFamily="49" charset="0"/>
              </a:rPr>
              <a:t> 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2F52CB-E78A-F7F5-E258-EC727C136EE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25215" y="10310716"/>
            <a:ext cx="603231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Courier New" panose="02070309020205020404" pitchFamily="49" charset="0"/>
              </a:rPr>
              <a:t>Question 14: What is the output when a false condition is tested in an if statement without else?</a:t>
            </a:r>
            <a:endParaRPr lang="en-US" kern="100" dirty="0"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1800" kern="100" dirty="0">
                <a:effectLst/>
                <a:latin typeface="Consolas" panose="020B0609020204030204" pitchFamily="49" charset="0"/>
                <a:ea typeface="Aptos" panose="020B0004020202020204" pitchFamily="34" charset="0"/>
                <a:cs typeface="Times New Roman" panose="02020603050405020304" pitchFamily="18" charset="0"/>
              </a:rPr>
              <a:t>Ans:</a:t>
            </a:r>
            <a:r>
              <a:rPr lang="en-IN" dirty="0"/>
              <a:t>When a </a:t>
            </a:r>
            <a:r>
              <a:rPr lang="en-IN" b="1" dirty="0"/>
              <a:t>false condition</a:t>
            </a:r>
            <a:r>
              <a:rPr lang="en-IN" dirty="0"/>
              <a:t> is tested in an if statement </a:t>
            </a:r>
            <a:r>
              <a:rPr lang="en-IN" b="1" dirty="0"/>
              <a:t>without an else block</a:t>
            </a:r>
            <a:r>
              <a:rPr lang="en-IN" dirty="0"/>
              <a:t>, the code inside the if block is </a:t>
            </a:r>
            <a:r>
              <a:rPr lang="en-IN" b="1" dirty="0"/>
              <a:t>skipped</a:t>
            </a:r>
            <a:r>
              <a:rPr lang="en-IN" dirty="0"/>
              <a:t>, and the program continues with the next statement</a:t>
            </a:r>
            <a:endParaRPr lang="en-US" sz="18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Courier New" panose="02070309020205020404" pitchFamily="49" charset="0"/>
              </a:rPr>
              <a:t> </a:t>
            </a:r>
            <a:endParaRPr lang="en-US" sz="18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Courier New" panose="02070309020205020404" pitchFamily="49" charset="0"/>
              </a:rPr>
              <a:t>Question 15: What is the role of braces {} in C/C++ conditionals?</a:t>
            </a:r>
          </a:p>
          <a:p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Courier New" panose="02070309020205020404" pitchFamily="49" charset="0"/>
              </a:rPr>
              <a:t>Ans:</a:t>
            </a:r>
            <a:r>
              <a:rPr lang="en-IN" dirty="0"/>
              <a:t> Braces {} are used to </a:t>
            </a:r>
            <a:r>
              <a:rPr lang="en-IN" b="1" dirty="0"/>
              <a:t>group multiple statements into a single block</a:t>
            </a:r>
            <a:r>
              <a:rPr lang="en-IN" dirty="0"/>
              <a:t> in C/C++ conditionals (if, else, else if).</a:t>
            </a:r>
            <a:endParaRPr lang="en-US" sz="18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buNone/>
            </a:pPr>
            <a:endParaRPr lang="en-US" kern="100" dirty="0">
              <a:latin typeface="Aptos" panose="020B0004020202020204" pitchFamily="34" charset="0"/>
              <a:ea typeface="Aptos" panose="020B0004020202020204" pitchFamily="34" charset="0"/>
              <a:cs typeface="Courier New" panose="02070309020205020404" pitchFamily="49" charset="0"/>
            </a:endParaRPr>
          </a:p>
          <a:p>
            <a:pPr marL="0" marR="0">
              <a:buNone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Courier New" panose="02070309020205020404" pitchFamily="49" charset="0"/>
            </a:endParaRPr>
          </a:p>
          <a:p>
            <a:pPr marL="0" marR="0"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D44C80-D5DE-21B4-5958-9817D8E78017}"/>
              </a:ext>
            </a:extLst>
          </p:cNvPr>
          <p:cNvSpPr txBox="1"/>
          <p:nvPr/>
        </p:nvSpPr>
        <p:spPr>
          <a:xfrm>
            <a:off x="2825215" y="13596070"/>
            <a:ext cx="60323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Courier New" panose="02070309020205020404" pitchFamily="49" charset="0"/>
              </a:rPr>
              <a:t>Question 16: What does &gt; mean?</a:t>
            </a:r>
          </a:p>
          <a:p>
            <a:pPr marL="0" marR="0">
              <a:buNone/>
            </a:pP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Courier New" panose="02070309020205020404" pitchFamily="49" charset="0"/>
              </a:rPr>
              <a:t>Ans:</a:t>
            </a:r>
            <a:endParaRPr lang="en-US" sz="18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Courier New" panose="02070309020205020404" pitchFamily="49" charset="0"/>
              </a:rPr>
              <a:t>Greater than operator.</a:t>
            </a:r>
            <a:endParaRPr lang="en-US" sz="18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Courier New" panose="02070309020205020404" pitchFamily="49" charset="0"/>
              </a:rPr>
              <a:t> </a:t>
            </a:r>
            <a:endParaRPr lang="en-US" sz="1800" kern="100" dirty="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072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D50B97-47F9-04AF-7464-613B660D2A8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07138" y="4378242"/>
            <a:ext cx="9234415" cy="924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1801"/>
          </a:p>
          <a:p>
            <a:pPr>
              <a:buNone/>
            </a:pPr>
            <a:endParaRPr lang="en-IN" sz="1801"/>
          </a:p>
          <a:p>
            <a:pPr>
              <a:buNone/>
            </a:pPr>
            <a:endParaRPr lang="en-IN" sz="180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708AA4-4094-68D4-8861-B67D54C89BE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766164" y="935740"/>
            <a:ext cx="6031486" cy="14187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174" indent="-343174" defTabSz="457566">
              <a:spcBef>
                <a:spcPct val="20000"/>
              </a:spcBef>
              <a:buFont typeface="Arial"/>
              <a:buChar char="•"/>
              <a:defRPr/>
            </a:pPr>
            <a:r>
              <a:rPr lang="en-IN" sz="3203">
                <a:solidFill>
                  <a:prstClr val="black"/>
                </a:solidFill>
                <a:latin typeface="Calibri"/>
              </a:rPr>
              <a:t>17. What does &lt; mean?</a:t>
            </a:r>
          </a:p>
          <a:p>
            <a:pPr marL="343174" indent="-343174">
              <a:spcBef>
                <a:spcPct val="20000"/>
              </a:spcBef>
              <a:buFont typeface="Arial"/>
              <a:buChar char="•"/>
              <a:defRPr/>
            </a:pPr>
            <a:r>
              <a:rPr lang="en-IN" sz="3203">
                <a:solidFill>
                  <a:prstClr val="black"/>
                </a:solidFill>
                <a:latin typeface="Calibri"/>
              </a:rPr>
              <a:t>Ans:  </a:t>
            </a:r>
            <a:r>
              <a:rPr lang="en-IN" sz="3203"/>
              <a:t>It checks whether the value on the left is </a:t>
            </a:r>
            <a:r>
              <a:rPr lang="en-IN" sz="3203" b="1"/>
              <a:t>smaller than</a:t>
            </a:r>
            <a:r>
              <a:rPr lang="en-IN" sz="3203"/>
              <a:t> the value on the right.</a:t>
            </a:r>
          </a:p>
          <a:p>
            <a:pPr marL="343174" indent="-343174">
              <a:spcBef>
                <a:spcPct val="20000"/>
              </a:spcBef>
              <a:buFont typeface="Arial"/>
              <a:buChar char="•"/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int a = 5;</a:t>
            </a:r>
          </a:p>
          <a:p>
            <a:pPr marL="343174" indent="-343174">
              <a:spcBef>
                <a:spcPct val="20000"/>
              </a:spcBef>
              <a:buFont typeface="Arial"/>
              <a:buChar char="•"/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int b = 10;</a:t>
            </a:r>
          </a:p>
          <a:p>
            <a:pPr marL="343174" indent="-343174">
              <a:spcBef>
                <a:spcPct val="20000"/>
              </a:spcBef>
              <a:buFont typeface="Arial"/>
              <a:buChar char="•"/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if (a &lt; b)</a:t>
            </a:r>
          </a:p>
          <a:p>
            <a:pPr marL="343174" indent="-343174">
              <a:spcBef>
                <a:spcPct val="20000"/>
              </a:spcBef>
              <a:buFont typeface="Arial"/>
              <a:buChar char="•"/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{</a:t>
            </a:r>
          </a:p>
          <a:p>
            <a:pPr marL="343174" indent="-343174">
              <a:spcBef>
                <a:spcPct val="20000"/>
              </a:spcBef>
              <a:buFont typeface="Arial"/>
              <a:buChar char="•"/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    </a:t>
            </a:r>
            <a:r>
              <a:rPr lang="en-US" sz="3203" err="1">
                <a:solidFill>
                  <a:prstClr val="black"/>
                </a:solidFill>
                <a:latin typeface="Calibri"/>
              </a:rPr>
              <a:t>cout</a:t>
            </a:r>
            <a:r>
              <a:rPr lang="en-US" sz="3203">
                <a:solidFill>
                  <a:prstClr val="black"/>
                </a:solidFill>
                <a:latin typeface="Calibri"/>
              </a:rPr>
              <a:t> &lt;&lt; "a is less than b";</a:t>
            </a:r>
          </a:p>
          <a:p>
            <a:pPr marL="343174" indent="-343174">
              <a:spcBef>
                <a:spcPct val="20000"/>
              </a:spcBef>
              <a:buFont typeface="Arial"/>
              <a:buChar char="•"/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}</a:t>
            </a:r>
          </a:p>
          <a:p>
            <a:pPr marL="343174" indent="-343174">
              <a:spcBef>
                <a:spcPct val="20000"/>
              </a:spcBef>
              <a:buFont typeface="Arial"/>
              <a:buChar char="•"/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Output=a is less than b</a:t>
            </a:r>
          </a:p>
          <a:p>
            <a:pPr marL="343174" indent="-343174">
              <a:spcBef>
                <a:spcPct val="20000"/>
              </a:spcBef>
              <a:buFont typeface="Arial"/>
              <a:buChar char="•"/>
              <a:defRPr/>
            </a:pPr>
            <a:endParaRPr lang="en-US" sz="3203">
              <a:solidFill>
                <a:prstClr val="black"/>
              </a:solidFill>
              <a:latin typeface="Calibri"/>
            </a:endParaRP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18. What does &gt;= mean?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Ans= </a:t>
            </a:r>
            <a:r>
              <a:rPr lang="en-IN" sz="3203"/>
              <a:t>It checks whether the value on the left is </a:t>
            </a:r>
            <a:r>
              <a:rPr lang="en-IN" sz="3203" b="1"/>
              <a:t>greater than or equal to</a:t>
            </a:r>
            <a:r>
              <a:rPr lang="en-IN" sz="3203"/>
              <a:t> the value on the right.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int a = 10;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int b = 5;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if (a &gt;= b)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{  </a:t>
            </a:r>
            <a:r>
              <a:rPr lang="en-US" sz="3203" err="1">
                <a:solidFill>
                  <a:prstClr val="black"/>
                </a:solidFill>
                <a:latin typeface="Calibri"/>
              </a:rPr>
              <a:t>cout</a:t>
            </a:r>
            <a:r>
              <a:rPr lang="en-US" sz="3203">
                <a:solidFill>
                  <a:prstClr val="black"/>
                </a:solidFill>
                <a:latin typeface="Calibri"/>
              </a:rPr>
              <a:t> &lt;&lt; "a is greater than or equal to b";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}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Output=a is greater than or equal to b</a:t>
            </a:r>
          </a:p>
          <a:p>
            <a:pPr lvl="0">
              <a:spcBef>
                <a:spcPct val="20000"/>
              </a:spcBef>
              <a:defRPr/>
            </a:pPr>
            <a:endParaRPr lang="en-US" sz="3203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93924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4DE7F3-DA9B-66D7-2B59-D424DC33DA6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442099" y="582357"/>
            <a:ext cx="6033421" cy="3973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1"/>
              <a:t>19. What does &lt;= mean?</a:t>
            </a:r>
          </a:p>
          <a:p>
            <a:r>
              <a:rPr lang="en-IN" sz="1801"/>
              <a:t>Ans= It checks whether the value on the left is </a:t>
            </a:r>
            <a:r>
              <a:rPr lang="en-IN" sz="1801" b="1"/>
              <a:t>less than or equal to</a:t>
            </a:r>
            <a:r>
              <a:rPr lang="en-IN" sz="1801"/>
              <a:t> the value on the right.</a:t>
            </a:r>
          </a:p>
          <a:p>
            <a:r>
              <a:rPr lang="en-IN" sz="1801"/>
              <a:t>    </a:t>
            </a:r>
            <a:r>
              <a:rPr lang="en-US" sz="1801"/>
              <a:t>int a = 5;</a:t>
            </a:r>
          </a:p>
          <a:p>
            <a:r>
              <a:rPr lang="en-US" sz="1801"/>
              <a:t>int b = 10;</a:t>
            </a:r>
          </a:p>
          <a:p>
            <a:endParaRPr lang="en-US" sz="1801"/>
          </a:p>
          <a:p>
            <a:r>
              <a:rPr lang="en-US" sz="1801"/>
              <a:t>if (a &lt;= b)</a:t>
            </a:r>
          </a:p>
          <a:p>
            <a:r>
              <a:rPr lang="en-US" sz="1801"/>
              <a:t>{</a:t>
            </a:r>
          </a:p>
          <a:p>
            <a:r>
              <a:rPr lang="en-US" sz="1801"/>
              <a:t>    </a:t>
            </a:r>
            <a:r>
              <a:rPr lang="en-US" sz="1801" err="1"/>
              <a:t>cout</a:t>
            </a:r>
            <a:r>
              <a:rPr lang="en-US" sz="1801"/>
              <a:t> &lt;&lt; "a is less than or equal to b";</a:t>
            </a:r>
          </a:p>
          <a:p>
            <a:r>
              <a:rPr lang="en-US" sz="1801"/>
              <a:t>}</a:t>
            </a:r>
            <a:endParaRPr lang="en-IN" sz="1801"/>
          </a:p>
          <a:p>
            <a:endParaRPr lang="en-IN" sz="1801"/>
          </a:p>
          <a:p>
            <a:r>
              <a:rPr lang="en-IN" sz="1801"/>
              <a:t>Output=</a:t>
            </a:r>
            <a:r>
              <a:rPr lang="en-US" sz="1801"/>
              <a:t>a is less than or equal to b.</a:t>
            </a:r>
          </a:p>
          <a:p>
            <a:endParaRPr lang="en-US" sz="1801"/>
          </a:p>
          <a:p>
            <a:endParaRPr lang="en-IN" sz="180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49E81E-A524-B5FF-0CC2-C0302CB5CE3F}"/>
              </a:ext>
            </a:extLst>
          </p:cNvPr>
          <p:cNvSpPr txBox="1"/>
          <p:nvPr/>
        </p:nvSpPr>
        <p:spPr>
          <a:xfrm>
            <a:off x="2440347" y="4555811"/>
            <a:ext cx="6035173" cy="3419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1"/>
              <a:t>20. What does != mean?</a:t>
            </a:r>
          </a:p>
          <a:p>
            <a:r>
              <a:rPr lang="en-IN" sz="1801"/>
              <a:t>Ans= In C/C++, the </a:t>
            </a:r>
            <a:r>
              <a:rPr lang="en-IN" sz="1801" b="1"/>
              <a:t>!= (not equal to)</a:t>
            </a:r>
            <a:r>
              <a:rPr lang="en-IN" sz="1801"/>
              <a:t> operator is a        </a:t>
            </a:r>
            <a:r>
              <a:rPr lang="en-IN" sz="1801" b="1"/>
              <a:t>comparison operator</a:t>
            </a:r>
            <a:r>
              <a:rPr lang="en-IN" sz="1801"/>
              <a:t>.</a:t>
            </a:r>
          </a:p>
          <a:p>
            <a:r>
              <a:rPr lang="en-IN" sz="1801"/>
              <a:t>It checks whether two values are </a:t>
            </a:r>
            <a:r>
              <a:rPr lang="en-IN" sz="1801" b="1"/>
              <a:t>different</a:t>
            </a:r>
            <a:r>
              <a:rPr lang="en-IN" sz="1801"/>
              <a:t>.</a:t>
            </a:r>
          </a:p>
          <a:p>
            <a:r>
              <a:rPr lang="en-US" sz="1801"/>
              <a:t>int a = 5;</a:t>
            </a:r>
          </a:p>
          <a:p>
            <a:r>
              <a:rPr lang="en-US" sz="1801"/>
              <a:t>int b = 10;</a:t>
            </a:r>
          </a:p>
          <a:p>
            <a:r>
              <a:rPr lang="en-US" sz="1801"/>
              <a:t>if (a != b)</a:t>
            </a:r>
          </a:p>
          <a:p>
            <a:r>
              <a:rPr lang="en-US" sz="1801"/>
              <a:t>{</a:t>
            </a:r>
          </a:p>
          <a:p>
            <a:r>
              <a:rPr lang="en-US" sz="1801"/>
              <a:t>    </a:t>
            </a:r>
            <a:r>
              <a:rPr lang="en-US" sz="1801" err="1"/>
              <a:t>cout</a:t>
            </a:r>
            <a:r>
              <a:rPr lang="en-US" sz="1801"/>
              <a:t> &lt;&lt; "a is not equal to b";</a:t>
            </a:r>
          </a:p>
          <a:p>
            <a:r>
              <a:rPr lang="en-US" sz="1801"/>
              <a:t>}</a:t>
            </a:r>
          </a:p>
          <a:p>
            <a:r>
              <a:rPr lang="en-US" sz="1801"/>
              <a:t>Output=a is not equal to b</a:t>
            </a:r>
            <a:endParaRPr lang="en-IN" sz="1801"/>
          </a:p>
          <a:p>
            <a:endParaRPr lang="en-IN" sz="180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EED7E8-7732-21C5-C104-C68632CE492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47017" y="8120751"/>
            <a:ext cx="6030419" cy="5082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1"/>
              <a:t>21. What is a switch statement?</a:t>
            </a:r>
          </a:p>
          <a:p>
            <a:r>
              <a:rPr lang="en-US" sz="1801"/>
              <a:t>Ans= </a:t>
            </a:r>
            <a:r>
              <a:rPr lang="en-IN" sz="1801"/>
              <a:t>A </a:t>
            </a:r>
            <a:r>
              <a:rPr lang="en-IN" sz="1801" b="1"/>
              <a:t>switch statement</a:t>
            </a:r>
            <a:r>
              <a:rPr lang="en-IN" sz="1801"/>
              <a:t> is a control statement used to choose </a:t>
            </a:r>
            <a:r>
              <a:rPr lang="en-IN" sz="1801" b="1"/>
              <a:t>one option from many options</a:t>
            </a:r>
            <a:r>
              <a:rPr lang="en-IN" sz="1801"/>
              <a:t> based on the value of a variable or expression.</a:t>
            </a:r>
          </a:p>
          <a:p>
            <a:endParaRPr lang="en-IN" sz="1801"/>
          </a:p>
          <a:p>
            <a:r>
              <a:rPr lang="en-IN" sz="1801"/>
              <a:t>Syntax:</a:t>
            </a:r>
          </a:p>
          <a:p>
            <a:r>
              <a:rPr lang="en-US" sz="1801"/>
              <a:t>switch(expression)</a:t>
            </a:r>
          </a:p>
          <a:p>
            <a:r>
              <a:rPr lang="en-US" sz="1801"/>
              <a:t>{</a:t>
            </a:r>
          </a:p>
          <a:p>
            <a:r>
              <a:rPr lang="en-US" sz="1801"/>
              <a:t>    case value1:</a:t>
            </a:r>
          </a:p>
          <a:p>
            <a:r>
              <a:rPr lang="en-US" sz="1801"/>
              <a:t>        // code</a:t>
            </a:r>
          </a:p>
          <a:p>
            <a:r>
              <a:rPr lang="en-US" sz="1801"/>
              <a:t>        break;</a:t>
            </a:r>
          </a:p>
          <a:p>
            <a:r>
              <a:rPr lang="en-US" sz="1801"/>
              <a:t>    case value2:</a:t>
            </a:r>
          </a:p>
          <a:p>
            <a:r>
              <a:rPr lang="en-US" sz="1801"/>
              <a:t>        // code</a:t>
            </a:r>
          </a:p>
          <a:p>
            <a:r>
              <a:rPr lang="en-US" sz="1801"/>
              <a:t>        break;</a:t>
            </a:r>
          </a:p>
          <a:p>
            <a:r>
              <a:rPr lang="en-US" sz="1801"/>
              <a:t>    default:</a:t>
            </a:r>
          </a:p>
          <a:p>
            <a:r>
              <a:rPr lang="en-US" sz="1801"/>
              <a:t>        // code</a:t>
            </a:r>
          </a:p>
          <a:p>
            <a:r>
              <a:rPr lang="en-US" sz="1801"/>
              <a:t>}</a:t>
            </a:r>
          </a:p>
          <a:p>
            <a:endParaRPr lang="en-US" sz="1801"/>
          </a:p>
        </p:txBody>
      </p:sp>
    </p:spTree>
    <p:extLst>
      <p:ext uri="{BB962C8B-B14F-4D97-AF65-F5344CB8AC3E}">
        <p14:creationId xmlns:p14="http://schemas.microsoft.com/office/powerpoint/2010/main" val="2906678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7BE4F1-05B9-15BA-D6FF-291AF35A6DD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41377" y="692683"/>
            <a:ext cx="11428386" cy="11735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1"/>
              <a:t>22. What is a case label in a switch statement?</a:t>
            </a:r>
          </a:p>
          <a:p>
            <a:r>
              <a:rPr lang="en-US" sz="1801"/>
              <a:t>Ans= </a:t>
            </a:r>
            <a:r>
              <a:rPr lang="en-IN" sz="1801"/>
              <a:t>A </a:t>
            </a:r>
            <a:r>
              <a:rPr lang="en-IN" sz="1801" b="1"/>
              <a:t>case label</a:t>
            </a:r>
            <a:r>
              <a:rPr lang="en-IN" sz="1801"/>
              <a:t> is a specific value inside a switch statement that determines which block of code will be executed.</a:t>
            </a:r>
          </a:p>
          <a:p>
            <a:r>
              <a:rPr lang="en-IN" sz="1801"/>
              <a:t>Example:</a:t>
            </a:r>
          </a:p>
          <a:p>
            <a:r>
              <a:rPr lang="en-US" sz="1801"/>
              <a:t>int day = 2;</a:t>
            </a:r>
          </a:p>
          <a:p>
            <a:r>
              <a:rPr lang="en-US" sz="1801"/>
              <a:t>switch(day)</a:t>
            </a:r>
          </a:p>
          <a:p>
            <a:r>
              <a:rPr lang="en-US" sz="1801"/>
              <a:t>{</a:t>
            </a:r>
          </a:p>
          <a:p>
            <a:r>
              <a:rPr lang="en-US" sz="1801"/>
              <a:t>    case 1:</a:t>
            </a:r>
          </a:p>
          <a:p>
            <a:r>
              <a:rPr lang="en-US" sz="1801"/>
              <a:t>        </a:t>
            </a:r>
            <a:r>
              <a:rPr lang="en-US" sz="1801" err="1"/>
              <a:t>cout</a:t>
            </a:r>
            <a:r>
              <a:rPr lang="en-US" sz="1801"/>
              <a:t> &lt;&lt; "Monday";</a:t>
            </a:r>
          </a:p>
          <a:p>
            <a:r>
              <a:rPr lang="en-US" sz="1801"/>
              <a:t>        break;</a:t>
            </a:r>
          </a:p>
          <a:p>
            <a:r>
              <a:rPr lang="en-US" sz="1801"/>
              <a:t>    case 2:</a:t>
            </a:r>
          </a:p>
          <a:p>
            <a:r>
              <a:rPr lang="en-US" sz="1801"/>
              <a:t>        </a:t>
            </a:r>
            <a:r>
              <a:rPr lang="en-US" sz="1801" err="1"/>
              <a:t>cout</a:t>
            </a:r>
            <a:r>
              <a:rPr lang="en-US" sz="1801"/>
              <a:t> &lt;&lt; "Tuesday";</a:t>
            </a:r>
          </a:p>
          <a:p>
            <a:r>
              <a:rPr lang="en-US" sz="1801"/>
              <a:t>        break;</a:t>
            </a:r>
          </a:p>
          <a:p>
            <a:r>
              <a:rPr lang="en-US" sz="1801"/>
              <a:t>    case 3:</a:t>
            </a:r>
          </a:p>
          <a:p>
            <a:r>
              <a:rPr lang="en-US" sz="1801"/>
              <a:t>        </a:t>
            </a:r>
            <a:r>
              <a:rPr lang="en-US" sz="1801" err="1"/>
              <a:t>cout</a:t>
            </a:r>
            <a:r>
              <a:rPr lang="en-US" sz="1801"/>
              <a:t> &lt;&lt; "Wednesday";</a:t>
            </a:r>
          </a:p>
          <a:p>
            <a:r>
              <a:rPr lang="en-US" sz="1801"/>
              <a:t>        break;</a:t>
            </a:r>
          </a:p>
          <a:p>
            <a:r>
              <a:rPr lang="en-US" sz="1801"/>
              <a:t>}</a:t>
            </a:r>
          </a:p>
          <a:p>
            <a:endParaRPr lang="en-US" sz="1801"/>
          </a:p>
          <a:p>
            <a:r>
              <a:rPr lang="en-IN" sz="1801"/>
              <a:t>In this example, case 1, case 2, and case 3 are </a:t>
            </a:r>
            <a:r>
              <a:rPr lang="en-IN" sz="1801" b="1"/>
              <a:t>case labels</a:t>
            </a:r>
            <a:r>
              <a:rPr lang="en-IN" sz="1801"/>
              <a:t>.</a:t>
            </a:r>
          </a:p>
          <a:p>
            <a:r>
              <a:rPr lang="en-IN" sz="1801"/>
              <a:t>Since day is 2, the code under </a:t>
            </a:r>
            <a:r>
              <a:rPr lang="en-IN" sz="1801" b="1"/>
              <a:t>case 2</a:t>
            </a:r>
            <a:r>
              <a:rPr lang="en-IN" sz="1801"/>
              <a:t> will execute</a:t>
            </a:r>
          </a:p>
          <a:p>
            <a:endParaRPr lang="en-IN" sz="1801"/>
          </a:p>
          <a:p>
            <a:r>
              <a:rPr lang="en-IN" sz="1801"/>
              <a:t> </a:t>
            </a:r>
          </a:p>
          <a:p>
            <a:r>
              <a:rPr lang="en-US" sz="1801"/>
              <a:t>23. Why is break used in switch?</a:t>
            </a:r>
          </a:p>
          <a:p>
            <a:r>
              <a:rPr lang="en-IN" sz="1801"/>
              <a:t>Ans=The </a:t>
            </a:r>
            <a:r>
              <a:rPr lang="en-IN" sz="1801" b="1"/>
              <a:t>break</a:t>
            </a:r>
            <a:r>
              <a:rPr lang="en-IN" sz="1801"/>
              <a:t> statement is used to </a:t>
            </a:r>
            <a:r>
              <a:rPr lang="en-IN" sz="1801" b="1"/>
              <a:t>stop the execution of the switch statement</a:t>
            </a:r>
            <a:r>
              <a:rPr lang="en-IN" sz="1801"/>
              <a:t> after a matching case is executed.</a:t>
            </a:r>
          </a:p>
          <a:p>
            <a:endParaRPr lang="en-IN" sz="1801"/>
          </a:p>
          <a:p>
            <a:r>
              <a:rPr lang="en-IN" sz="1801"/>
              <a:t>Example:</a:t>
            </a:r>
          </a:p>
          <a:p>
            <a:r>
              <a:rPr lang="en-US" sz="1801"/>
              <a:t>int day = 2;</a:t>
            </a:r>
          </a:p>
          <a:p>
            <a:r>
              <a:rPr lang="en-US" sz="1801"/>
              <a:t>switch(day)</a:t>
            </a:r>
          </a:p>
          <a:p>
            <a:r>
              <a:rPr lang="en-US" sz="1801"/>
              <a:t>{</a:t>
            </a:r>
          </a:p>
          <a:p>
            <a:r>
              <a:rPr lang="en-US" sz="1801"/>
              <a:t>    case 1:</a:t>
            </a:r>
          </a:p>
          <a:p>
            <a:r>
              <a:rPr lang="en-US" sz="1801"/>
              <a:t>        </a:t>
            </a:r>
            <a:r>
              <a:rPr lang="en-US" sz="1801" err="1"/>
              <a:t>cout</a:t>
            </a:r>
            <a:r>
              <a:rPr lang="en-US" sz="1801"/>
              <a:t> &lt;&lt; "Monday";</a:t>
            </a:r>
          </a:p>
          <a:p>
            <a:r>
              <a:rPr lang="en-US" sz="1801"/>
              <a:t>        break;</a:t>
            </a:r>
          </a:p>
          <a:p>
            <a:r>
              <a:rPr lang="en-US" sz="1801"/>
              <a:t>    case 2:</a:t>
            </a:r>
          </a:p>
          <a:p>
            <a:r>
              <a:rPr lang="en-US" sz="1801"/>
              <a:t>        </a:t>
            </a:r>
            <a:r>
              <a:rPr lang="en-US" sz="1801" err="1"/>
              <a:t>cout</a:t>
            </a:r>
            <a:r>
              <a:rPr lang="en-US" sz="1801"/>
              <a:t> &lt;&lt; "Tuesday";</a:t>
            </a:r>
          </a:p>
          <a:p>
            <a:r>
              <a:rPr lang="en-US" sz="1801"/>
              <a:t>        break;</a:t>
            </a:r>
          </a:p>
          <a:p>
            <a:r>
              <a:rPr lang="en-US" sz="1801"/>
              <a:t>    case 3:</a:t>
            </a:r>
          </a:p>
          <a:p>
            <a:r>
              <a:rPr lang="en-US" sz="1801"/>
              <a:t>        </a:t>
            </a:r>
            <a:r>
              <a:rPr lang="en-US" sz="1801" err="1"/>
              <a:t>cout</a:t>
            </a:r>
            <a:r>
              <a:rPr lang="en-US" sz="1801"/>
              <a:t> &lt;&lt; "Wednesday";</a:t>
            </a:r>
          </a:p>
          <a:p>
            <a:r>
              <a:rPr lang="en-US" sz="1801"/>
              <a:t>        break;</a:t>
            </a:r>
          </a:p>
          <a:p>
            <a:r>
              <a:rPr lang="en-US" sz="1801"/>
              <a:t>}</a:t>
            </a:r>
          </a:p>
          <a:p>
            <a:r>
              <a:rPr lang="en-US" sz="1801"/>
              <a:t>Output=Tuesday</a:t>
            </a:r>
            <a:endParaRPr lang="en-IN" sz="1801"/>
          </a:p>
          <a:p>
            <a:endParaRPr lang="en-US" sz="1801"/>
          </a:p>
        </p:txBody>
      </p:sp>
    </p:spTree>
    <p:extLst>
      <p:ext uri="{BB962C8B-B14F-4D97-AF65-F5344CB8AC3E}">
        <p14:creationId xmlns:p14="http://schemas.microsoft.com/office/powerpoint/2010/main" val="889016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799FA7-E70F-FB6E-AF47-D2E782665E5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61077" y="582357"/>
            <a:ext cx="7453989" cy="4805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1"/>
              <a:t>24. What happens if break is omitted?</a:t>
            </a:r>
          </a:p>
          <a:p>
            <a:r>
              <a:rPr lang="en-US" sz="1801"/>
              <a:t>Ans: </a:t>
            </a:r>
            <a:r>
              <a:rPr lang="en-IN" sz="1801"/>
              <a:t>If the </a:t>
            </a:r>
            <a:r>
              <a:rPr lang="en-IN" sz="1801" b="1"/>
              <a:t>break</a:t>
            </a:r>
            <a:r>
              <a:rPr lang="en-IN" sz="1801"/>
              <a:t> statement is omitted in a switch statement, the program continues executing the next case(s) even if they do not match. This is called </a:t>
            </a:r>
            <a:r>
              <a:rPr lang="en-IN" sz="1801" b="1"/>
              <a:t>fall-through</a:t>
            </a:r>
            <a:r>
              <a:rPr lang="en-IN" sz="1801"/>
              <a:t>.</a:t>
            </a:r>
          </a:p>
          <a:p>
            <a:endParaRPr lang="en-IN" sz="1801"/>
          </a:p>
          <a:p>
            <a:r>
              <a:rPr lang="en-IN" sz="1801"/>
              <a:t>Example:</a:t>
            </a:r>
            <a:endParaRPr lang="en-US" sz="1801"/>
          </a:p>
          <a:p>
            <a:r>
              <a:rPr lang="en-US" sz="1801"/>
              <a:t>int day = 2;</a:t>
            </a:r>
          </a:p>
          <a:p>
            <a:r>
              <a:rPr lang="en-US" sz="1801"/>
              <a:t>switch(day)</a:t>
            </a:r>
          </a:p>
          <a:p>
            <a:r>
              <a:rPr lang="en-US" sz="1801"/>
              <a:t>{</a:t>
            </a:r>
          </a:p>
          <a:p>
            <a:r>
              <a:rPr lang="en-US" sz="1801"/>
              <a:t>    case 1:</a:t>
            </a:r>
          </a:p>
          <a:p>
            <a:r>
              <a:rPr lang="en-US" sz="1801"/>
              <a:t>        </a:t>
            </a:r>
            <a:r>
              <a:rPr lang="en-US" sz="1801" err="1"/>
              <a:t>cout</a:t>
            </a:r>
            <a:r>
              <a:rPr lang="en-US" sz="1801"/>
              <a:t> &lt;&lt; "Monday";</a:t>
            </a:r>
          </a:p>
          <a:p>
            <a:r>
              <a:rPr lang="en-US" sz="1801"/>
              <a:t>    case 2:</a:t>
            </a:r>
          </a:p>
          <a:p>
            <a:r>
              <a:rPr lang="en-US" sz="1801"/>
              <a:t>        </a:t>
            </a:r>
            <a:r>
              <a:rPr lang="en-US" sz="1801" err="1"/>
              <a:t>cout</a:t>
            </a:r>
            <a:r>
              <a:rPr lang="en-US" sz="1801"/>
              <a:t> &lt;&lt; "Tuesday";</a:t>
            </a:r>
          </a:p>
          <a:p>
            <a:r>
              <a:rPr lang="en-US" sz="1801"/>
              <a:t>    case 3:</a:t>
            </a:r>
          </a:p>
          <a:p>
            <a:r>
              <a:rPr lang="en-US" sz="1801"/>
              <a:t>        </a:t>
            </a:r>
            <a:r>
              <a:rPr lang="en-US" sz="1801" err="1"/>
              <a:t>cout</a:t>
            </a:r>
            <a:r>
              <a:rPr lang="en-US" sz="1801"/>
              <a:t> &lt;&lt; "Wednesday";</a:t>
            </a:r>
          </a:p>
          <a:p>
            <a:r>
              <a:rPr lang="en-US" sz="1801"/>
              <a:t>}</a:t>
            </a:r>
          </a:p>
          <a:p>
            <a:r>
              <a:rPr lang="en-US" sz="1801"/>
              <a:t>Output=</a:t>
            </a:r>
            <a:r>
              <a:rPr lang="en-US" sz="1801" err="1"/>
              <a:t>TuesdayWednesday</a:t>
            </a:r>
            <a:endParaRPr lang="en-IN" sz="180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08A404-EB1E-1356-F659-5A3ADF7B264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94281" y="6110690"/>
            <a:ext cx="6032180" cy="5082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1"/>
              <a:t>25. What is the default case in switch?</a:t>
            </a:r>
          </a:p>
          <a:p>
            <a:r>
              <a:rPr lang="en-US" sz="1801"/>
              <a:t>Ans:</a:t>
            </a:r>
            <a:r>
              <a:rPr lang="en-IN" sz="1801"/>
              <a:t>The </a:t>
            </a:r>
            <a:r>
              <a:rPr lang="en-IN" sz="1801" b="1"/>
              <a:t>default case</a:t>
            </a:r>
            <a:r>
              <a:rPr lang="en-IN" sz="1801"/>
              <a:t> is executed when </a:t>
            </a:r>
            <a:r>
              <a:rPr lang="en-IN" sz="1801" b="1"/>
              <a:t>none of the case labels match</a:t>
            </a:r>
            <a:r>
              <a:rPr lang="en-IN" sz="1801"/>
              <a:t> the value of the switch expression.</a:t>
            </a:r>
          </a:p>
          <a:p>
            <a:endParaRPr lang="en-IN" sz="1801"/>
          </a:p>
          <a:p>
            <a:r>
              <a:rPr lang="en-IN" sz="1801"/>
              <a:t>Example:</a:t>
            </a:r>
          </a:p>
          <a:p>
            <a:r>
              <a:rPr lang="en-US" sz="1801"/>
              <a:t>int day = 5;</a:t>
            </a:r>
          </a:p>
          <a:p>
            <a:r>
              <a:rPr lang="en-US" sz="1801"/>
              <a:t>switch(day)</a:t>
            </a:r>
          </a:p>
          <a:p>
            <a:r>
              <a:rPr lang="en-US" sz="1801"/>
              <a:t>{</a:t>
            </a:r>
          </a:p>
          <a:p>
            <a:r>
              <a:rPr lang="en-US" sz="1801"/>
              <a:t>    case 1:</a:t>
            </a:r>
          </a:p>
          <a:p>
            <a:r>
              <a:rPr lang="en-US" sz="1801"/>
              <a:t>        </a:t>
            </a:r>
            <a:r>
              <a:rPr lang="en-US" sz="1801" err="1"/>
              <a:t>cout</a:t>
            </a:r>
            <a:r>
              <a:rPr lang="en-US" sz="1801"/>
              <a:t> &lt;&lt; "Monday";</a:t>
            </a:r>
          </a:p>
          <a:p>
            <a:r>
              <a:rPr lang="en-US" sz="1801"/>
              <a:t>        break;</a:t>
            </a:r>
          </a:p>
          <a:p>
            <a:r>
              <a:rPr lang="en-US" sz="1801"/>
              <a:t>    case 2:</a:t>
            </a:r>
          </a:p>
          <a:p>
            <a:r>
              <a:rPr lang="en-US" sz="1801"/>
              <a:t>        </a:t>
            </a:r>
            <a:r>
              <a:rPr lang="en-US" sz="1801" err="1"/>
              <a:t>cout</a:t>
            </a:r>
            <a:r>
              <a:rPr lang="en-US" sz="1801"/>
              <a:t> &lt;&lt; "Tuesday";</a:t>
            </a:r>
          </a:p>
          <a:p>
            <a:r>
              <a:rPr lang="en-US" sz="1801"/>
              <a:t>        break;</a:t>
            </a:r>
          </a:p>
          <a:p>
            <a:r>
              <a:rPr lang="en-US" sz="1801"/>
              <a:t>    default:</a:t>
            </a:r>
          </a:p>
          <a:p>
            <a:r>
              <a:rPr lang="en-US" sz="1801"/>
              <a:t>        </a:t>
            </a:r>
            <a:r>
              <a:rPr lang="en-US" sz="1801" err="1"/>
              <a:t>cout</a:t>
            </a:r>
            <a:r>
              <a:rPr lang="en-US" sz="1801"/>
              <a:t> &lt;&lt; "Invalid day";</a:t>
            </a:r>
          </a:p>
          <a:p>
            <a:r>
              <a:rPr lang="en-US" sz="1801"/>
              <a:t>}</a:t>
            </a:r>
          </a:p>
          <a:p>
            <a:r>
              <a:rPr lang="en-US" sz="1801"/>
              <a:t>Output= Invalid day</a:t>
            </a:r>
          </a:p>
        </p:txBody>
      </p:sp>
    </p:spTree>
    <p:extLst>
      <p:ext uri="{BB962C8B-B14F-4D97-AF65-F5344CB8AC3E}">
        <p14:creationId xmlns:p14="http://schemas.microsoft.com/office/powerpoint/2010/main" val="2123678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B36BA6-685B-0B40-577F-3FC62D8102F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85715" y="694515"/>
            <a:ext cx="6435675" cy="2864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1"/>
              <a:t>26. Can switch compare strings in C++?</a:t>
            </a:r>
          </a:p>
          <a:p>
            <a:r>
              <a:rPr lang="en-US" sz="1801"/>
              <a:t>Ans: </a:t>
            </a:r>
            <a:r>
              <a:rPr lang="en-IN" sz="1801"/>
              <a:t>No, a switch statement in C++ cannot directly compare string values. It works only with integral types such as int, char, and </a:t>
            </a:r>
            <a:r>
              <a:rPr lang="en-IN" sz="1801" err="1"/>
              <a:t>enum</a:t>
            </a:r>
            <a:r>
              <a:rPr lang="en-IN" sz="1801"/>
              <a:t>.</a:t>
            </a:r>
          </a:p>
          <a:p>
            <a:endParaRPr lang="en-IN" sz="1801"/>
          </a:p>
          <a:p>
            <a:r>
              <a:rPr lang="en-US" sz="1801"/>
              <a:t>string name = "Manoj";</a:t>
            </a:r>
          </a:p>
          <a:p>
            <a:r>
              <a:rPr lang="en-US" sz="1801"/>
              <a:t>if(name == "Manoj")</a:t>
            </a:r>
          </a:p>
          <a:p>
            <a:r>
              <a:rPr lang="en-US" sz="1801"/>
              <a:t>{</a:t>
            </a:r>
          </a:p>
          <a:p>
            <a:r>
              <a:rPr lang="en-US" sz="1801"/>
              <a:t>    </a:t>
            </a:r>
            <a:r>
              <a:rPr lang="en-US" sz="1801" err="1"/>
              <a:t>cout</a:t>
            </a:r>
            <a:r>
              <a:rPr lang="en-US" sz="1801"/>
              <a:t> &lt;&lt; "Hello Manoj";</a:t>
            </a:r>
          </a:p>
          <a:p>
            <a:r>
              <a:rPr lang="en-US" sz="1801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A608CA-144A-2D5E-2E74-E9A31508BD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17943" y="4016605"/>
            <a:ext cx="5769032" cy="6745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1"/>
              <a:t>27. Which statement is better for many constant choices: if-else or switch?</a:t>
            </a:r>
          </a:p>
          <a:p>
            <a:r>
              <a:rPr lang="en-US" sz="1801"/>
              <a:t>Ans:</a:t>
            </a:r>
            <a:r>
              <a:rPr lang="en-IN" sz="1801" b="1"/>
              <a:t>switch is usually better when there are many constant choices.</a:t>
            </a:r>
          </a:p>
          <a:p>
            <a:r>
              <a:rPr lang="en-IN" sz="1801"/>
              <a:t>Example using switch</a:t>
            </a:r>
          </a:p>
          <a:p>
            <a:r>
              <a:rPr lang="en-US" sz="1801"/>
              <a:t>int day = 3;</a:t>
            </a:r>
          </a:p>
          <a:p>
            <a:endParaRPr lang="en-US" sz="1801"/>
          </a:p>
          <a:p>
            <a:r>
              <a:rPr lang="en-US" sz="1801"/>
              <a:t>switch(day)</a:t>
            </a:r>
          </a:p>
          <a:p>
            <a:r>
              <a:rPr lang="en-US" sz="1801"/>
              <a:t>{</a:t>
            </a:r>
          </a:p>
          <a:p>
            <a:r>
              <a:rPr lang="en-US" sz="1801"/>
              <a:t>    case 1: </a:t>
            </a:r>
            <a:r>
              <a:rPr lang="en-US" sz="1801" err="1"/>
              <a:t>cout</a:t>
            </a:r>
            <a:r>
              <a:rPr lang="en-US" sz="1801"/>
              <a:t> &lt;&lt; "Monday"; break;</a:t>
            </a:r>
          </a:p>
          <a:p>
            <a:r>
              <a:rPr lang="en-US" sz="1801"/>
              <a:t>    case 2: </a:t>
            </a:r>
            <a:r>
              <a:rPr lang="en-US" sz="1801" err="1"/>
              <a:t>cout</a:t>
            </a:r>
            <a:r>
              <a:rPr lang="en-US" sz="1801"/>
              <a:t> &lt;&lt; "Tuesday"; break;</a:t>
            </a:r>
          </a:p>
          <a:p>
            <a:r>
              <a:rPr lang="en-US" sz="1801"/>
              <a:t>    case 3: </a:t>
            </a:r>
            <a:r>
              <a:rPr lang="en-US" sz="1801" err="1"/>
              <a:t>cout</a:t>
            </a:r>
            <a:r>
              <a:rPr lang="en-US" sz="1801"/>
              <a:t> &lt;&lt; "Wednesday"; break;</a:t>
            </a:r>
          </a:p>
          <a:p>
            <a:r>
              <a:rPr lang="en-US" sz="1801"/>
              <a:t>    default: </a:t>
            </a:r>
            <a:r>
              <a:rPr lang="en-US" sz="1801" err="1"/>
              <a:t>cout</a:t>
            </a:r>
            <a:r>
              <a:rPr lang="en-US" sz="1801"/>
              <a:t> &lt;&lt; "Invalid Day";</a:t>
            </a:r>
          </a:p>
          <a:p>
            <a:r>
              <a:rPr lang="en-US" sz="1801"/>
              <a:t>} </a:t>
            </a:r>
          </a:p>
          <a:p>
            <a:endParaRPr lang="en-US" sz="1801"/>
          </a:p>
          <a:p>
            <a:r>
              <a:rPr lang="en-IN" sz="1801"/>
              <a:t>Example using if-else</a:t>
            </a:r>
          </a:p>
          <a:p>
            <a:r>
              <a:rPr lang="en-US" sz="1801"/>
              <a:t>if(day == 1)</a:t>
            </a:r>
          </a:p>
          <a:p>
            <a:r>
              <a:rPr lang="en-US" sz="1801"/>
              <a:t>    </a:t>
            </a:r>
            <a:r>
              <a:rPr lang="en-US" sz="1801" err="1"/>
              <a:t>cout</a:t>
            </a:r>
            <a:r>
              <a:rPr lang="en-US" sz="1801"/>
              <a:t> &lt;&lt; "Monday";</a:t>
            </a:r>
          </a:p>
          <a:p>
            <a:r>
              <a:rPr lang="en-US" sz="1801"/>
              <a:t>else if(day == 2)</a:t>
            </a:r>
          </a:p>
          <a:p>
            <a:r>
              <a:rPr lang="en-US" sz="1801"/>
              <a:t>    </a:t>
            </a:r>
            <a:r>
              <a:rPr lang="en-US" sz="1801" err="1"/>
              <a:t>cout</a:t>
            </a:r>
            <a:r>
              <a:rPr lang="en-US" sz="1801"/>
              <a:t> &lt;&lt; "Tuesday";</a:t>
            </a:r>
          </a:p>
          <a:p>
            <a:r>
              <a:rPr lang="en-US" sz="1801"/>
              <a:t>else if(day == 3)</a:t>
            </a:r>
          </a:p>
          <a:p>
            <a:r>
              <a:rPr lang="en-US" sz="1801"/>
              <a:t>    </a:t>
            </a:r>
            <a:r>
              <a:rPr lang="en-US" sz="1801" err="1"/>
              <a:t>cout</a:t>
            </a:r>
            <a:r>
              <a:rPr lang="en-US" sz="1801"/>
              <a:t> &lt;&lt; "Wednesday";</a:t>
            </a:r>
          </a:p>
          <a:p>
            <a:r>
              <a:rPr lang="en-US" sz="1801"/>
              <a:t>else</a:t>
            </a:r>
          </a:p>
          <a:p>
            <a:r>
              <a:rPr lang="en-US" sz="1801"/>
              <a:t>    </a:t>
            </a:r>
            <a:r>
              <a:rPr lang="en-US" sz="1801" err="1"/>
              <a:t>cout</a:t>
            </a:r>
            <a:r>
              <a:rPr lang="en-US" sz="1801"/>
              <a:t> &lt;&lt; "Invalid Day";</a:t>
            </a:r>
          </a:p>
        </p:txBody>
      </p:sp>
    </p:spTree>
    <p:extLst>
      <p:ext uri="{BB962C8B-B14F-4D97-AF65-F5344CB8AC3E}">
        <p14:creationId xmlns:p14="http://schemas.microsoft.com/office/powerpoint/2010/main" val="328399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02E1AB-8292-BBCF-CD6A-D4C1591FE6E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78951" y="4082169"/>
            <a:ext cx="6032180" cy="314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1"/>
              <a:t>28. How do you test whether a value is positive?</a:t>
            </a:r>
          </a:p>
          <a:p>
            <a:r>
              <a:rPr lang="en-US" sz="1801"/>
              <a:t>Ans: </a:t>
            </a:r>
            <a:r>
              <a:rPr lang="en-IN" sz="1801"/>
              <a:t>A value is </a:t>
            </a:r>
            <a:r>
              <a:rPr lang="en-IN" sz="1801" b="1"/>
              <a:t>positive</a:t>
            </a:r>
            <a:r>
              <a:rPr lang="en-IN" sz="1801"/>
              <a:t> if it is </a:t>
            </a:r>
            <a:r>
              <a:rPr lang="en-IN" sz="1801" b="1"/>
              <a:t>greater than 0</a:t>
            </a:r>
            <a:r>
              <a:rPr lang="en-IN" sz="1801"/>
              <a:t>. You can test it using the </a:t>
            </a:r>
            <a:r>
              <a:rPr lang="en-IN" sz="1801" b="1"/>
              <a:t>greater than (&gt;)</a:t>
            </a:r>
            <a:r>
              <a:rPr lang="en-IN" sz="1801"/>
              <a:t> operator.</a:t>
            </a:r>
          </a:p>
          <a:p>
            <a:r>
              <a:rPr lang="en-IN" sz="1801"/>
              <a:t>Example:</a:t>
            </a:r>
          </a:p>
          <a:p>
            <a:r>
              <a:rPr lang="en-US" sz="1801"/>
              <a:t>int num = 10;</a:t>
            </a:r>
          </a:p>
          <a:p>
            <a:endParaRPr lang="en-US" sz="1801"/>
          </a:p>
          <a:p>
            <a:r>
              <a:rPr lang="en-US" sz="1801"/>
              <a:t>if (num &gt; 0)</a:t>
            </a:r>
          </a:p>
          <a:p>
            <a:r>
              <a:rPr lang="en-US" sz="1801"/>
              <a:t>{</a:t>
            </a:r>
          </a:p>
          <a:p>
            <a:r>
              <a:rPr lang="en-US" sz="1801"/>
              <a:t>    </a:t>
            </a:r>
            <a:r>
              <a:rPr lang="en-US" sz="1801" err="1"/>
              <a:t>cout</a:t>
            </a:r>
            <a:r>
              <a:rPr lang="en-US" sz="1801"/>
              <a:t> &lt;&lt; "The number is positive.";</a:t>
            </a:r>
          </a:p>
          <a:p>
            <a:r>
              <a:rPr lang="en-US" sz="1801"/>
              <a:t>}</a:t>
            </a:r>
          </a:p>
          <a:p>
            <a:r>
              <a:rPr lang="en-US" sz="1801"/>
              <a:t>Output=The number is positive.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0E34F2-C660-139E-A922-B9AC45AD435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72187" y="7834169"/>
            <a:ext cx="6032180" cy="3973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1"/>
              <a:t>29. How do you test whether a value is negative?</a:t>
            </a:r>
          </a:p>
          <a:p>
            <a:r>
              <a:rPr lang="en-US" sz="1801"/>
              <a:t>Ans: </a:t>
            </a:r>
            <a:r>
              <a:rPr lang="en-IN" sz="1801"/>
              <a:t>A value is </a:t>
            </a:r>
            <a:r>
              <a:rPr lang="en-IN" sz="1801" b="1"/>
              <a:t>negative</a:t>
            </a:r>
            <a:r>
              <a:rPr lang="en-IN" sz="1801"/>
              <a:t> if it is </a:t>
            </a:r>
            <a:r>
              <a:rPr lang="en-IN" sz="1801" b="1"/>
              <a:t>less than 0</a:t>
            </a:r>
            <a:r>
              <a:rPr lang="en-IN" sz="1801"/>
              <a:t>. Use the </a:t>
            </a:r>
            <a:r>
              <a:rPr lang="en-IN" sz="1801" b="1"/>
              <a:t>&lt; (less than)</a:t>
            </a:r>
            <a:r>
              <a:rPr lang="en-IN" sz="1801"/>
              <a:t> operator to test it.</a:t>
            </a:r>
          </a:p>
          <a:p>
            <a:endParaRPr lang="en-IN" sz="1801"/>
          </a:p>
          <a:p>
            <a:r>
              <a:rPr lang="en-IN" sz="1801"/>
              <a:t>Example : </a:t>
            </a:r>
          </a:p>
          <a:p>
            <a:r>
              <a:rPr lang="en-US" sz="1801"/>
              <a:t>int num = -5;</a:t>
            </a:r>
          </a:p>
          <a:p>
            <a:endParaRPr lang="en-US" sz="1801"/>
          </a:p>
          <a:p>
            <a:r>
              <a:rPr lang="en-US" sz="1801"/>
              <a:t>if (num &lt; 0)</a:t>
            </a:r>
          </a:p>
          <a:p>
            <a:r>
              <a:rPr lang="en-US" sz="1801"/>
              <a:t>{</a:t>
            </a:r>
          </a:p>
          <a:p>
            <a:r>
              <a:rPr lang="en-US" sz="1801"/>
              <a:t>    </a:t>
            </a:r>
            <a:r>
              <a:rPr lang="en-US" sz="1801" err="1"/>
              <a:t>cout</a:t>
            </a:r>
            <a:r>
              <a:rPr lang="en-US" sz="1801"/>
              <a:t> &lt;&lt; "The number is negative.";</a:t>
            </a:r>
          </a:p>
          <a:p>
            <a:r>
              <a:rPr lang="en-US" sz="1801"/>
              <a:t>}</a:t>
            </a:r>
          </a:p>
          <a:p>
            <a:r>
              <a:rPr lang="en-US" sz="1801"/>
              <a:t>Output=The number is negative.</a:t>
            </a:r>
          </a:p>
          <a:p>
            <a:r>
              <a:rPr lang="en-IN" sz="1801"/>
              <a:t>Use the condition </a:t>
            </a:r>
            <a:r>
              <a:rPr lang="en-IN" sz="1801" b="1"/>
              <a:t>value &lt; 0</a:t>
            </a:r>
            <a:r>
              <a:rPr lang="en-IN" sz="1801"/>
              <a:t> to check whether a value is negative.</a:t>
            </a:r>
            <a:endParaRPr lang="en-US" sz="1801"/>
          </a:p>
        </p:txBody>
      </p:sp>
    </p:spTree>
    <p:extLst>
      <p:ext uri="{BB962C8B-B14F-4D97-AF65-F5344CB8AC3E}">
        <p14:creationId xmlns:p14="http://schemas.microsoft.com/office/powerpoint/2010/main" val="3685419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2B252B-F5F4-EAD9-D5D2-024CB499DAE4}"/>
              </a:ext>
            </a:extLst>
          </p:cNvPr>
          <p:cNvSpPr txBox="1"/>
          <p:nvPr/>
        </p:nvSpPr>
        <p:spPr>
          <a:xfrm>
            <a:off x="743536" y="4551556"/>
            <a:ext cx="6032180" cy="585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defRPr/>
            </a:pPr>
            <a:endParaRPr lang="en-US" sz="3203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DD2EBE-A0C5-E2B3-7FC9-4118FEBA4D52}"/>
              </a:ext>
            </a:extLst>
          </p:cNvPr>
          <p:cNvSpPr txBox="1"/>
          <p:nvPr/>
        </p:nvSpPr>
        <p:spPr>
          <a:xfrm>
            <a:off x="896057" y="4704076"/>
            <a:ext cx="6032180" cy="585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defRPr/>
            </a:pPr>
            <a:endParaRPr lang="en-US" sz="3203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11941D-338E-0DEC-1178-95078489469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66541" y="632955"/>
            <a:ext cx="8505944" cy="5513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3"/>
              <a:t>30. How do you test whether a value is zero?</a:t>
            </a:r>
          </a:p>
          <a:p>
            <a:r>
              <a:rPr lang="en-US" sz="3203"/>
              <a:t>Ans: </a:t>
            </a:r>
            <a:r>
              <a:rPr lang="en-IN" sz="3203"/>
              <a:t>You can test whether a value is zero by using the </a:t>
            </a:r>
            <a:r>
              <a:rPr lang="en-IN" sz="3203" b="1"/>
              <a:t>equality operator (</a:t>
            </a:r>
            <a:r>
              <a:rPr lang="en-IN" sz="1801" b="1"/>
              <a:t>==</a:t>
            </a:r>
            <a:r>
              <a:rPr lang="en-IN" sz="3203" b="1"/>
              <a:t>)</a:t>
            </a:r>
            <a:r>
              <a:rPr lang="en-IN" sz="3203"/>
              <a:t>.</a:t>
            </a:r>
          </a:p>
          <a:p>
            <a:endParaRPr lang="en-IN" sz="3203"/>
          </a:p>
          <a:p>
            <a:r>
              <a:rPr lang="en-IN" sz="3203"/>
              <a:t>Example : </a:t>
            </a:r>
          </a:p>
          <a:p>
            <a:r>
              <a:rPr lang="en-US" sz="3203"/>
              <a:t>int num = 0;</a:t>
            </a:r>
          </a:p>
          <a:p>
            <a:r>
              <a:rPr lang="en-US" sz="3203"/>
              <a:t>if (num == 0)</a:t>
            </a:r>
          </a:p>
          <a:p>
            <a:r>
              <a:rPr lang="en-US" sz="3203"/>
              <a:t>{</a:t>
            </a:r>
          </a:p>
          <a:p>
            <a:r>
              <a:rPr lang="en-US" sz="3203"/>
              <a:t>    </a:t>
            </a:r>
            <a:r>
              <a:rPr lang="en-US" sz="3203" err="1"/>
              <a:t>cout</a:t>
            </a:r>
            <a:r>
              <a:rPr lang="en-US" sz="3203"/>
              <a:t> &lt;&lt; "The value is zero";</a:t>
            </a:r>
          </a:p>
          <a:p>
            <a:r>
              <a:rPr lang="en-US" sz="3203"/>
              <a:t>}</a:t>
            </a:r>
          </a:p>
          <a:p>
            <a:endParaRPr lang="en-US" sz="3203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935A80-F56B-A934-2E62-68AB9F480F35}"/>
              </a:ext>
            </a:extLst>
          </p:cNvPr>
          <p:cNvSpPr txBox="1"/>
          <p:nvPr/>
        </p:nvSpPr>
        <p:spPr>
          <a:xfrm>
            <a:off x="3015210" y="7171292"/>
            <a:ext cx="6030419" cy="36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1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F20410-EB90-A9D8-F445-5D2E5D3498D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66541" y="7171292"/>
            <a:ext cx="9491459" cy="5217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174" indent="-343174" defTabSz="457566">
              <a:spcBef>
                <a:spcPct val="20000"/>
              </a:spcBef>
              <a:buFont typeface="Arial"/>
              <a:buChar char="•"/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31. Write a condition to check if age is at least 18.</a:t>
            </a:r>
          </a:p>
          <a:p>
            <a:pPr marL="343174" indent="-343174">
              <a:spcBef>
                <a:spcPct val="20000"/>
              </a:spcBef>
              <a:buFont typeface="Arial"/>
              <a:buChar char="•"/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Ans: </a:t>
            </a:r>
            <a:r>
              <a:rPr lang="en-IN" sz="3203"/>
              <a:t>To check if </a:t>
            </a:r>
            <a:r>
              <a:rPr lang="en-IN" sz="3203" b="1"/>
              <a:t>age is at least 18</a:t>
            </a:r>
            <a:r>
              <a:rPr lang="en-IN" sz="3203"/>
              <a:t>, use the </a:t>
            </a:r>
            <a:r>
              <a:rPr lang="en-IN" sz="3203" b="1"/>
              <a:t>greater than or equal to (</a:t>
            </a:r>
            <a:r>
              <a:rPr lang="en-IN" sz="1801" b="1"/>
              <a:t>&gt;=</a:t>
            </a:r>
            <a:r>
              <a:rPr lang="en-IN" sz="3203" b="1"/>
              <a:t>)</a:t>
            </a:r>
            <a:r>
              <a:rPr lang="en-IN" sz="3203"/>
              <a:t> operator.</a:t>
            </a:r>
          </a:p>
          <a:p>
            <a:pPr marL="343174" indent="-343174">
              <a:spcBef>
                <a:spcPct val="20000"/>
              </a:spcBef>
              <a:buFont typeface="Arial"/>
              <a:buChar char="•"/>
              <a:defRPr/>
            </a:pPr>
            <a:r>
              <a:rPr lang="en-IN" sz="3203">
                <a:solidFill>
                  <a:prstClr val="black"/>
                </a:solidFill>
                <a:latin typeface="Calibri"/>
              </a:rPr>
              <a:t>Example : 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    if (age &gt;= 18) 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{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    </a:t>
            </a:r>
            <a:r>
              <a:rPr lang="en-US" sz="3203" err="1">
                <a:solidFill>
                  <a:prstClr val="black"/>
                </a:solidFill>
                <a:latin typeface="Calibri"/>
              </a:rPr>
              <a:t>cout</a:t>
            </a:r>
            <a:r>
              <a:rPr lang="en-US" sz="3203">
                <a:solidFill>
                  <a:prstClr val="black"/>
                </a:solidFill>
                <a:latin typeface="Calibri"/>
              </a:rPr>
              <a:t> &lt;&lt; "Eligible to vote";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}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Output=Eligible to vote</a:t>
            </a:r>
          </a:p>
        </p:txBody>
      </p:sp>
    </p:spTree>
    <p:extLst>
      <p:ext uri="{BB962C8B-B14F-4D97-AF65-F5344CB8AC3E}">
        <p14:creationId xmlns:p14="http://schemas.microsoft.com/office/powerpoint/2010/main" val="93259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7C37A0-B64B-706A-4458-BA42E92CE17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3152" y="326969"/>
            <a:ext cx="10699889" cy="4133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174" indent="-343174" defTabSz="457566">
              <a:spcBef>
                <a:spcPct val="20000"/>
              </a:spcBef>
              <a:buFont typeface="Arial"/>
              <a:buChar char="•"/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32. Write a condition to check if marks are above 50.</a:t>
            </a:r>
          </a:p>
          <a:p>
            <a:pPr marL="343174" indent="-343174">
              <a:spcBef>
                <a:spcPct val="20000"/>
              </a:spcBef>
              <a:buFont typeface="Arial"/>
              <a:buChar char="•"/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Ans: int marks = 75;</a:t>
            </a:r>
          </a:p>
          <a:p>
            <a:pPr marL="343174" indent="-343174">
              <a:spcBef>
                <a:spcPct val="20000"/>
              </a:spcBef>
              <a:buFont typeface="Arial"/>
              <a:buChar char="•"/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if (marks &gt; 50)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{</a:t>
            </a:r>
            <a:endParaRPr lang="en-US" sz="800">
              <a:solidFill>
                <a:prstClr val="black"/>
              </a:solidFill>
              <a:latin typeface="Calibri"/>
            </a:endParaRP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    </a:t>
            </a:r>
            <a:r>
              <a:rPr lang="en-US" sz="3203" err="1">
                <a:solidFill>
                  <a:prstClr val="black"/>
                </a:solidFill>
                <a:latin typeface="Calibri"/>
              </a:rPr>
              <a:t>cout</a:t>
            </a:r>
            <a:r>
              <a:rPr lang="en-US" sz="3203">
                <a:solidFill>
                  <a:prstClr val="black"/>
                </a:solidFill>
                <a:latin typeface="Calibri"/>
              </a:rPr>
              <a:t> &lt;&lt; "Marks are above 50";</a:t>
            </a:r>
          </a:p>
          <a:p>
            <a:pPr lvl="0" algn="r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}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Output=Marks are above 50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B7B8E6-C047-8A2D-95A3-E18D252741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8113" y="4962707"/>
            <a:ext cx="11380364" cy="9432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174" indent="-343174" defTabSz="457566">
              <a:spcBef>
                <a:spcPct val="20000"/>
              </a:spcBef>
              <a:buFont typeface="Arial"/>
              <a:buChar char="•"/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33. What is decision making in programming?</a:t>
            </a:r>
          </a:p>
          <a:p>
            <a:pPr marL="343174" indent="-343174">
              <a:spcBef>
                <a:spcPct val="20000"/>
              </a:spcBef>
              <a:buFont typeface="Arial"/>
              <a:buChar char="•"/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Ans: </a:t>
            </a:r>
            <a:r>
              <a:rPr lang="en-IN" sz="3203"/>
              <a:t>Decision making in programming is the process of choosing different actions based on whether a condition is </a:t>
            </a:r>
            <a:r>
              <a:rPr lang="en-IN" sz="3203" b="1"/>
              <a:t>true</a:t>
            </a:r>
            <a:r>
              <a:rPr lang="en-IN" sz="3203"/>
              <a:t> or </a:t>
            </a:r>
            <a:r>
              <a:rPr lang="en-IN" sz="3203" b="1"/>
              <a:t>false</a:t>
            </a:r>
            <a:r>
              <a:rPr lang="en-IN" sz="3203"/>
              <a:t>. It helps a program decide what to do in different situations.</a:t>
            </a:r>
          </a:p>
          <a:p>
            <a:pPr marL="343174" indent="-343174">
              <a:spcBef>
                <a:spcPct val="20000"/>
              </a:spcBef>
              <a:buFont typeface="Arial"/>
              <a:buChar char="•"/>
              <a:defRPr/>
            </a:pPr>
            <a:r>
              <a:rPr lang="en-IN" sz="3203"/>
              <a:t>Example: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int age = 20;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if (age &gt;= 18)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{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    </a:t>
            </a:r>
            <a:r>
              <a:rPr lang="en-US" sz="3203" err="1">
                <a:solidFill>
                  <a:prstClr val="black"/>
                </a:solidFill>
                <a:latin typeface="Calibri"/>
              </a:rPr>
              <a:t>cout</a:t>
            </a:r>
            <a:r>
              <a:rPr lang="en-US" sz="3203">
                <a:solidFill>
                  <a:prstClr val="black"/>
                </a:solidFill>
                <a:latin typeface="Calibri"/>
              </a:rPr>
              <a:t> &lt;&lt; "Eligible to vote";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}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else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{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    </a:t>
            </a:r>
            <a:r>
              <a:rPr lang="en-US" sz="3203" err="1">
                <a:solidFill>
                  <a:prstClr val="black"/>
                </a:solidFill>
                <a:latin typeface="Calibri"/>
              </a:rPr>
              <a:t>cout</a:t>
            </a:r>
            <a:r>
              <a:rPr lang="en-US" sz="3203">
                <a:solidFill>
                  <a:prstClr val="black"/>
                </a:solidFill>
                <a:latin typeface="Calibri"/>
              </a:rPr>
              <a:t> &lt;&lt; "Not eligible to vote";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}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output=Eligible to vote</a:t>
            </a:r>
          </a:p>
        </p:txBody>
      </p:sp>
    </p:spTree>
    <p:extLst>
      <p:ext uri="{BB962C8B-B14F-4D97-AF65-F5344CB8AC3E}">
        <p14:creationId xmlns:p14="http://schemas.microsoft.com/office/powerpoint/2010/main" val="1316839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8FDB34-86C5-2BB8-F9B1-44E26D322A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16155" y="1672948"/>
            <a:ext cx="6032310" cy="1022587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Question 34  can </a:t>
            </a:r>
            <a:r>
              <a:rPr lang="en-US" b="0" i="0" err="1">
                <a:solidFill>
                  <a:srgbClr val="0D0D0D"/>
                </a:solidFill>
                <a:effectLst/>
                <a:latin typeface="-apple-system-body"/>
              </a:rPr>
              <a:t>nested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 if statements have multiple levels?</a:t>
            </a:r>
            <a:br>
              <a:rPr lang="en-US" b="0" i="0">
                <a:effectLst/>
                <a:latin typeface="-apple-system-body"/>
              </a:rPr>
            </a:br>
            <a:endParaRPr lang="en-US" b="0" i="0">
              <a:solidFill>
                <a:srgbClr val="8F8F8F"/>
              </a:solidFill>
              <a:effectLst/>
              <a:latin typeface="-apple-system-body"/>
            </a:endParaRPr>
          </a:p>
          <a:p>
            <a:pPr algn="l"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buNone/>
            </a:pPr>
            <a:r>
              <a:rPr lang="en-US" b="0" i="0" err="1">
                <a:solidFill>
                  <a:srgbClr val="0D0D0D"/>
                </a:solidFill>
                <a:effectLst/>
                <a:latin typeface="-apple-system-body"/>
              </a:rPr>
              <a:t>ans</a:t>
            </a:r>
            <a:br>
              <a:rPr lang="en-US" b="0" i="0"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Yes. In C++, nested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statements can have as many levels as needed (though too many levels can make code harder to read).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Example with multiple levels: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effectLst/>
                <a:latin typeface="ui-monospace"/>
              </a:rPr>
              <a:t>#include &lt;iostream&gt;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using namespace std;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int main()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int num = 15;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if (num &gt; 0)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if (num % 3 == 0)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    if (num % 5 == 0)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    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"Positive, divisible by 3 and 5";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    }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}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}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return 0;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}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effectLst/>
                <a:latin typeface="-apple-system-body"/>
              </a:rPr>
              <a:t>This has </a:t>
            </a:r>
            <a:r>
              <a:rPr lang="en-US" b="1" i="0">
                <a:effectLst/>
                <a:latin typeface="-apple-system-body"/>
              </a:rPr>
              <a:t>3 levels</a:t>
            </a:r>
            <a:r>
              <a:rPr lang="en-US" b="0" i="0">
                <a:effectLst/>
                <a:latin typeface="-apple-system-body"/>
              </a:rPr>
              <a:t> of nested </a:t>
            </a:r>
            <a:r>
              <a:rPr lang="en-US" b="0" i="0">
                <a:effectLst/>
                <a:latin typeface="ui-monospace"/>
              </a:rPr>
              <a:t>if</a:t>
            </a:r>
            <a:r>
              <a:rPr lang="en-US" b="0" i="0">
                <a:effectLst/>
                <a:latin typeface="-apple-system-body"/>
              </a:rPr>
              <a:t> statements: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effectLst/>
                <a:latin typeface="ui-monospace"/>
              </a:rPr>
              <a:t>if (condition1)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if (condition2)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if (condition3)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    </a:t>
            </a:r>
            <a:r>
              <a:rPr lang="en-US" b="0" i="1">
                <a:effectLst/>
                <a:latin typeface="ui-monospace"/>
              </a:rPr>
              <a:t>// code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}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}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}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effectLst/>
                <a:latin typeface="-apple-system-body"/>
              </a:rPr>
              <a:t>You can also write the same logic more simply: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effectLst/>
                <a:latin typeface="ui-monospace"/>
              </a:rPr>
              <a:t>if (num &gt; 0 &amp;&amp; num % 3 == 0 &amp;&amp; num % 5 == 0)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"Positive, divisible by 3 and 5";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}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Nested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s are useful when later conditions should only be checked if earlier conditions are true.</a:t>
            </a:r>
          </a:p>
          <a:p>
            <a:pPr algn="l">
              <a:lnSpc>
                <a:spcPts val="1350"/>
              </a:lnSpc>
              <a:spcAft>
                <a:spcPts val="1200"/>
              </a:spcAft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4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F03E28-A05D-A822-DA29-9A931AFAA38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16155" y="-547858"/>
            <a:ext cx="6032310" cy="145091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buNone/>
            </a:pPr>
            <a:br>
              <a:rPr lang="en-US" b="0" i="0"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350"/>
              </a:lnSpc>
              <a:spcAft>
                <a:spcPts val="1200"/>
              </a:spcAft>
              <a:buNone/>
            </a:pPr>
            <a:endParaRPr lang="en-US" b="0" i="0">
              <a:solidFill>
                <a:srgbClr val="8F8F8F"/>
              </a:solidFill>
              <a:effectLst/>
              <a:latin typeface="-apple-system-body"/>
            </a:endParaRPr>
          </a:p>
          <a:p>
            <a:pPr algn="l"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Question 35  what is logic AND (&amp;&amp;) ?</a:t>
            </a:r>
          </a:p>
          <a:p>
            <a:pPr algn="l">
              <a:buNone/>
            </a:pPr>
            <a:br>
              <a:rPr lang="en-US" b="0" i="0"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In C++, the logical AND operator is written as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&amp;&amp;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 It is used to check whether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two conditions are true at the same time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Theory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The logical AND operator (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&amp;&amp;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) is a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binary operator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meaning it works with two operands (conditions). It returns: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true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if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both conditions are true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false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if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at least one condition is false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It is mainly used in decision-making statements like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while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and loops to combine multiple conditions.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Truth Table: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Example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effectLst/>
                <a:latin typeface="ui-monospace"/>
              </a:rPr>
              <a:t>#include &lt;iostream&gt;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using namespace std;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int main()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int age = 20;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int marks = 85;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if (age &gt;= 18 &amp;&amp; marks &gt;= 80)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"Eligible for scholarship";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} else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"Not eligible";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}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return 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}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Explanation: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age &gt;= 18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→ true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marks &gt;= 80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→ true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Since both conditions are true,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age &gt;= 18 &amp;&amp; marks &gt;= 80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becomes true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 err="1">
                <a:solidFill>
                  <a:srgbClr val="0D0D0D"/>
                </a:solidFill>
                <a:effectLst/>
                <a:latin typeface="-apple-system-body"/>
              </a:rPr>
              <a:t>So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 output will be: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Eligible for scholarship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Conclusion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The logical AND operator (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&amp;&amp;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) in C++ is used to combine multiple conditions and ensures that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all conditions must be true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for the overall expression to be true. It is commonly used in decision-making to make programs more precise and controlled.</a:t>
            </a:r>
          </a:p>
          <a:p>
            <a:pPr algn="l">
              <a:lnSpc>
                <a:spcPts val="1350"/>
              </a:lnSpc>
              <a:spcAft>
                <a:spcPts val="1200"/>
              </a:spcAft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658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155B3B-AD32-6A49-F82A-47377E19B5F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18099" y="-175180"/>
            <a:ext cx="6036196" cy="131343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Question 36 what is logical OR (||)?</a:t>
            </a:r>
            <a:br>
              <a:rPr lang="en-US" b="0" i="0"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Logical OR (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||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) in C++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Theory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In C++, the logical OR operator is represented by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||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 It is used to combine two or more conditions and returns a </a:t>
            </a:r>
            <a:r>
              <a:rPr lang="en-US" b="1" i="0" err="1">
                <a:solidFill>
                  <a:srgbClr val="0D0D0D"/>
                </a:solidFill>
                <a:effectLst/>
                <a:latin typeface="-apple-system-body"/>
              </a:rPr>
              <a:t>boolean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 result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It returns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true (1)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if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at least one condition is true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It returns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false (0)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only if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all conditions are false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It is mainly used in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decision-making statements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like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while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etc.</a:t>
            </a:r>
          </a:p>
          <a:p>
            <a:pPr algn="l">
              <a:lnSpc>
                <a:spcPts val="1950"/>
              </a:lnSpc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Syntax: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condition1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||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condition2</a:t>
            </a:r>
            <a:endParaRPr lang="en-US" b="0" i="0">
              <a:solidFill>
                <a:srgbClr val="0D0D0D"/>
              </a:solidFill>
              <a:effectLst/>
              <a:latin typeface="ui-monospace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The expression is evaluated from left to right, and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short-circuit evaluation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is applied: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If the first condition is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true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the second condition is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not evaluated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because the final result is already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true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Example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effectLst/>
                <a:latin typeface="ui-monospace"/>
              </a:rPr>
              <a:t>#include &lt;iostream&gt;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using namespace std;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int main()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int a = 10;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int b = 5;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if (a &gt; 15 || b &lt; 10)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"At least one condition is true";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} 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else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"Both conditions are false";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}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return 0;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}</a:t>
            </a:r>
          </a:p>
          <a:p>
            <a:pPr algn="l">
              <a:lnSpc>
                <a:spcPts val="1950"/>
              </a:lnSpc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Explanation: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a &gt; 15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→ false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b &lt; 10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→ true</a:t>
            </a:r>
            <a:br>
              <a:rPr lang="en-US" b="0" i="0">
                <a:effectLst/>
                <a:latin typeface="-apple-system-body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So,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false || true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→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true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hence the message is printed.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Conclusion</a:t>
            </a: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The logical OR (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||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) operator in C++ is used to check multiple conditions where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only one condition needs to be true for the whole expression to be true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 It is widely used in control flow statements and improves efficiency through short-circuit evaluation.</a:t>
            </a:r>
          </a:p>
          <a:p>
            <a:pPr algn="l">
              <a:lnSpc>
                <a:spcPts val="1350"/>
              </a:lnSpc>
              <a:spcAft>
                <a:spcPts val="1200"/>
              </a:spcAft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0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40D7F7-4A20-3145-258C-61AD94E75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16155" y="364898"/>
            <a:ext cx="6032310" cy="1266757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buNone/>
            </a:pPr>
            <a:br>
              <a:rPr lang="en-US" b="0" i="0"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350"/>
              </a:lnSpc>
              <a:spcAft>
                <a:spcPts val="1200"/>
              </a:spcAft>
              <a:buNone/>
            </a:pPr>
            <a:r>
              <a:rPr lang="en-US" b="1">
                <a:solidFill>
                  <a:srgbClr val="0D0D0D"/>
                </a:solidFill>
                <a:latin typeface="-apple-system-body"/>
              </a:rPr>
              <a:t>Question 37 what is logical NOT(!)?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buNone/>
            </a:pPr>
            <a:br>
              <a:rPr lang="en-US" b="0" i="0"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In C++, the logical NOT operator is written as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!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 It is used to reverse the logical value of an expression.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Theory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The logical NOT operator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!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works on Boolean (true/false) values or expressions that evaluate to true or false.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If the condition is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true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!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makes it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false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If the condition is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false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!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makes it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true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It is commonly used in decision-making statements like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while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etc., to check the opposite condition.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Example behavior: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!true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→ false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!false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→ true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In C++, any non-zero value is treated as true, and zero is treated as false.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Example Program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effectLst/>
                <a:latin typeface="ui-monospace"/>
              </a:rPr>
              <a:t>#include &lt;iostream&gt;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using namespace std;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int main()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int a = 10;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if (!a)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"a is zero" &lt;&lt; </a:t>
            </a:r>
            <a:r>
              <a:rPr lang="en-US" b="0" i="0" err="1">
                <a:effectLst/>
                <a:latin typeface="ui-monospace"/>
              </a:rPr>
              <a:t>endl</a:t>
            </a:r>
            <a:r>
              <a:rPr lang="en-US" b="0" i="0">
                <a:effectLst/>
                <a:latin typeface="ui-monospace"/>
              </a:rPr>
              <a:t>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} else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"a is not zero" &lt;&lt; </a:t>
            </a:r>
            <a:r>
              <a:rPr lang="en-US" b="0" i="0" err="1">
                <a:effectLst/>
                <a:latin typeface="ui-monospace"/>
              </a:rPr>
              <a:t>endl</a:t>
            </a:r>
            <a:r>
              <a:rPr lang="en-US" b="0" i="0">
                <a:effectLst/>
                <a:latin typeface="ui-monospace"/>
              </a:rPr>
              <a:t>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}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return 0;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}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Output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a is not zero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Conclusion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The logical NOT operator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!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is used to reverse the condition in C++. It helps in checking opposite conditions easily, especially in decision-making statements like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and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while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</a:t>
            </a:r>
          </a:p>
          <a:p>
            <a:pPr algn="l">
              <a:lnSpc>
                <a:spcPts val="1350"/>
              </a:lnSpc>
              <a:spcAft>
                <a:spcPts val="1200"/>
              </a:spcAft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34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3154F6-E0C4-C146-C599-5BF80F7A641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16155" y="153301"/>
            <a:ext cx="6032310" cy="119494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buNone/>
            </a:pPr>
            <a:br>
              <a:rPr lang="en-US" b="0" i="0">
                <a:effectLst/>
                <a:latin typeface="-apple-system-body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question 38 how do you check if a year is divisible by 4?</a:t>
            </a:r>
          </a:p>
          <a:p>
            <a:pPr algn="l">
              <a:buNone/>
            </a:pPr>
            <a:br>
              <a:rPr lang="en-US" b="0" i="0"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Theory: Divisibility of a Year by 4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A number (or year) is said to be divisible by 4 if it can be divided by 4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without leaving any remainder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In mathematics, we use the modulus operator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%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to find the remainder.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So, a year is divisible by 4 if: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year % 4 == 0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If the remainder is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the year is divisible by 4.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If the remainder is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not 0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the year is not divisible by 4.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This rule is commonly used in calendar systems to help determine leap years (though full leap year rules also include 100 and 400).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C++ Program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effectLst/>
                <a:latin typeface="ui-monospace"/>
              </a:rPr>
              <a:t>#include &lt;iostream&gt;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using namespace std;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int main()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int year;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"Enter a year: ";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</a:t>
            </a:r>
            <a:r>
              <a:rPr lang="en-US" b="0" i="0" err="1">
                <a:effectLst/>
                <a:latin typeface="ui-monospace"/>
              </a:rPr>
              <a:t>cin</a:t>
            </a:r>
            <a:r>
              <a:rPr lang="en-US" b="0" i="0">
                <a:effectLst/>
                <a:latin typeface="ui-monospace"/>
              </a:rPr>
              <a:t> &gt;&gt; year;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if (year % 4 == 0)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year &lt;&lt; " is divisible by 4." &lt;&lt; </a:t>
            </a:r>
            <a:r>
              <a:rPr lang="en-US" b="0" i="0" err="1">
                <a:effectLst/>
                <a:latin typeface="ui-monospace"/>
              </a:rPr>
              <a:t>endl</a:t>
            </a:r>
            <a:r>
              <a:rPr lang="en-US" b="0" i="0">
                <a:effectLst/>
                <a:latin typeface="ui-monospace"/>
              </a:rPr>
              <a:t>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} else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year &lt;&lt; " is not divisible by 4." &lt;&lt; </a:t>
            </a:r>
            <a:r>
              <a:rPr lang="en-US" b="0" i="0" err="1">
                <a:effectLst/>
                <a:latin typeface="ui-monospace"/>
              </a:rPr>
              <a:t>endl</a:t>
            </a:r>
            <a:r>
              <a:rPr lang="en-US" b="0" i="0">
                <a:effectLst/>
                <a:latin typeface="ui-monospace"/>
              </a:rPr>
              <a:t>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}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return 0;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}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Conclusion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To check whether a year is divisible by 4 in C++, we use the modulus operator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%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 If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year % 4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equals zero, the year is divisible by 4; otherwise, it is not. This is a simple and efficient way to perform divisibility checks in programming.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effectLst/>
                <a:latin typeface="-apple-system-body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</a:t>
            </a:r>
          </a:p>
          <a:p>
            <a:pPr algn="l">
              <a:lnSpc>
                <a:spcPts val="1350"/>
              </a:lnSpc>
              <a:spcAft>
                <a:spcPts val="1200"/>
              </a:spcAft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7250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44C997-C056-20FA-3B54-CB02F4AF04B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16155" y="49186"/>
            <a:ext cx="6032310" cy="1575046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Question39  what is leap </a:t>
            </a:r>
            <a:r>
              <a:rPr lang="en-US" b="0" i="0" err="1">
                <a:solidFill>
                  <a:srgbClr val="0D0D0D"/>
                </a:solidFill>
                <a:effectLst/>
                <a:latin typeface="-apple-system-body"/>
              </a:rPr>
              <a:t>yeara</a:t>
            </a:r>
            <a:r>
              <a:rPr lang="en-US">
                <a:solidFill>
                  <a:srgbClr val="0D0D0D"/>
                </a:solidFill>
                <a:latin typeface="-apple-system-body"/>
              </a:rPr>
              <a:t>?</a:t>
            </a:r>
            <a:br>
              <a:rPr lang="en-US" b="0" i="0"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 Theory: Leap Year Rule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A year is a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leap year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if it satisfies these rules:</a:t>
            </a: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If a year is divisible by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4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it is a leap year</a:t>
            </a: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BUT if it is divisible by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100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it is NOT a leap year</a:t>
            </a: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UNLESS it is also divisible by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400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then it is a leap year</a:t>
            </a:r>
          </a:p>
          <a:p>
            <a:pPr algn="l">
              <a:lnSpc>
                <a:spcPts val="1950"/>
              </a:lnSpc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 Simple condition: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A year is </a:t>
            </a:r>
            <a:r>
              <a:rPr lang="en-US" b="0" i="0" err="1">
                <a:solidFill>
                  <a:srgbClr val="0D0D0D"/>
                </a:solidFill>
                <a:effectLst/>
                <a:latin typeface="-apple-system-body"/>
              </a:rPr>
              <a:t>leap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 year if: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(year % 4 == 0 &amp;&amp; year % 100 != 0) || (year % 400 == 0)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 Example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effectLst/>
                <a:latin typeface="ui-monospace"/>
              </a:rPr>
              <a:t>#include &lt;iostream&gt;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using namespace std;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int main()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int year;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"Enter a year: ";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</a:t>
            </a:r>
            <a:r>
              <a:rPr lang="en-US" b="0" i="0" err="1">
                <a:effectLst/>
                <a:latin typeface="ui-monospace"/>
              </a:rPr>
              <a:t>cin</a:t>
            </a:r>
            <a:r>
              <a:rPr lang="en-US" b="0" i="0">
                <a:effectLst/>
                <a:latin typeface="ui-monospace"/>
              </a:rPr>
              <a:t> &gt;&gt; year;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if ((year % 4 == 0 &amp;&amp; year % 100 != 0) || (year % 400 == 0))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year &lt;&lt; " is a Leap Year" &lt;&lt; </a:t>
            </a:r>
            <a:r>
              <a:rPr lang="en-US" b="0" i="0" err="1">
                <a:effectLst/>
                <a:latin typeface="ui-monospace"/>
              </a:rPr>
              <a:t>endl</a:t>
            </a:r>
            <a:r>
              <a:rPr lang="en-US" b="0" i="0">
                <a:effectLst/>
                <a:latin typeface="ui-monospace"/>
              </a:rPr>
              <a:t>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} else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year &lt;&lt; " is NOT a Leap Year" &lt;&lt; </a:t>
            </a:r>
            <a:r>
              <a:rPr lang="en-US" b="0" i="0" err="1">
                <a:effectLst/>
                <a:latin typeface="ui-monospace"/>
              </a:rPr>
              <a:t>endl</a:t>
            </a:r>
            <a:r>
              <a:rPr lang="en-US" b="0" i="0">
                <a:effectLst/>
                <a:latin typeface="ui-monospace"/>
              </a:rPr>
              <a:t>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}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return 0;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}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Sample Input &amp; Output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Example 1:</a:t>
            </a:r>
          </a:p>
          <a:p>
            <a:pPr algn="l">
              <a:lnSpc>
                <a:spcPts val="1950"/>
              </a:lnSpc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Input: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Enter a year: 2024</a:t>
            </a:r>
          </a:p>
          <a:p>
            <a:pPr algn="l">
              <a:lnSpc>
                <a:spcPts val="1950"/>
              </a:lnSpc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Output: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2024 is a Leap Year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Example 2:</a:t>
            </a:r>
          </a:p>
          <a:p>
            <a:pPr algn="l">
              <a:lnSpc>
                <a:spcPts val="1950"/>
              </a:lnSpc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Input: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Enter a year: 1900</a:t>
            </a:r>
          </a:p>
          <a:p>
            <a:pPr algn="l">
              <a:lnSpc>
                <a:spcPts val="1950"/>
              </a:lnSpc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Output: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1900 is NOT a Leap Yer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 Conclusion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A leap year is used to adjust the calendar with Earth’s orbit around the Sun. In C++, we check leap years using a simple condition based on divisibility rules. If the year follows the correct rule, it is printed as a leap year; otherwise, it is not.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</a:t>
            </a:r>
          </a:p>
          <a:p>
            <a:pPr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9339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703DB1-1D4A-9684-B516-4D609CBF202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16155" y="1179223"/>
            <a:ext cx="6032310" cy="100694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buNone/>
            </a:pPr>
            <a:r>
              <a:rPr lang="en-US">
                <a:solidFill>
                  <a:srgbClr val="0D0D0D"/>
                </a:solidFill>
                <a:latin typeface="-apple-system-body"/>
              </a:rPr>
              <a:t>Question 40 what is condition for a leap year?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buNone/>
            </a:pPr>
            <a:br>
              <a:rPr lang="en-US" b="0" i="0"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In C++, a year is a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leap year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if it satisfies this rule: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A year is a leap year if: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It is divisible by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4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AND</a:t>
            </a:r>
          </a:p>
          <a:p>
            <a:pPr marL="742950" lvl="1" indent="-285750"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It is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not divisible by 100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OR</a:t>
            </a:r>
          </a:p>
          <a:p>
            <a:pPr marL="742950" lvl="1" indent="-285750"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It is divisible by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400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Logical condition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effectLst/>
                <a:latin typeface="ui-monospace"/>
              </a:rPr>
              <a:t>(year % 4 == 0 &amp;&amp; year % 100 != 0) || (year % 400 == 0)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effectLst/>
                <a:latin typeface="-apple-system-body"/>
              </a:rPr>
              <a:t>Why this works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-apple-system-body"/>
              </a:rPr>
              <a:t>Most years divisible by 4 are leap years.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-apple-system-body"/>
              </a:rPr>
              <a:t>But century years (like 1900, 2000 rules apply):</a:t>
            </a:r>
          </a:p>
          <a:p>
            <a:pPr marL="742950" lvl="1" indent="-285750"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-apple-system-body"/>
              </a:rPr>
              <a:t>Divisible by 100 → NOT a leap year</a:t>
            </a:r>
          </a:p>
          <a:p>
            <a:pPr marL="742950" lvl="1" indent="-285750"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-apple-system-body"/>
              </a:rPr>
              <a:t>EXCEPT if also divisible by 400 → leap year again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effectLst/>
                <a:latin typeface="-apple-system-body"/>
              </a:rPr>
              <a:t> program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effectLst/>
                <a:latin typeface="ui-monospace"/>
              </a:rPr>
              <a:t>#include &lt;iostream&gt;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using namespace std;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int main()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int year;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</a:t>
            </a:r>
            <a:r>
              <a:rPr lang="en-US" b="0" i="0" err="1">
                <a:effectLst/>
                <a:latin typeface="ui-monospace"/>
              </a:rPr>
              <a:t>cin</a:t>
            </a:r>
            <a:r>
              <a:rPr lang="en-US" b="0" i="0">
                <a:effectLst/>
                <a:latin typeface="ui-monospace"/>
              </a:rPr>
              <a:t> &gt;&gt; year;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if ((year % 4 == 0 &amp;&amp; year % 100 != 0) || (year % 400 == 0))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"Leap year";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} else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"Not a leap year";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}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return 0;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}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 examples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2024 → Leap year (divisible by 4, not by 100)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1900 → Not a leap year (divisible by 100 but not 400)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2000 → Leap year (divisible by 400)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</a:t>
            </a:r>
          </a:p>
          <a:p>
            <a:pPr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7398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1A418C-34CD-7F0A-8FAA-CF982B6F3CA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16155" y="1042879"/>
            <a:ext cx="6032310" cy="106772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buNone/>
            </a:pPr>
            <a:br>
              <a:rPr lang="en-US" b="0" i="0">
                <a:effectLst/>
                <a:latin typeface="-apple-system-body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question 41 how do you find the largest of two numbers?</a:t>
            </a:r>
          </a:p>
          <a:p>
            <a:pPr algn="l">
              <a:lnSpc>
                <a:spcPts val="1350"/>
              </a:lnSpc>
              <a:spcAft>
                <a:spcPts val="1200"/>
              </a:spcAft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 Algorithm: Largest of Two Numbers</a:t>
            </a: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Start</a:t>
            </a: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Input two numbers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a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and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b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Compare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a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and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b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If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a &gt; b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print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a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is largest</a:t>
            </a: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Else if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b &gt; a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print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b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is largest</a:t>
            </a: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Else print both are equal</a:t>
            </a: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Stop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effectLst/>
                <a:latin typeface="-apple-system-body"/>
              </a:rPr>
            </a:br>
            <a:endParaRPr lang="en-US" b="1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effectLst/>
                <a:latin typeface="ui-monospace"/>
              </a:rPr>
              <a:t>#include &lt;iostream&gt;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using namespace std;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int main()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int a, b;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"Enter first number: ";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</a:t>
            </a:r>
            <a:r>
              <a:rPr lang="en-US" b="0" i="0" err="1">
                <a:effectLst/>
                <a:latin typeface="ui-monospace"/>
              </a:rPr>
              <a:t>cin</a:t>
            </a:r>
            <a:r>
              <a:rPr lang="en-US" b="0" i="0">
                <a:effectLst/>
                <a:latin typeface="ui-monospace"/>
              </a:rPr>
              <a:t> &gt;&gt; a;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"Enter second number: ";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</a:t>
            </a:r>
            <a:r>
              <a:rPr lang="en-US" b="0" i="0" err="1">
                <a:effectLst/>
                <a:latin typeface="ui-monospace"/>
              </a:rPr>
              <a:t>cin</a:t>
            </a:r>
            <a:r>
              <a:rPr lang="en-US" b="0" i="0">
                <a:effectLst/>
                <a:latin typeface="ui-monospace"/>
              </a:rPr>
              <a:t> &gt;&gt; b;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if (a &gt; b)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"Largest number is: " &lt;&lt; a;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else if (b &gt; a)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"Largest number is: " &lt;&lt; b;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else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"Both numbers are equal";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return 0;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}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effectLst/>
                <a:latin typeface="-apple-system-body"/>
              </a:rPr>
            </a:b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Output Example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Enter first number: 12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Enter second number: 30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Largest number is: 30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0417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0BE02A-7409-1DE0-5D35-94F02913321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16155" y="320379"/>
            <a:ext cx="6032310" cy="148861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buNone/>
            </a:pPr>
            <a:r>
              <a:rPr lang="en-US">
                <a:solidFill>
                  <a:srgbClr val="0D0D0D"/>
                </a:solidFill>
                <a:latin typeface="-apple-system-body"/>
              </a:rPr>
              <a:t>Question 42 how do you find the largest of three numbers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buNone/>
            </a:pPr>
            <a:br>
              <a:rPr lang="en-US" b="0" i="0"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To find the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largest of three numbers in C++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we compare the numbers using conditional statements and determine which one is greatest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6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 Algorithm</a:t>
            </a: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Start</a:t>
            </a: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Take three numbers as input: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a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b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c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Check if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a &gt;= b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and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a &gt;= c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marL="742950" lvl="1" indent="-285750"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If yes,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a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is largest</a:t>
            </a: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Else check if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b &gt;= a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and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b &gt;= c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marL="742950" lvl="1" indent="-285750"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If yes,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b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is largest</a:t>
            </a: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Otherwise,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c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is largest</a:t>
            </a: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Display the largest number</a:t>
            </a: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Stop</a:t>
            </a:r>
          </a:p>
          <a:p>
            <a:pPr algn="l">
              <a:lnSpc>
                <a:spcPts val="1950"/>
              </a:lnSpc>
              <a:spcAft>
                <a:spcPts val="6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C++ Code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effectLst/>
                <a:latin typeface="ui-monospace"/>
              </a:rPr>
              <a:t>#include &lt;iostream&gt;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using namespace std;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int main()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int a, b, c;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"Enter three numbers: ";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</a:t>
            </a:r>
            <a:r>
              <a:rPr lang="en-US" b="0" i="0" err="1">
                <a:effectLst/>
                <a:latin typeface="ui-monospace"/>
              </a:rPr>
              <a:t>cin</a:t>
            </a:r>
            <a:r>
              <a:rPr lang="en-US" b="0" i="0">
                <a:effectLst/>
                <a:latin typeface="ui-monospace"/>
              </a:rPr>
              <a:t> &gt;&gt; a &gt;&gt; b &gt;&gt; c;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if (a &gt;= b &amp;&amp; a &gt;= c)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"Largest number is: " &lt;&lt; a;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}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else if (b &gt;= a &amp;&amp; b &gt;= c)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"Largest number is: " &lt;&lt; b;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}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else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"Largest number is: " &lt;&lt; c;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}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return 0;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}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6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 Sample Output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Input: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Enter three numbers: 25 42 18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Output: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Largest number is: 42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6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 Conclusion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Finding the largest of three numbers in C++ is a basic but important problem that teaches the use of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conditional statements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 It helps build logical thinking and forms the foundation for more complex decision-making programs like sorting and optimization problems.</a:t>
            </a:r>
          </a:p>
          <a:p>
            <a:pPr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549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66598E-5D7D-7D56-E3A2-1C7537B08D7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16155" y="546749"/>
            <a:ext cx="6032310" cy="150400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buNone/>
            </a:pPr>
            <a:br>
              <a:rPr lang="en-US" b="0" i="0">
                <a:effectLst/>
                <a:latin typeface="-apple-system-body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question43 what is an if-else-if ladder?</a:t>
            </a:r>
          </a:p>
          <a:p>
            <a:pPr algn="l">
              <a:lnSpc>
                <a:spcPts val="1350"/>
              </a:lnSpc>
              <a:spcAft>
                <a:spcPts val="1200"/>
              </a:spcAft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buNone/>
            </a:pPr>
            <a:br>
              <a:rPr lang="en-US" b="0" i="0"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An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if–else–if ladder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in C++ is a way to test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multiple conditions in sequence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where only the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first true condition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executes, and the rest are skipped.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It’s called a “ladder” because conditions are checked one after another, like steps.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effectLst/>
                <a:latin typeface="-apple-system-body"/>
              </a:rPr>
              <a:t>Syntax: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effectLst/>
                <a:latin typeface="ui-monospace"/>
              </a:rPr>
              <a:t>if (condition1)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</a:t>
            </a:r>
            <a:r>
              <a:rPr lang="en-US" b="0" i="1">
                <a:effectLst/>
                <a:latin typeface="ui-monospace"/>
              </a:rPr>
              <a:t>// runs if condition1 is true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}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else if (condition2)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</a:t>
            </a:r>
            <a:r>
              <a:rPr lang="en-US" b="0" i="1">
                <a:effectLst/>
                <a:latin typeface="ui-monospace"/>
              </a:rPr>
              <a:t>// runs if condition2 is true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}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else if (condition3)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</a:t>
            </a:r>
            <a:r>
              <a:rPr lang="en-US" b="0" i="1">
                <a:effectLst/>
                <a:latin typeface="ui-monospace"/>
              </a:rPr>
              <a:t>// runs if condition3 is true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}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else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</a:t>
            </a:r>
            <a:r>
              <a:rPr lang="en-US" b="0" i="1">
                <a:effectLst/>
                <a:latin typeface="ui-monospace"/>
              </a:rPr>
              <a:t>// runs if none of the above conditions are true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}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effectLst/>
                <a:latin typeface="-apple-system-body"/>
              </a:rPr>
              <a:t>How it works: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-apple-system-body"/>
              </a:rPr>
              <a:t>The program checks </a:t>
            </a:r>
            <a:r>
              <a:rPr lang="en-US" b="0" i="0">
                <a:effectLst/>
                <a:latin typeface="ui-monospace"/>
              </a:rPr>
              <a:t>condition1</a:t>
            </a:r>
            <a:endParaRPr lang="en-US" b="0" i="0">
              <a:effectLst/>
              <a:latin typeface="-apple-system-body"/>
            </a:endParaRPr>
          </a:p>
          <a:p>
            <a:pPr marL="742950" lvl="1" indent="-285750"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-apple-system-body"/>
              </a:rPr>
              <a:t>If true → executes its block and stops</a:t>
            </a:r>
          </a:p>
          <a:p>
            <a:pPr marL="742950" lvl="1" indent="-285750"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-apple-system-body"/>
              </a:rPr>
              <a:t>If false → moves to </a:t>
            </a:r>
            <a:r>
              <a:rPr lang="en-US" b="0" i="0">
                <a:effectLst/>
                <a:latin typeface="ui-monospace"/>
              </a:rPr>
              <a:t>condition2</a:t>
            </a:r>
            <a:endParaRPr lang="en-US" b="0" i="0"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-apple-system-body"/>
              </a:rPr>
              <a:t>Continues checking each </a:t>
            </a:r>
            <a:r>
              <a:rPr lang="en-US" b="0" i="0">
                <a:effectLst/>
                <a:latin typeface="ui-monospace"/>
              </a:rPr>
              <a:t>else if</a:t>
            </a:r>
            <a:endParaRPr lang="en-US" b="0" i="0"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-apple-system-body"/>
              </a:rPr>
              <a:t>If none are true → </a:t>
            </a:r>
            <a:r>
              <a:rPr lang="en-US" b="0" i="0">
                <a:effectLst/>
                <a:latin typeface="ui-monospace"/>
              </a:rPr>
              <a:t>else</a:t>
            </a:r>
            <a:r>
              <a:rPr lang="en-US" b="0" i="0">
                <a:effectLst/>
                <a:latin typeface="-apple-system-body"/>
              </a:rPr>
              <a:t> block runs (optional)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effectLst/>
                <a:latin typeface="-apple-system-body"/>
              </a:rPr>
              <a:t>Example: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effectLst/>
                <a:latin typeface="ui-monospace"/>
              </a:rPr>
              <a:t>#include &lt;iostream&gt;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using namespace std;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int main()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int marks = 75;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if (marks &gt;= 90)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"Grade A";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}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else if (marks &gt;= 75)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"Grade B";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}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else if (marks &gt;= 50)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"Grade C";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}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else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"Fail";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}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return 0;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}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Output: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Grade B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Key idea: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Only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one block runs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—the first condition that becomes true wins.</a:t>
            </a:r>
          </a:p>
          <a:p>
            <a:pPr algn="l">
              <a:lnSpc>
                <a:spcPts val="1950"/>
              </a:lnSpc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1870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5B276C-7041-AD72-56BF-A0387DD6574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16155" y="-349190"/>
            <a:ext cx="6032310" cy="1586331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600"/>
              </a:spcAft>
              <a:buNone/>
            </a:pPr>
            <a:r>
              <a:rPr lang="en-US" b="1">
                <a:solidFill>
                  <a:srgbClr val="0D0D0D"/>
                </a:solidFill>
                <a:latin typeface="-apple-system-body"/>
              </a:rPr>
              <a:t>Question 44 what is the difference between </a:t>
            </a:r>
            <a:r>
              <a:rPr lang="en-US" b="1" err="1">
                <a:solidFill>
                  <a:srgbClr val="0D0D0D"/>
                </a:solidFill>
                <a:latin typeface="-apple-system-body"/>
              </a:rPr>
              <a:t>if</a:t>
            </a:r>
            <a:r>
              <a:rPr lang="en-US" b="1">
                <a:solidFill>
                  <a:srgbClr val="0D0D0D"/>
                </a:solidFill>
                <a:latin typeface="-apple-system-body"/>
              </a:rPr>
              <a:t> and switch?</a:t>
            </a:r>
            <a:endParaRPr lang="en-US" b="1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🔹 if-else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Used for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conditions involving ranges, relational, and complex logic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Works with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any expression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(int, float, char, </a:t>
            </a:r>
            <a:r>
              <a:rPr lang="en-US" b="0" i="0" err="1">
                <a:solidFill>
                  <a:srgbClr val="0D0D0D"/>
                </a:solidFill>
                <a:effectLst/>
                <a:latin typeface="-apple-system-body"/>
              </a:rPr>
              <a:t>boolean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logical operators)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Evaluates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each condition one by one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S</a:t>
            </a:r>
            <a:r>
              <a:rPr lang="en-US" b="0" i="0">
                <a:effectLst/>
                <a:latin typeface="-apple-system-body"/>
              </a:rPr>
              <a:t>lower when many conditions exist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effectLst/>
                <a:latin typeface="-apple-system-body"/>
              </a:rPr>
              <a:t>🔹 switch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-apple-system-body"/>
              </a:rPr>
              <a:t>Used for </a:t>
            </a:r>
            <a:r>
              <a:rPr lang="en-US" b="1" i="0">
                <a:effectLst/>
                <a:latin typeface="-apple-system-body"/>
              </a:rPr>
              <a:t>fixed values only (constant expressions)</a:t>
            </a:r>
            <a:endParaRPr lang="en-US" b="0" i="0"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-apple-system-body"/>
              </a:rPr>
              <a:t>Works with: </a:t>
            </a:r>
            <a:r>
              <a:rPr lang="en-US" b="0" i="0">
                <a:effectLst/>
                <a:latin typeface="ui-monospace"/>
              </a:rPr>
              <a:t>int</a:t>
            </a:r>
            <a:r>
              <a:rPr lang="en-US" b="0" i="0">
                <a:effectLst/>
                <a:latin typeface="-apple-system-body"/>
              </a:rPr>
              <a:t>, </a:t>
            </a:r>
            <a:r>
              <a:rPr lang="en-US" b="0" i="0">
                <a:effectLst/>
                <a:latin typeface="ui-monospace"/>
              </a:rPr>
              <a:t>char</a:t>
            </a:r>
            <a:r>
              <a:rPr lang="en-US" b="0" i="0">
                <a:effectLst/>
                <a:latin typeface="-apple-system-body"/>
              </a:rPr>
              <a:t>, </a:t>
            </a:r>
            <a:r>
              <a:rPr lang="en-US" b="0" i="0" err="1">
                <a:effectLst/>
                <a:latin typeface="ui-monospace"/>
              </a:rPr>
              <a:t>enum</a:t>
            </a:r>
            <a:endParaRPr lang="en-US" b="0" i="0"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-apple-system-body"/>
              </a:rPr>
              <a:t>Faster for multiple fixed choices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-apple-system-body"/>
              </a:rPr>
              <a:t>Checks value directly (jump table internally)</a:t>
            </a:r>
            <a:endParaRPr lang="en-US">
              <a:latin typeface="-apple-system-body"/>
            </a:endParaRP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1" i="0">
                <a:effectLst/>
                <a:latin typeface="-apple-system-body"/>
              </a:rPr>
              <a:t>3. Simple Code Example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effectLst/>
                <a:latin typeface="-apple-system-body"/>
              </a:rPr>
              <a:t> Using if-else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effectLst/>
                <a:latin typeface="ui-monospace"/>
              </a:rPr>
              <a:t>#include &lt;iostream&gt;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using namespace std;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int main()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int day = 3;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if (day == 1)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"Monday";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else if (day == 2)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"Tuesday";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else if (day == 3)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"Wednesday";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else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"Invalid day";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return 0;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}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effectLst/>
                <a:latin typeface="-apple-system-body"/>
              </a:rPr>
              <a:t> Output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effectLst/>
                <a:latin typeface="ui-monospace"/>
              </a:rPr>
              <a:t>Wednesday</a:t>
            </a:r>
            <a:endParaRPr lang="en-US" b="0" i="0"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effectLst/>
                <a:latin typeface="-apple-system-body"/>
              </a:rPr>
              <a:t> Using switch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effectLst/>
                <a:latin typeface="ui-monospace"/>
              </a:rPr>
              <a:t>#include &lt;iostream&gt;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using namespace std;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int main()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int day = 3;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switch(day)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case 1: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"Monday";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    break;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case 2: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"Tuesday";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    break;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case 3: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"Wednesday";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    break;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default: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"Invalid day";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}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return 0;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}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 Output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Wednesday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5864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3CA16B-E2EE-5235-AACC-4A693DC4F6A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68991" y="-280078"/>
            <a:ext cx="6032310" cy="342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350"/>
              </a:lnSpc>
              <a:spcAft>
                <a:spcPts val="1200"/>
              </a:spcAft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Question 45    can switch use ranges directly?</a:t>
            </a: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Yes. In modern C++ (C++11 and later), you can use range-based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for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loops directly with arrays and many container types.</a:t>
            </a:r>
          </a:p>
          <a:p>
            <a:pPr algn="l">
              <a:lnSpc>
                <a:spcPts val="1950"/>
              </a:lnSpc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/>
            </a:b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5E5EFA-493A-A196-06A0-07C8DD03D0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68991" y="3479461"/>
            <a:ext cx="6032310" cy="921021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Question46   what is fall through in switch?</a:t>
            </a:r>
          </a:p>
          <a:p>
            <a:pPr algn="l">
              <a:buNone/>
            </a:pPr>
            <a:br>
              <a:rPr lang="en-US" b="0" i="0"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In C++,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fall-through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in a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switch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statement happens when execution continues from one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case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into the next because there is no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break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return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or other control-flow statement stopping it.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Example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effectLst/>
                <a:latin typeface="ui-monospace"/>
              </a:rPr>
              <a:t>#include &lt;iostream&gt;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using namespace std;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int main()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int x = 1;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switch (x)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case 1: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"One</a:t>
            </a:r>
            <a:r>
              <a:rPr lang="en-US" b="0" i="0" u="sng">
                <a:effectLst/>
                <a:latin typeface="ui-monospace"/>
              </a:rPr>
              <a:t>\n</a:t>
            </a:r>
            <a:r>
              <a:rPr lang="en-US" b="0" i="0">
                <a:effectLst/>
                <a:latin typeface="ui-monospace"/>
              </a:rPr>
              <a:t>";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case 2: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"Two</a:t>
            </a:r>
            <a:r>
              <a:rPr lang="en-US" b="0" i="0" u="sng">
                <a:effectLst/>
                <a:latin typeface="ui-monospace"/>
              </a:rPr>
              <a:t>\n</a:t>
            </a:r>
            <a:r>
              <a:rPr lang="en-US" b="0" i="0">
                <a:effectLst/>
                <a:latin typeface="ui-monospace"/>
              </a:rPr>
              <a:t>";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case 3: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    </a:t>
            </a:r>
            <a:r>
              <a:rPr lang="en-US" b="0" i="0" err="1">
                <a:effectLst/>
                <a:latin typeface="ui-monospace"/>
              </a:rPr>
              <a:t>cout</a:t>
            </a:r>
            <a:r>
              <a:rPr lang="en-US" b="0" i="0">
                <a:effectLst/>
                <a:latin typeface="ui-monospace"/>
              </a:rPr>
              <a:t> &lt;&lt; "Three</a:t>
            </a:r>
            <a:r>
              <a:rPr lang="en-US" b="0" i="0" u="sng">
                <a:effectLst/>
                <a:latin typeface="ui-monospace"/>
              </a:rPr>
              <a:t>\n</a:t>
            </a:r>
            <a:r>
              <a:rPr lang="en-US" b="0" i="0">
                <a:effectLst/>
                <a:latin typeface="ui-monospace"/>
              </a:rPr>
              <a:t>";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        break;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}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effectLst/>
                <a:latin typeface="ui-monospace"/>
              </a:rPr>
              <a:t>    return 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}</a:t>
            </a:r>
          </a:p>
          <a:p>
            <a:pPr algn="l">
              <a:lnSpc>
                <a:spcPts val="1950"/>
              </a:lnSpc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Output: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One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Two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Three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Even though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x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is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1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all three messages are printed because after matching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case 1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execution "falls through" into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case 2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and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case 3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0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B16E41-7DCF-B649-7AA6-55ED5122C78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74210" y="654064"/>
            <a:ext cx="6032310" cy="3670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3200" b="0" i="0">
                <a:solidFill>
                  <a:srgbClr val="0D0D0D"/>
                </a:solidFill>
                <a:effectLst/>
                <a:latin typeface="-apple-system-body"/>
              </a:rPr>
              <a:t>Question47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  what data type is usually used for conditions?</a:t>
            </a:r>
          </a:p>
          <a:p>
            <a:pPr algn="l"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In C++, conditions are usually evaluated as the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bool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data type, which can be either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true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or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false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Example: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bool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isReady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=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true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isReady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 { </a:t>
            </a:r>
            <a:r>
              <a:rPr lang="en-US" b="0" i="1">
                <a:solidFill>
                  <a:srgbClr val="818181"/>
                </a:solidFill>
                <a:effectLst/>
                <a:latin typeface="ui-monospace"/>
              </a:rPr>
              <a:t>/* ... */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}</a:t>
            </a:r>
          </a:p>
          <a:p>
            <a:pPr algn="l">
              <a:spcAft>
                <a:spcPts val="600"/>
              </a:spcAft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/>
            </a:b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150212-47C8-7008-F873-566E47B2B61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90177" y="2931905"/>
            <a:ext cx="6032310" cy="12813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buNone/>
            </a:pPr>
            <a:r>
              <a:rPr lang="en-US" sz="2000" b="0" i="0">
                <a:solidFill>
                  <a:srgbClr val="0D0D0D"/>
                </a:solidFill>
                <a:effectLst/>
                <a:latin typeface="-apple-system-body"/>
              </a:rPr>
              <a:t>Question 48  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why are co0nditional statements important?</a:t>
            </a: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Conditional statements are important in C++ because they allow a program to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make decisions and behave differently based on different situations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What they do (basic idea)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In simple terms, conditional statements let your program ask questions like: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“Is this condition true?”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“If yes, do this. If not, do something else.”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Without them, a program would always run the same way, no matter what.</a:t>
            </a: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Why they are important</a:t>
            </a:r>
          </a:p>
          <a:p>
            <a:pPr algn="l">
              <a:lnSpc>
                <a:spcPts val="1950"/>
              </a:lnSpc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1. Decision making</a:t>
            </a: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Programs need to respond differently depending on input or data.</a:t>
            </a: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Example: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If age ≥ 18 → allow voting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Otherwise → deny voting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This is only possible using conditionals like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else if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and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else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</a:t>
            </a:r>
          </a:p>
          <a:p>
            <a:pPr algn="l">
              <a:lnSpc>
                <a:spcPts val="1950"/>
              </a:lnSpc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2. Control program flow</a:t>
            </a: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They control the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flow of execution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meaning which part of the code runs and which does not.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Instead of running everything in order, the program can “choose” a path.</a:t>
            </a:r>
          </a:p>
          <a:p>
            <a:pPr algn="l">
              <a:lnSpc>
                <a:spcPts val="1950"/>
              </a:lnSpc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3. Handling real-world logic</a:t>
            </a: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Most real-life problems involve conditions: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Login systems (password correct or not)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Games (player health &gt; 0 or not)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Calculators (divide only if denominator ≠ 0)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C++ uses conditionals to model these situation</a:t>
            </a:r>
          </a:p>
          <a:p>
            <a:pPr algn="l">
              <a:lnSpc>
                <a:spcPts val="1950"/>
              </a:lnSpc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4. Avoiding errors</a:t>
            </a: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Conditionals help prevent invalid operations.</a:t>
            </a: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Example: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If a number is 0 → don’t divide by it</a:t>
            </a: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This avoids runtime errors.</a:t>
            </a:r>
          </a:p>
          <a:p>
            <a:pPr algn="l">
              <a:lnSpc>
                <a:spcPts val="1950"/>
              </a:lnSpc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5. Making programs interactive</a:t>
            </a: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User input often changes what the program should do. Conditionals make programs responsive.</a:t>
            </a: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Common conditional statements in C++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if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if-else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else if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switch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2422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04C554-EB95-25A8-3940-101F2C7876F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93326" y="0"/>
            <a:ext cx="6032310" cy="5904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r>
              <a:rPr lang="en-US" sz="2800" b="0" i="0">
                <a:solidFill>
                  <a:srgbClr val="0D0D0D"/>
                </a:solidFill>
                <a:effectLst/>
                <a:latin typeface="-apple-system-body"/>
              </a:rPr>
              <a:t>question49</a:t>
            </a:r>
            <a:r>
              <a:rPr lang="en-US">
                <a:solidFill>
                  <a:srgbClr val="0D0D0D"/>
                </a:solidFill>
                <a:latin typeface="-apple-system-body"/>
              </a:rPr>
              <a:t> 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give one example of a conditional statement?</a:t>
            </a:r>
          </a:p>
          <a:p>
            <a:pPr algn="l"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A simple real-life example of a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conditional statement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is using an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umbrella decision based on weather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:</a:t>
            </a:r>
          </a:p>
          <a:p>
            <a:pPr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If it is raining, then take an umbrella. Otherwise, do not take an umbrella.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This can be written as a conditional (like in programming):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Condition: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Is it raining?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If yes →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take an umbrella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If no →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don’t take an umbrella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Another everyday example:</a:t>
            </a:r>
          </a:p>
          <a:p>
            <a:pPr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If you are 18 years or older, you are allowed to vote; otherwise, you are not allowed to vote.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Both examples show how decisions depend on a condition being true or false.</a:t>
            </a:r>
          </a:p>
          <a:p>
            <a:pPr algn="l">
              <a:lnSpc>
                <a:spcPts val="1350"/>
              </a:lnSpc>
              <a:spcAft>
                <a:spcPts val="1200"/>
              </a:spcAft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/>
            </a:b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40A562-E1BB-24D4-71DE-91C5D569C05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93326" y="6079083"/>
            <a:ext cx="6032310" cy="4411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r>
              <a:rPr lang="en-US" sz="2400" b="0" i="0">
                <a:solidFill>
                  <a:srgbClr val="0D0D0D"/>
                </a:solidFill>
                <a:effectLst/>
                <a:latin typeface="-apple-system-body"/>
              </a:rPr>
              <a:t>question 50  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name four conditional structures covered?</a:t>
            </a:r>
          </a:p>
          <a:p>
            <a:pPr algn="l"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In programming (especially in C or similar languages), the four commonly covered conditional structures are:</a:t>
            </a: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Simple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if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 statement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– executes a block only when a condition is true.</a:t>
            </a: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if-else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 statement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– chooses between two blocks depending on the condition.</a:t>
            </a: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else-if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 ladder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– checks multiple conditions in sequence.</a:t>
            </a: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switch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 statement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– selects one block of code among many based on a value.</a:t>
            </a:r>
          </a:p>
          <a:p>
            <a:pPr algn="l">
              <a:lnSpc>
                <a:spcPts val="1950"/>
              </a:lnSpc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373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6281</Words>
  <Application>Microsoft Office PowerPoint</Application>
  <PresentationFormat>Custom</PresentationFormat>
  <Paragraphs>744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-apple-system-body</vt:lpstr>
      <vt:lpstr>Aptos</vt:lpstr>
      <vt:lpstr>Aptos Display</vt:lpstr>
      <vt:lpstr>Arial</vt:lpstr>
      <vt:lpstr>Calibri</vt:lpstr>
      <vt:lpstr>Consolas</vt:lpstr>
      <vt:lpstr>Courier New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niranjan singh</dc:creator>
  <cp:lastModifiedBy>MANOJ CHOUDHARY</cp:lastModifiedBy>
  <cp:revision>5</cp:revision>
  <dcterms:created xsi:type="dcterms:W3CDTF">2026-06-16T12:49:18Z</dcterms:created>
  <dcterms:modified xsi:type="dcterms:W3CDTF">2026-06-17T04:46:58Z</dcterms:modified>
</cp:coreProperties>
</file>