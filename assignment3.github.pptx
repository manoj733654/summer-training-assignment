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0" r:id="rId5"/>
    <p:sldId id="263" r:id="rId6"/>
    <p:sldId id="261" r:id="rId7"/>
    <p:sldId id="262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4" r:id="rId16"/>
    <p:sldId id="272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9" r:id="rId30"/>
    <p:sldId id="287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</p:sldIdLst>
  <p:sldSz cx="12192000" cy="14057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383289-7A9A-46C5-9EED-0CAC22FD3399}" v="29" dt="2026-06-21T07:42:21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60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00585"/>
            <a:ext cx="10363200" cy="489402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383344"/>
            <a:ext cx="9144000" cy="339392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813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08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504570"/>
            <a:ext cx="10515600" cy="584745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407340"/>
            <a:ext cx="10515600" cy="307503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087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742109"/>
            <a:ext cx="5181600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742109"/>
            <a:ext cx="5181600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03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48425"/>
            <a:ext cx="10515600" cy="2717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445995"/>
            <a:ext cx="5157787" cy="168882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134824"/>
            <a:ext cx="5157787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445995"/>
            <a:ext cx="5183188" cy="168882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134824"/>
            <a:ext cx="5183188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124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98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76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37154"/>
            <a:ext cx="3932237" cy="32800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23996"/>
            <a:ext cx="6172200" cy="998980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217194"/>
            <a:ext cx="3932237" cy="781287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37154"/>
            <a:ext cx="3932237" cy="328004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023996"/>
            <a:ext cx="6172200" cy="9989803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217194"/>
            <a:ext cx="3932237" cy="781287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29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45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48422"/>
            <a:ext cx="2628900" cy="119129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48422"/>
            <a:ext cx="7734300" cy="119129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948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48425"/>
            <a:ext cx="10515600" cy="2717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742109"/>
            <a:ext cx="10515600" cy="8919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029050"/>
            <a:ext cx="2743200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B94A1-0E5E-409B-A3FA-77BF186D0E2E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029050"/>
            <a:ext cx="4114800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029050"/>
            <a:ext cx="2743200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BD48C-F59E-4D4E-8ED5-CC9954F6E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125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2303-BB8D-FAC7-814E-578DE75FA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3842145"/>
            <a:ext cx="10515600" cy="2717097"/>
          </a:xfrm>
        </p:spPr>
        <p:txBody>
          <a:bodyPr/>
          <a:lstStyle/>
          <a:p>
            <a:r>
              <a:rPr lang="en-US" dirty="0"/>
              <a:t>Problem 1:-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21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7CC6BF-63F8-8C84-398C-B7EAF3975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81764" cy="1407540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DCCB4D-C897-0BF4-5D42-B83A7CACC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008548"/>
              </p:ext>
            </p:extLst>
          </p:nvPr>
        </p:nvGraphicFramePr>
        <p:xfrm>
          <a:off x="6230112" y="-1"/>
          <a:ext cx="5961888" cy="14075404"/>
        </p:xfrm>
        <a:graphic>
          <a:graphicData uri="http://schemas.openxmlformats.org/drawingml/2006/table">
            <a:tbl>
              <a:tblPr/>
              <a:tblGrid>
                <a:gridCol w="1490472">
                  <a:extLst>
                    <a:ext uri="{9D8B030D-6E8A-4147-A177-3AD203B41FA5}">
                      <a16:colId xmlns:a16="http://schemas.microsoft.com/office/drawing/2014/main" val="3913087006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313460890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1766970798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494896604"/>
                    </a:ext>
                  </a:extLst>
                </a:gridCol>
              </a:tblGrid>
              <a:tr h="262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Line No.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Type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Correction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323524"/>
                  </a:ext>
                </a:extLst>
              </a:tr>
              <a:tr h="47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8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Missing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;</a:t>
                      </a:r>
                      <a:r>
                        <a:rPr lang="en-IN" sz="900"/>
                        <a:t> after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int x = 10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Syntax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int x = 10;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405809"/>
                  </a:ext>
                </a:extLst>
              </a:tr>
              <a:tr h="89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13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if(x = 10)</a:t>
                      </a:r>
                      <a:r>
                        <a:rPr lang="en-IN" sz="900"/>
                        <a:t> uses assignment instead of comparison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Logical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if(x == 10)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765107"/>
                  </a:ext>
                </a:extLst>
              </a:tr>
              <a:tr h="89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18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Assigning string to integer variable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int marks = 90;</a:t>
                      </a:r>
                      <a:r>
                        <a:rPr lang="en-IN" sz="900"/>
                        <a:t> or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char marks[] = "Ninety";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14324"/>
                  </a:ext>
                </a:extLst>
              </a:tr>
              <a:tr h="1113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Variable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z</a:t>
                      </a:r>
                      <a:r>
                        <a:rPr lang="en-IN" sz="900"/>
                        <a:t> not declared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Declare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z</a:t>
                      </a:r>
                      <a:r>
                        <a:rPr lang="en-IN" sz="900"/>
                        <a:t> before use, e.g.,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int z = 0;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7129"/>
                  </a:ext>
                </a:extLst>
              </a:tr>
              <a:tr h="68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22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Cannot assign value to constant (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100 = x</a:t>
                      </a:r>
                      <a:r>
                        <a:rPr lang="en-IN" sz="900"/>
                        <a:t>)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Syntax/Semantic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x = 100;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029425"/>
                  </a:ext>
                </a:extLst>
              </a:tr>
              <a:tr h="68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26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Array index out of bounds (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arr[10]</a:t>
                      </a:r>
                      <a:r>
                        <a:rPr lang="en-IN" sz="900"/>
                        <a:t>)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Logical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Use valid index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-IN" sz="900"/>
                        <a:t> to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4</a:t>
                      </a:r>
                      <a:r>
                        <a:rPr lang="en-IN" sz="900"/>
                        <a:t>, e.g.,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arr[4] = 50;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539172"/>
                  </a:ext>
                </a:extLst>
              </a:tr>
              <a:tr h="68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28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float *ptr = &amp;x;</a:t>
                      </a:r>
                      <a:r>
                        <a:rPr lang="en-IN" sz="900"/>
                        <a:t> type mismatch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int *ptr = &amp;x;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425574"/>
                  </a:ext>
                </a:extLst>
              </a:tr>
              <a:tr h="47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30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%f</a:t>
                      </a:r>
                      <a:r>
                        <a:rPr lang="en-IN" sz="900"/>
                        <a:t> used for integer variable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x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Format Specifier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printf("%d\n", x);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572839"/>
                  </a:ext>
                </a:extLst>
              </a:tr>
              <a:tr h="47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35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Division by zero (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a/b</a:t>
                      </a:r>
                      <a:r>
                        <a:rPr lang="en-IN" sz="900"/>
                        <a:t>)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Runtime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Ensure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b != 0</a:t>
                      </a:r>
                      <a:r>
                        <a:rPr lang="en-IN" sz="900"/>
                        <a:t> before division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166415"/>
                  </a:ext>
                </a:extLst>
              </a:tr>
              <a:tr h="68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37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Multi-character constant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'AB'</a:t>
                      </a:r>
                      <a:r>
                        <a:rPr lang="en-IN" sz="900"/>
                        <a:t> assigned to char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char ch = 'A';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126208"/>
                  </a:ext>
                </a:extLst>
              </a:tr>
              <a:tr h="89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42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Both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IN" sz="900"/>
                        <a:t> and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en-IN" sz="900"/>
                        <a:t> print same message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Logical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Change else message to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printf("Y is greater");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773435"/>
                  </a:ext>
                </a:extLst>
              </a:tr>
              <a:tr h="68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45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Return value of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sqrt(25)</a:t>
                      </a:r>
                      <a:r>
                        <a:rPr lang="en-IN" sz="900"/>
                        <a:t> ignored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Logical Warning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double r = sqrt(25);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160047"/>
                  </a:ext>
                </a:extLst>
              </a:tr>
              <a:tr h="68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47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Function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show()</a:t>
                      </a:r>
                      <a:r>
                        <a:rPr lang="en-IN" sz="900"/>
                        <a:t> not declared/defined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Define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show()</a:t>
                      </a:r>
                      <a:r>
                        <a:rPr lang="en-IN" sz="900"/>
                        <a:t> or remove call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640948"/>
                  </a:ext>
                </a:extLst>
              </a:tr>
              <a:tr h="68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49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Extra semicolon after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while(x &lt; 15)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Logical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while(x &lt; 15)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008409"/>
                  </a:ext>
                </a:extLst>
              </a:tr>
              <a:tr h="47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55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continue</a:t>
                      </a:r>
                      <a:r>
                        <a:rPr lang="en-IN" sz="900"/>
                        <a:t> used outside loop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Syntax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Place inside loop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81964"/>
                  </a:ext>
                </a:extLst>
              </a:tr>
              <a:tr h="68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57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break</a:t>
                      </a:r>
                      <a:r>
                        <a:rPr lang="en-IN" sz="900"/>
                        <a:t> used outside loop/switch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Syntax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Place inside loop/switch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368215"/>
                  </a:ext>
                </a:extLst>
              </a:tr>
              <a:tr h="89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59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Function call has one argument but function needs two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ourier New" panose="02070309020205020404" pitchFamily="49" charset="0"/>
                        </a:rPr>
                        <a:t>calculate(10, 20)</a:t>
                      </a:r>
                      <a:endParaRPr lang="en-IN" sz="90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4007"/>
                  </a:ext>
                </a:extLst>
              </a:tr>
              <a:tr h="89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68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Function prototype expects two arguments; call mismatch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Pass two arguments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483794"/>
                  </a:ext>
                </a:extLst>
              </a:tr>
              <a:tr h="892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5 &amp; 67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Prototype and definition are correct, but call is incorrect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 Error</a:t>
                      </a:r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ourier New" panose="02070309020205020404" pitchFamily="49" charset="0"/>
                        </a:rPr>
                        <a:t>int result = calculate(10,20);</a:t>
                      </a:r>
                      <a:endParaRPr lang="en-IN" sz="900" dirty="0"/>
                    </a:p>
                  </a:txBody>
                  <a:tcPr marL="34308" marR="34308" marT="17154" marB="1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577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83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A42A-5FA8-4F2E-B1B8-33578C27C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872625"/>
            <a:ext cx="10515600" cy="2717097"/>
          </a:xfrm>
        </p:spPr>
        <p:txBody>
          <a:bodyPr/>
          <a:lstStyle/>
          <a:p>
            <a:r>
              <a:rPr lang="en-US" dirty="0"/>
              <a:t>Problem 2 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601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B357A9-22DB-75A4-5CB9-A4A0BC8A3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802" y="-16097"/>
            <a:ext cx="4688131" cy="140734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A7AD50-41A4-3C11-B3B3-745D6D94D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933" y="0"/>
            <a:ext cx="4876453" cy="140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60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44ACD7-D6C8-6898-3A49-3EC4C403D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917537"/>
              </p:ext>
            </p:extLst>
          </p:nvPr>
        </p:nvGraphicFramePr>
        <p:xfrm>
          <a:off x="162560" y="-1"/>
          <a:ext cx="12029440" cy="14057316"/>
        </p:xfrm>
        <a:graphic>
          <a:graphicData uri="http://schemas.openxmlformats.org/drawingml/2006/table">
            <a:tbl>
              <a:tblPr/>
              <a:tblGrid>
                <a:gridCol w="3007360">
                  <a:extLst>
                    <a:ext uri="{9D8B030D-6E8A-4147-A177-3AD203B41FA5}">
                      <a16:colId xmlns:a16="http://schemas.microsoft.com/office/drawing/2014/main" val="593762039"/>
                    </a:ext>
                  </a:extLst>
                </a:gridCol>
                <a:gridCol w="3007360">
                  <a:extLst>
                    <a:ext uri="{9D8B030D-6E8A-4147-A177-3AD203B41FA5}">
                      <a16:colId xmlns:a16="http://schemas.microsoft.com/office/drawing/2014/main" val="3106770381"/>
                    </a:ext>
                  </a:extLst>
                </a:gridCol>
                <a:gridCol w="3007360">
                  <a:extLst>
                    <a:ext uri="{9D8B030D-6E8A-4147-A177-3AD203B41FA5}">
                      <a16:colId xmlns:a16="http://schemas.microsoft.com/office/drawing/2014/main" val="3420097497"/>
                    </a:ext>
                  </a:extLst>
                </a:gridCol>
                <a:gridCol w="3007360">
                  <a:extLst>
                    <a:ext uri="{9D8B030D-6E8A-4147-A177-3AD203B41FA5}">
                      <a16:colId xmlns:a16="http://schemas.microsoft.com/office/drawing/2014/main" val="3031390959"/>
                    </a:ext>
                  </a:extLst>
                </a:gridCol>
              </a:tblGrid>
              <a:tr h="510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Line No.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Type of Error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Error in Code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Correction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93805"/>
                  </a:ext>
                </a:extLst>
              </a:tr>
              <a:tr h="918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int num2 = 20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int num2 = 20;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120097"/>
                  </a:ext>
                </a:extLst>
              </a:tr>
              <a:tr h="89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18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if(choice == 1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if(choice == 1)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613547"/>
                  </a:ext>
                </a:extLst>
              </a:tr>
              <a:tr h="1326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29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else if(choice == 3))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else if(choice == 3)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356590"/>
                  </a:ext>
                </a:extLst>
              </a:tr>
              <a:tr h="918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44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for(int i=0; i&lt;5; i++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for(int i=0; i&lt;5; i++)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46206"/>
                  </a:ext>
                </a:extLst>
              </a:tr>
              <a:tr h="918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50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while(choice &gt; 0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while(choice &gt; 0)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040844"/>
                  </a:ext>
                </a:extLst>
              </a:tr>
              <a:tr h="918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59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while(choice &gt; 5)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while(choice &gt; 5);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086497"/>
                  </a:ext>
                </a:extLst>
              </a:tr>
              <a:tr h="510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68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case 2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case 2: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545039"/>
                  </a:ext>
                </a:extLst>
              </a:tr>
              <a:tr h="918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90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char grade = 'A;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char grade = 'A';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691532"/>
                  </a:ext>
                </a:extLst>
              </a:tr>
              <a:tr h="510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94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int arr[5;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int arr[5];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49132"/>
                  </a:ext>
                </a:extLst>
              </a:tr>
              <a:tr h="918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105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Block/Brace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Opening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IN" sz="1200"/>
                        <a:t> not closed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Add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}</a:t>
                      </a:r>
                      <a:r>
                        <a:rPr lang="en-IN" sz="1200"/>
                        <a:t> before line 122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14528"/>
                  </a:ext>
                </a:extLst>
              </a:tr>
              <a:tr h="1326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122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Syntax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printf("End of Program\n")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printf("End of Program\n");</a:t>
                      </a:r>
                      <a:endParaRPr lang="en-IN" sz="1200"/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929772"/>
                  </a:ext>
                </a:extLst>
              </a:tr>
              <a:tr h="1734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37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Logical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result = num1 / num2;</a:t>
                      </a:r>
                      <a:r>
                        <a:rPr lang="en-IN" sz="1200"/>
                        <a:t> performs integer division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en-IN" sz="1200"/>
                        <a:t> and cast if decimal result is needed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925786"/>
                  </a:ext>
                </a:extLst>
              </a:tr>
              <a:tr h="1734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 &amp; 126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Semantic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add()</a:t>
                      </a:r>
                      <a:r>
                        <a:rPr lang="en-IN" sz="1200"/>
                        <a:t> function declared and defined but never used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Call 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add()</a:t>
                      </a:r>
                      <a:r>
                        <a:rPr lang="en-IN" sz="1200" dirty="0"/>
                        <a:t> or remove it</a:t>
                      </a:r>
                    </a:p>
                  </a:txBody>
                  <a:tcPr marL="47406" marR="47406" marT="23703" marB="237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605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057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5CB9-5B91-68C1-25AA-2441BBE98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6" y="6117594"/>
            <a:ext cx="10515600" cy="2717097"/>
          </a:xfrm>
        </p:spPr>
        <p:txBody>
          <a:bodyPr/>
          <a:lstStyle/>
          <a:p>
            <a:r>
              <a:rPr lang="en-US" dirty="0"/>
              <a:t>Problem 3:-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212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A3568A-E608-76F9-26BC-A1C2850A6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60" y="16743"/>
            <a:ext cx="3697965" cy="14023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A373E8-3804-BE30-E8C0-C3E47A2FF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325" y="-1"/>
            <a:ext cx="3579775" cy="140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9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6CE5C0-110E-3EC5-BB34-AF9A5DD18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88289"/>
              </p:ext>
            </p:extLst>
          </p:nvPr>
        </p:nvGraphicFramePr>
        <p:xfrm>
          <a:off x="0" y="0"/>
          <a:ext cx="12192000" cy="14057324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8312476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045983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786418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63958925"/>
                    </a:ext>
                  </a:extLst>
                </a:gridCol>
              </a:tblGrid>
              <a:tr h="2613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LINE NO.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ERROR TYPE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ERROR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CORRECTION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070270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8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int age = "Twenty";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int age = 20;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390516"/>
                  </a:ext>
                </a:extLst>
              </a:tr>
              <a:tr h="2613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14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char grade = "A";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char grade = 'A';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583962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16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Format Specifier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printf("%d\n", salary);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printf("%f\n", salary);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484991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18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Format Specifier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printf("%f\n", marks);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printf("%d\n", marks);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999944"/>
                  </a:ext>
                </a:extLst>
              </a:tr>
              <a:tr h="506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22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score</a:t>
                      </a:r>
                      <a:r>
                        <a:rPr lang="en-IN" sz="1400"/>
                        <a:t> not declared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Declare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score</a:t>
                      </a:r>
                      <a:r>
                        <a:rPr lang="en-IN" sz="1400"/>
                        <a:t> or use an existing variable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676242"/>
                  </a:ext>
                </a:extLst>
              </a:tr>
              <a:tr h="506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25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Syntax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Duplicate declaration of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x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Rename variable or write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x = 20;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646118"/>
                  </a:ext>
                </a:extLst>
              </a:tr>
              <a:tr h="250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27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Syntax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100 = x;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x = 100;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223051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31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Format Specifier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printf("%s\n", num);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printf("%d\n", num);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34638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35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Format Specifier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printf("%d\n", pi);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printf("%f\n", pi);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42778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39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arr[2.5]</a:t>
                      </a:r>
                      <a:r>
                        <a:rPr lang="en-IN" sz="1400"/>
                        <a:t> uses float index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arr[2] = 100;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540841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45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Function Call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add(10)</a:t>
                      </a:r>
                      <a:r>
                        <a:rPr lang="en-IN" sz="1400"/>
                        <a:t> missing argument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add(10, 20);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579793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51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Function Call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average(10,20)</a:t>
                      </a:r>
                      <a:r>
                        <a:rPr lang="en-IN" sz="1400"/>
                        <a:t> missing argument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average(10,20,30);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64267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55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int temperature = "35";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int temperature = 35;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440124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59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float discount = "10.5";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float discount = 10.5;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798480"/>
                  </a:ext>
                </a:extLst>
              </a:tr>
              <a:tr h="506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65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Syntax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name = "Robil";</a:t>
                      </a:r>
                      <a:r>
                        <a:rPr lang="en-IN" sz="1400"/>
                        <a:t> for character array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strcpy(name,"Robil");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930153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69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totalMarks</a:t>
                      </a:r>
                      <a:r>
                        <a:rPr lang="en-IN" sz="1400"/>
                        <a:t> not declared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Declare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totalMarks</a:t>
                      </a:r>
                      <a:r>
                        <a:rPr lang="en-IN" sz="1400"/>
                        <a:t> before use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850630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79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Format Specifier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printf("%d\n", rate);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printf("%f\n", rate);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805349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86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</a:t>
                      </a:r>
                      <a:r>
                        <a:rPr lang="en-IN" sz="1400"/>
                        <a:t> not declared in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add(a,b,c)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Use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add(a,b)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082606"/>
                  </a:ext>
                </a:extLst>
              </a:tr>
              <a:tr h="506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100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Logical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if(studentMarks = 100)</a:t>
                      </a:r>
                      <a:r>
                        <a:rPr lang="en-IN" sz="1400"/>
                        <a:t> uses assignment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if(studentMarks == 100)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861544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106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int size = "Large";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char size[] = "Large";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887380"/>
                  </a:ext>
                </a:extLst>
              </a:tr>
              <a:tr h="506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110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Format Specifier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printf("%d\n", percentage);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printf("%f\n", percentage);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018263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114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arr2["five"] = 100;</a:t>
                      </a:r>
                      <a:r>
                        <a:rPr lang="en-IN" sz="1400"/>
                        <a:t> invalid index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arr2[5] = 100;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267525"/>
                  </a:ext>
                </a:extLst>
              </a:tr>
              <a:tr h="2613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122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Syntax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case "2":</a:t>
                      </a:r>
                      <a:r>
                        <a:rPr lang="en-IN" sz="1400"/>
                        <a:t> uses string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case 2: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09914"/>
                  </a:ext>
                </a:extLst>
              </a:tr>
              <a:tr h="506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129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Function Definition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multiply()</a:t>
                      </a:r>
                      <a:r>
                        <a:rPr lang="en-IN" sz="1400"/>
                        <a:t> not declared/defined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Create prototype and function definition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391024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140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Format Specifier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printf("%d\n", areaRect);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printf("%f\n", areaRect);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872040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148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Data Type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avgMarks</a:t>
                      </a:r>
                      <a:r>
                        <a:rPr lang="en-IN" sz="1400"/>
                        <a:t> declared as int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float avgMarks;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436692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152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Format Specifier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printf("%d\n", avgMarks);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printf("%f\n", avgMarks);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671577"/>
                  </a:ext>
                </a:extLst>
              </a:tr>
              <a:tr h="47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156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value</a:t>
                      </a:r>
                      <a:r>
                        <a:rPr lang="en-IN" sz="1400"/>
                        <a:t> not declared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/>
                        <a:t>Declare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value</a:t>
                      </a:r>
                      <a:r>
                        <a:rPr lang="en-IN" sz="1400"/>
                        <a:t> before use</a:t>
                      </a:r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029859"/>
                  </a:ext>
                </a:extLst>
              </a:tr>
              <a:tr h="506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158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Semantic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int employeeId = "EMP101";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char employeeId[] = "EMP101";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672771"/>
                  </a:ext>
                </a:extLst>
              </a:tr>
              <a:tr h="5066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160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Format Specifier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printf("%d\n", employeeId);</a:t>
                      </a:r>
                      <a:endParaRPr lang="en-IN" sz="140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printf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("%s\n", </a:t>
                      </a: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employeeId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);</a:t>
                      </a:r>
                      <a:endParaRPr lang="en-IN" sz="1400" dirty="0"/>
                    </a:p>
                  </a:txBody>
                  <a:tcPr marL="27963" marR="27963" marT="13981" marB="13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216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69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3A59-1A53-0325-5819-B0DAD6E54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0" y="5484548"/>
            <a:ext cx="10515600" cy="2717097"/>
          </a:xfrm>
        </p:spPr>
        <p:txBody>
          <a:bodyPr/>
          <a:lstStyle/>
          <a:p>
            <a:r>
              <a:rPr lang="en-US" dirty="0"/>
              <a:t>Problem 4 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91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5678EC-8BAC-0E83-0A19-D4A056062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05371"/>
            <a:ext cx="3824797" cy="13960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9115E6-7EFE-1C9B-F628-13FA1A877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597" y="96802"/>
            <a:ext cx="3350517" cy="139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2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A48D6E-6666-5440-661C-6930CD952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0426"/>
              </p:ext>
            </p:extLst>
          </p:nvPr>
        </p:nvGraphicFramePr>
        <p:xfrm>
          <a:off x="0" y="0"/>
          <a:ext cx="12192000" cy="13878557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102227234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773260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024064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17802561"/>
                    </a:ext>
                  </a:extLst>
                </a:gridCol>
              </a:tblGrid>
              <a:tr h="378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Line No.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Error Type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Error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Correction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690918"/>
                  </a:ext>
                </a:extLst>
              </a:tr>
              <a:tr h="1289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7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Semantic / Linker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Function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showResult()</a:t>
                      </a:r>
                      <a:r>
                        <a:rPr lang="en-IN" sz="1300"/>
                        <a:t> declared but not defined.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Define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showResult()</a:t>
                      </a:r>
                      <a:r>
                        <a:rPr lang="en-IN" sz="1300"/>
                        <a:t> or remove its call and declaration.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826684"/>
                  </a:ext>
                </a:extLst>
              </a:tr>
              <a:tr h="1289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12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Linker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extern float companyProfit;</a:t>
                      </a:r>
                      <a:r>
                        <a:rPr lang="en-IN" sz="1300"/>
                        <a:t> declared but no definition found.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float companyProfit = value;</a:t>
                      </a:r>
                      <a:r>
                        <a:rPr lang="en-IN" sz="1300"/>
                        <a:t> globally.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907488"/>
                  </a:ext>
                </a:extLst>
              </a:tr>
              <a:tr h="1592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43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Semantic / Linker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generateReport();</a:t>
                      </a:r>
                      <a:r>
                        <a:rPr lang="en-IN" sz="1300"/>
                        <a:t> called without declaration and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 prototype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void generateReport();</a:t>
                      </a:r>
                      <a:r>
                        <a:rPr lang="en-IN" sz="1300"/>
                        <a:t> and define the function.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505282"/>
                  </a:ext>
                </a:extLst>
              </a:tr>
              <a:tr h="1592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45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Semantic / Linker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displayEmployee();</a:t>
                      </a:r>
                      <a:r>
                        <a:rPr lang="en-IN" sz="1300"/>
                        <a:t> called without declaration and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 prototype and function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110389"/>
                  </a:ext>
                </a:extLst>
              </a:tr>
              <a:tr h="1289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47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Semantic / Linker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processData();</a:t>
                      </a:r>
                      <a:r>
                        <a:rPr lang="en-IN" sz="1300"/>
                        <a:t> called without declaration and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 prototype and function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752120"/>
                  </a:ext>
                </a:extLst>
              </a:tr>
              <a:tr h="1289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49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Semantic / Linker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saveRecord();</a:t>
                      </a:r>
                      <a:r>
                        <a:rPr lang="en-IN" sz="1300"/>
                        <a:t> called without declaration and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 prototype and function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93081"/>
                  </a:ext>
                </a:extLst>
              </a:tr>
              <a:tr h="1289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51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Semantic / Linker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loadRecord();</a:t>
                      </a:r>
                      <a:r>
                        <a:rPr lang="en-IN" sz="1300"/>
                        <a:t> called without declaration and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 prototype and function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556894"/>
                  </a:ext>
                </a:extLst>
              </a:tr>
              <a:tr h="1289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53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Semantic / Linker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printInvoice();</a:t>
                      </a:r>
                      <a:r>
                        <a:rPr lang="en-IN" sz="1300"/>
                        <a:t> called without declaration and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 prototype and function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194166"/>
                  </a:ext>
                </a:extLst>
              </a:tr>
              <a:tr h="1289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55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Semantic / Linker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calculateTax();</a:t>
                      </a:r>
                      <a:r>
                        <a:rPr lang="en-IN" sz="1300"/>
                        <a:t> called without declaration and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 prototype and function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337327"/>
                  </a:ext>
                </a:extLst>
              </a:tr>
              <a:tr h="1289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57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Semantic / Linker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validateUser();</a:t>
                      </a:r>
                      <a:r>
                        <a:rPr lang="en-IN" sz="1300"/>
                        <a:t> called without declaration and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Add prototype and function definition.</a:t>
                      </a:r>
                    </a:p>
                  </a:txBody>
                  <a:tcPr marL="48744" marR="48744" marT="24372" marB="2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532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678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C27A38-0907-71C0-792B-FE6CC840E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462813"/>
              </p:ext>
            </p:extLst>
          </p:nvPr>
        </p:nvGraphicFramePr>
        <p:xfrm>
          <a:off x="0" y="-1"/>
          <a:ext cx="12192004" cy="14057314"/>
        </p:xfrm>
        <a:graphic>
          <a:graphicData uri="http://schemas.openxmlformats.org/drawingml/2006/table">
            <a:tbl>
              <a:tblPr/>
              <a:tblGrid>
                <a:gridCol w="3048001">
                  <a:extLst>
                    <a:ext uri="{9D8B030D-6E8A-4147-A177-3AD203B41FA5}">
                      <a16:colId xmlns:a16="http://schemas.microsoft.com/office/drawing/2014/main" val="1198553162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265490974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504168941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115537129"/>
                    </a:ext>
                  </a:extLst>
                </a:gridCol>
              </a:tblGrid>
              <a:tr h="3699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Line No.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Error Type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Error Description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Correction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672516"/>
                  </a:ext>
                </a:extLst>
              </a:tr>
              <a:tr h="1553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59</a:t>
                      </a:r>
                      <a:endParaRPr lang="en-IN" sz="1400" dirty="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Semantic / Linker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sendNotification();</a:t>
                      </a:r>
                      <a:r>
                        <a:rPr lang="en-IN" sz="1400"/>
                        <a:t> called without declaration and definition.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Add function prototype and function definition.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100842"/>
                  </a:ext>
                </a:extLst>
              </a:tr>
              <a:tr h="1553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61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Semantic / Linker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generateCertificate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();</a:t>
                      </a:r>
                      <a:r>
                        <a:rPr lang="en-IN" sz="1400" dirty="0"/>
                        <a:t> called without declaration and definition.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Add function prototype and function definition.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58382"/>
                  </a:ext>
                </a:extLst>
              </a:tr>
              <a:tr h="1257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25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Linker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calculateSalary()</a:t>
                      </a:r>
                      <a:r>
                        <a:rPr lang="en-IN" sz="1400"/>
                        <a:t> declared and called but not defined.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Define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void calculateSalary(float basic)</a:t>
                      </a:r>
                      <a:r>
                        <a:rPr lang="en-IN" sz="1400"/>
                        <a:t> function.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817991"/>
                  </a:ext>
                </a:extLst>
              </a:tr>
              <a:tr h="1553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27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Linker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printStudentDetails()</a:t>
                      </a:r>
                      <a:r>
                        <a:rPr lang="en-IN" sz="1400"/>
                        <a:t> declared and called but not defined.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Define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void printStudentDetails()</a:t>
                      </a:r>
                      <a:r>
                        <a:rPr lang="en-IN" sz="1400"/>
                        <a:t> function.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037596"/>
                  </a:ext>
                </a:extLst>
              </a:tr>
              <a:tr h="1257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31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Linker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showResult()</a:t>
                      </a:r>
                      <a:r>
                        <a:rPr lang="en-IN" sz="1400"/>
                        <a:t> called but function body is missing.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Define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void showResult()</a:t>
                      </a:r>
                      <a:r>
                        <a:rPr lang="en-IN" sz="1400"/>
                        <a:t> function.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673724"/>
                  </a:ext>
                </a:extLst>
              </a:tr>
              <a:tr h="1553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35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Linker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calculateAverage()</a:t>
                      </a:r>
                      <a:r>
                        <a:rPr lang="en-IN" sz="1400"/>
                        <a:t> declared and called but not defined.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Define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float calculateAverage(int a, int b, int c)</a:t>
                      </a:r>
                      <a:r>
                        <a:rPr lang="en-IN" sz="1400"/>
                        <a:t> function.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447855"/>
                  </a:ext>
                </a:extLst>
              </a:tr>
              <a:tr h="961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10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Warning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Variable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choice</a:t>
                      </a:r>
                      <a:r>
                        <a:rPr lang="en-IN" sz="1400"/>
                        <a:t> declared but never used.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the variable in the program or remove it.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645927"/>
                  </a:ext>
                </a:extLst>
              </a:tr>
              <a:tr h="27374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83–141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Logical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Many functions (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employeeSection()</a:t>
                      </a:r>
                      <a:r>
                        <a:rPr lang="en-IN" sz="1400"/>
                        <a:t>,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studentSection()</a:t>
                      </a:r>
                      <a:r>
                        <a:rPr lang="en-IN" sz="1400"/>
                        <a:t>,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adminSection()</a:t>
                      </a:r>
                      <a:r>
                        <a:rPr lang="en-IN" sz="1400"/>
                        <a:t>, etc.) are defined but never called.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Call these functions where required or remove unused code.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152454"/>
                  </a:ext>
                </a:extLst>
              </a:tr>
              <a:tr h="1257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145</a:t>
                      </a:r>
                      <a:endParaRPr lang="en-IN" sz="1400"/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Logical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addNumbers()</a:t>
                      </a:r>
                      <a:r>
                        <a:rPr lang="en-IN" sz="1400"/>
                        <a:t> duplicates the functionality of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add()</a:t>
                      </a:r>
                      <a:r>
                        <a:rPr lang="en-IN" sz="1400"/>
                        <a:t>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Reuse 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add()</a:t>
                      </a:r>
                      <a:r>
                        <a:rPr lang="en-IN" sz="1400" dirty="0"/>
                        <a:t> function or remove </a:t>
                      </a:r>
                      <a:r>
                        <a:rPr lang="en-IN" sz="1400" dirty="0" err="1">
                          <a:latin typeface="Courier New" panose="02070309020205020404" pitchFamily="49" charset="0"/>
                        </a:rPr>
                        <a:t>addNumbers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400" dirty="0"/>
                        <a:t>.</a:t>
                      </a:r>
                    </a:p>
                  </a:txBody>
                  <a:tcPr marL="46948" marR="46948" marT="23474" marB="234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3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609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A848-B130-5248-4E6D-D94DA093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5250087"/>
            <a:ext cx="10515600" cy="2717097"/>
          </a:xfrm>
        </p:spPr>
        <p:txBody>
          <a:bodyPr/>
          <a:lstStyle/>
          <a:p>
            <a:r>
              <a:rPr lang="en-US" dirty="0"/>
              <a:t>Problem 5 :-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346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14173A-41F0-DC39-3BA3-7C4ACEBAA4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924" y="-15877"/>
            <a:ext cx="4052164" cy="14089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FE804B-4926-189A-2802-A34B992F7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088" y="-1"/>
            <a:ext cx="4427500" cy="140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12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4BBC99-FCBF-8349-0F75-93A2597AD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535055"/>
              </p:ext>
            </p:extLst>
          </p:nvPr>
        </p:nvGraphicFramePr>
        <p:xfrm>
          <a:off x="0" y="142240"/>
          <a:ext cx="12192000" cy="13915074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0790469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3288915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72372254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05463809"/>
                    </a:ext>
                  </a:extLst>
                </a:gridCol>
              </a:tblGrid>
              <a:tr h="376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Line No.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Error Type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Error Description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Correction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560409"/>
                  </a:ext>
                </a:extLst>
              </a:tr>
              <a:tr h="9828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10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Division by zero: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 / b</a:t>
                      </a:r>
                      <a:r>
                        <a:rPr lang="en-IN" sz="1400"/>
                        <a:t> where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b = 0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Check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b != 0</a:t>
                      </a:r>
                      <a:r>
                        <a:rPr lang="en-IN" sz="1400"/>
                        <a:t> before division.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579725"/>
                  </a:ext>
                </a:extLst>
              </a:tr>
              <a:tr h="1285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14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NULL pointer dereference: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*ptr1 = 50;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Allocate memory or ensure pointer is valid before dereferencing.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342895"/>
                  </a:ext>
                </a:extLst>
              </a:tr>
              <a:tr h="1285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18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Runtime Error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Array index out of bounds: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arr[10]</a:t>
                      </a:r>
                      <a:r>
                        <a:rPr lang="en-IN" sz="1400"/>
                        <a:t> for array size 5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indices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0–4</a:t>
                      </a:r>
                      <a:r>
                        <a:rPr lang="en-IN" sz="1400"/>
                        <a:t> only.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493247"/>
                  </a:ext>
                </a:extLst>
              </a:tr>
              <a:tr h="1285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22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Uninitialized pointer dereference: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*ptr2 = 200;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Initialize pointer using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malloc()</a:t>
                      </a:r>
                      <a:r>
                        <a:rPr lang="en-IN" sz="1400"/>
                        <a:t> or point to a valid variable.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024610"/>
                  </a:ext>
                </a:extLst>
              </a:tr>
              <a:tr h="1285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26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Buffer overflow: copying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"Programming"</a:t>
                      </a:r>
                      <a:r>
                        <a:rPr lang="en-IN" sz="1400"/>
                        <a:t> into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name[5]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Increase array size or use safe copy functions.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026586"/>
                  </a:ext>
                </a:extLst>
              </a:tr>
              <a:tr h="9828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32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Reading uninitialized pointer: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*ptr3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Initialize pointer before use.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791519"/>
                  </a:ext>
                </a:extLst>
              </a:tr>
              <a:tr h="9828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38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fscanf()</a:t>
                      </a:r>
                      <a:r>
                        <a:rPr lang="en-IN" sz="1400"/>
                        <a:t> on NULL file pointer if file doesn't exist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Check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if(fp != NULL)</a:t>
                      </a:r>
                      <a:r>
                        <a:rPr lang="en-IN" sz="1400"/>
                        <a:t> before reading.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010541"/>
                  </a:ext>
                </a:extLst>
              </a:tr>
              <a:tr h="18919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44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Buffer overflow: copying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"Computer Science"</a:t>
                      </a:r>
                      <a:r>
                        <a:rPr lang="en-IN" sz="1400"/>
                        <a:t> into 5-byte allocation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Allocate sufficient memory using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malloc(strlen("Computer Science")+1)</a:t>
                      </a:r>
                      <a:r>
                        <a:rPr lang="en-IN" sz="1400"/>
                        <a:t>.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27362"/>
                  </a:ext>
                </a:extLst>
              </a:tr>
              <a:tr h="1285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50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Use-after-free: accessing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ptr4[0]</a:t>
                      </a:r>
                      <a:r>
                        <a:rPr lang="en-IN" sz="1400"/>
                        <a:t> after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free(ptr4)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 not access memory after freeing it.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747825"/>
                  </a:ext>
                </a:extLst>
              </a:tr>
              <a:tr h="9828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56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Modulo by zero: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x % y</a:t>
                      </a:r>
                      <a:r>
                        <a:rPr lang="en-IN" sz="1400"/>
                        <a:t> where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y = 0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Check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y != 0</a:t>
                      </a:r>
                      <a:r>
                        <a:rPr lang="en-IN" sz="1400"/>
                        <a:t> before modulus operation.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639718"/>
                  </a:ext>
                </a:extLst>
              </a:tr>
              <a:tr h="1285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62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Buffer overflow: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strcat()</a:t>
                      </a:r>
                      <a:r>
                        <a:rPr lang="en-IN" sz="1400"/>
                        <a:t> exceeds size of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str1[10]</a:t>
                      </a:r>
                      <a:endParaRPr lang="en-IN" sz="1400"/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Ensure destination array is large enough.</a:t>
                      </a:r>
                    </a:p>
                  </a:txBody>
                  <a:tcPr marL="51861" marR="51861" marT="25931" marB="25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002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429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64FED-B815-F9C4-9F4A-1E7CB5D8E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268783"/>
              </p:ext>
            </p:extLst>
          </p:nvPr>
        </p:nvGraphicFramePr>
        <p:xfrm>
          <a:off x="0" y="0"/>
          <a:ext cx="12192000" cy="14057316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34980802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78842728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6312835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31870349"/>
                    </a:ext>
                  </a:extLst>
                </a:gridCol>
              </a:tblGrid>
              <a:tr h="428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Line No.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Error Type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Error Description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Correction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96375"/>
                  </a:ext>
                </a:extLst>
              </a:tr>
              <a:tr h="1457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72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Heap buffer overflow: writing 10 elements into space for 3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Allocate enough memory or limit the loop to 3 elements.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461878"/>
                  </a:ext>
                </a:extLst>
              </a:tr>
              <a:tr h="1457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78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Array index out of bounds: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matrix[5][5]</a:t>
                      </a:r>
                      <a:r>
                        <a:rPr lang="en-IN" sz="1400"/>
                        <a:t> in a 3×3 array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indices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0–2</a:t>
                      </a:r>
                      <a:r>
                        <a:rPr lang="en-IN" sz="1400"/>
                        <a:t> only.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105589"/>
                  </a:ext>
                </a:extLst>
              </a:tr>
              <a:tr h="11142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82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NULL pointer dereference: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ptr6[0]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Allocate memory or check for NULL before access.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45913"/>
                  </a:ext>
                </a:extLst>
              </a:tr>
              <a:tr h="771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86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Security / Runtime Error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Courier New" panose="02070309020205020404" pitchFamily="49" charset="0"/>
                        </a:rPr>
                        <a:t>gets()</a:t>
                      </a:r>
                      <a:r>
                        <a:rPr lang="en-IN" sz="1400" dirty="0"/>
                        <a:t> causes buffer overflow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fgets()</a:t>
                      </a:r>
                      <a:r>
                        <a:rPr lang="en-IN" sz="1400"/>
                        <a:t> instead.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354808"/>
                  </a:ext>
                </a:extLst>
              </a:tr>
              <a:tr h="1457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96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Use-after-free: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*ptr7 = 1000;</a:t>
                      </a:r>
                      <a:r>
                        <a:rPr lang="en-IN" sz="1400"/>
                        <a:t> after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free(ptr7)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 not access freed memory.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53788"/>
                  </a:ext>
                </a:extLst>
              </a:tr>
              <a:tr h="11142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100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Uninitialized variable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age</a:t>
                      </a:r>
                      <a:r>
                        <a:rPr lang="en-IN" sz="1400"/>
                        <a:t> printed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Initialize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age</a:t>
                      </a:r>
                      <a:r>
                        <a:rPr lang="en-IN" sz="1400"/>
                        <a:t> before use.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377873"/>
                  </a:ext>
                </a:extLst>
              </a:tr>
              <a:tr h="771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104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Negative array index: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arr[-1]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valid index range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0–4</a:t>
                      </a:r>
                      <a:r>
                        <a:rPr lang="en-IN" sz="1400"/>
                        <a:t>.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318166"/>
                  </a:ext>
                </a:extLst>
              </a:tr>
              <a:tr h="1457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108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Dereferencing uninitialized pointer in condition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Initialize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ptr8</a:t>
                      </a:r>
                      <a:r>
                        <a:rPr lang="en-IN" sz="1400"/>
                        <a:t> before use.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192914"/>
                  </a:ext>
                </a:extLst>
              </a:tr>
              <a:tr h="1457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116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Possible NULL pointer dereference if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malloc()</a:t>
                      </a:r>
                      <a:r>
                        <a:rPr lang="en-IN" sz="1400"/>
                        <a:t> fails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Check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if(hugeArray != NULL)</a:t>
                      </a:r>
                      <a:r>
                        <a:rPr lang="en-IN" sz="1400"/>
                        <a:t> before use.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438490"/>
                  </a:ext>
                </a:extLst>
              </a:tr>
              <a:tr h="771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128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Logical / Runtime Error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Infinite loop: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while(1)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Add a termination condition.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489144"/>
                  </a:ext>
                </a:extLst>
              </a:tr>
              <a:tr h="1800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130</a:t>
                      </a:r>
                      <a:endParaRPr lang="en-IN" sz="1400"/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Logical Error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Pointer continuously incremented, causing invalid memory access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Avoid incrementing a NULL pointer indefinitely.</a:t>
                      </a:r>
                    </a:p>
                  </a:txBody>
                  <a:tcPr marL="54391" marR="54391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425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90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2B86-FD83-4178-3A41-06018AE2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760" y="5670107"/>
            <a:ext cx="10515600" cy="2717097"/>
          </a:xfrm>
        </p:spPr>
        <p:txBody>
          <a:bodyPr/>
          <a:lstStyle/>
          <a:p>
            <a:r>
              <a:rPr lang="en-US" dirty="0"/>
              <a:t>Problem 6:-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9705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6E4E3C-D706-17AE-09FA-CCB79EF48B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59765" cy="14088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B4776F-00B6-B783-C75D-96068571B5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65" y="30829"/>
            <a:ext cx="3944848" cy="140573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EBCFE1-065D-19E2-9A97-953BE7AFB0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871" y="0"/>
            <a:ext cx="4559129" cy="140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64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F0D0A6-0759-CE28-25C9-05B72654C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703409"/>
              </p:ext>
            </p:extLst>
          </p:nvPr>
        </p:nvGraphicFramePr>
        <p:xfrm>
          <a:off x="0" y="-1"/>
          <a:ext cx="12192000" cy="14057316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4019398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0974539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7326891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70074002"/>
                    </a:ext>
                  </a:extLst>
                </a:gridCol>
              </a:tblGrid>
              <a:tr h="348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Line No.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Error Type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Error Description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Correction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811820"/>
                  </a:ext>
                </a:extLst>
              </a:tr>
              <a:tr h="14693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12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Condition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num % 2 == 1</a:t>
                      </a:r>
                      <a:r>
                        <a:rPr lang="en-IN" sz="1300"/>
                        <a:t> identifies odd numbers, but prints </a:t>
                      </a:r>
                      <a:r>
                        <a:rPr lang="en-IN" sz="1300" b="1"/>
                        <a:t>"Number is Even"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Change message to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"Number is Odd"</a:t>
                      </a:r>
                      <a:r>
                        <a:rPr lang="en-IN" sz="1300"/>
                        <a:t> or use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num % 2 == 0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065088"/>
                  </a:ext>
                </a:extLst>
              </a:tr>
              <a:tr h="1189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14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Even numbers are printed as </a:t>
                      </a:r>
                      <a:r>
                        <a:rPr lang="en-IN" sz="1300" b="1"/>
                        <a:t>"Number is Odd"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Print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"Number is Even"</a:t>
                      </a:r>
                      <a:r>
                        <a:rPr lang="en-IN" sz="1300"/>
                        <a:t> in the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en-IN" sz="1300"/>
                        <a:t> block.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349340"/>
                  </a:ext>
                </a:extLst>
              </a:tr>
              <a:tr h="9088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22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Marks ≥ 90 should receive Grade A, not Grade B.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Change to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printf("Grade A\n");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271558"/>
                  </a:ext>
                </a:extLst>
              </a:tr>
              <a:tr h="1189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24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Marks between 80–89 should receive Grade B, not Grade A.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Change to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printf("Grade B\n");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202479"/>
                  </a:ext>
                </a:extLst>
              </a:tr>
              <a:tr h="1189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36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Leap year check is incomplete (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year % 4 == 0</a:t>
                      </a:r>
                      <a:r>
                        <a:rPr lang="en-IN" sz="1300"/>
                        <a:t>).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`(year % 400 == 0)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37027"/>
                  </a:ext>
                </a:extLst>
              </a:tr>
              <a:tr h="9088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45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Age &gt; 18 prints </a:t>
                      </a:r>
                      <a:r>
                        <a:rPr lang="en-IN" sz="1300" b="1"/>
                        <a:t>"Not Eligible for Voting"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Print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"Eligible for Voting"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445989"/>
                  </a:ext>
                </a:extLst>
              </a:tr>
              <a:tr h="9088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47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Age ≤ 18 prints </a:t>
                      </a:r>
                      <a:r>
                        <a:rPr lang="en-IN" sz="1300" b="1"/>
                        <a:t>"Eligible for Voting"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Print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"Not Eligible for Voting"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494064"/>
                  </a:ext>
                </a:extLst>
              </a:tr>
              <a:tr h="1189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55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Larger number is printed as "Smaller Number".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Print the actual smaller number.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704041"/>
                  </a:ext>
                </a:extLst>
              </a:tr>
              <a:tr h="1189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57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Larger number is printed as "Smaller Number".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Print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a</a:t>
                      </a:r>
                      <a:r>
                        <a:rPr lang="en-IN" sz="1300"/>
                        <a:t> when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a &lt; b</a:t>
                      </a:r>
                      <a:r>
                        <a:rPr lang="en-IN" sz="1300"/>
                        <a:t>, otherwise print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b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488929"/>
                  </a:ext>
                </a:extLst>
              </a:tr>
              <a:tr h="1189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67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Logic finds the smallest number instead of the largest.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if(y &gt; largest)</a:t>
                      </a:r>
                      <a:r>
                        <a:rPr lang="en-IN" sz="1300"/>
                        <a:t> and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if(z &gt; largest)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07010"/>
                  </a:ext>
                </a:extLst>
              </a:tr>
              <a:tr h="1189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70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Logic updates with smaller value instead of larger value.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if(z &gt; largest) largest = z;</a:t>
                      </a:r>
                      <a:r>
                        <a:rPr lang="en-IN" sz="130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878773"/>
                  </a:ext>
                </a:extLst>
              </a:tr>
              <a:tr h="1189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80</a:t>
                      </a:r>
                      <a:endParaRPr lang="en-IN" sz="1300"/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Integer division occurs before assignment to float.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Use </a:t>
                      </a:r>
                      <a:r>
                        <a:rPr lang="en-IN" sz="1300" dirty="0">
                          <a:latin typeface="Courier New" panose="02070309020205020404" pitchFamily="49" charset="0"/>
                        </a:rPr>
                        <a:t>average = (float)</a:t>
                      </a:r>
                      <a:r>
                        <a:rPr lang="en-IN" sz="1300" dirty="0" err="1">
                          <a:latin typeface="Courier New" panose="02070309020205020404" pitchFamily="49" charset="0"/>
                        </a:rPr>
                        <a:t>totalMarks</a:t>
                      </a:r>
                      <a:r>
                        <a:rPr lang="en-IN" sz="1300" dirty="0">
                          <a:latin typeface="Courier New" panose="02070309020205020404" pitchFamily="49" charset="0"/>
                        </a:rPr>
                        <a:t> / subjects;</a:t>
                      </a:r>
                      <a:r>
                        <a:rPr lang="en-IN" sz="1300" dirty="0"/>
                        <a:t>.</a:t>
                      </a:r>
                    </a:p>
                  </a:txBody>
                  <a:tcPr marL="48217" marR="48217" marT="24109" marB="24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881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642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F4EFDA-CFFC-1F29-7287-E33CE97D3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918760"/>
              </p:ext>
            </p:extLst>
          </p:nvPr>
        </p:nvGraphicFramePr>
        <p:xfrm>
          <a:off x="0" y="0"/>
          <a:ext cx="12192004" cy="14057316"/>
        </p:xfrm>
        <a:graphic>
          <a:graphicData uri="http://schemas.openxmlformats.org/drawingml/2006/table">
            <a:tbl>
              <a:tblPr/>
              <a:tblGrid>
                <a:gridCol w="3048001">
                  <a:extLst>
                    <a:ext uri="{9D8B030D-6E8A-4147-A177-3AD203B41FA5}">
                      <a16:colId xmlns:a16="http://schemas.microsoft.com/office/drawing/2014/main" val="2970470141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695865987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65474862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855074793"/>
                    </a:ext>
                  </a:extLst>
                </a:gridCol>
              </a:tblGrid>
              <a:tr h="5360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Line No.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Error Type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Error Description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Correction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312633"/>
                  </a:ext>
                </a:extLst>
              </a:tr>
              <a:tr h="13950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90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Error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Formula used is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2πr²</a:t>
                      </a:r>
                      <a:r>
                        <a:rPr lang="en-IN" sz="1800"/>
                        <a:t> instead of area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πr²</a:t>
                      </a:r>
                      <a:r>
                        <a:rPr lang="en-IN" sz="1800"/>
                        <a:t>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area = 3.14 * radius * radius;</a:t>
                      </a:r>
                      <a:r>
                        <a:rPr lang="en-IN" sz="1800"/>
                        <a:t>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486524"/>
                  </a:ext>
                </a:extLst>
              </a:tr>
              <a:tr h="9655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100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Error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Bonus for salary &gt; 30000 is only 2%.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0.20</a:t>
                      </a:r>
                      <a:r>
                        <a:rPr lang="en-IN" sz="1800"/>
                        <a:t> (20%) if intended.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509556"/>
                  </a:ext>
                </a:extLst>
              </a:tr>
              <a:tr h="18245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102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Error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Bonus for lower salary is 20%, which may be reversed.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Adjust logic as required.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46773"/>
                  </a:ext>
                </a:extLst>
              </a:tr>
              <a:tr h="13950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112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Logical Error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Month 1 prints February instead of January.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Change output to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"January"</a:t>
                      </a:r>
                      <a:r>
                        <a:rPr lang="en-IN" sz="1800"/>
                        <a:t>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333583"/>
                  </a:ext>
                </a:extLst>
              </a:tr>
              <a:tr h="13950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116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Error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Month 2 prints March instead of February.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Change output to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"February"</a:t>
                      </a:r>
                      <a:r>
                        <a:rPr lang="en-IN" sz="1800"/>
                        <a:t>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084740"/>
                  </a:ext>
                </a:extLst>
              </a:tr>
              <a:tr h="13950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120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Error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Month 3 prints April instead of March.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Change output to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"March"</a:t>
                      </a:r>
                      <a:r>
                        <a:rPr lang="en-IN" sz="1800"/>
                        <a:t>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320331"/>
                  </a:ext>
                </a:extLst>
              </a:tr>
              <a:tr h="13950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124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Error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Month 4 prints May instead of April.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Change output to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"April"</a:t>
                      </a:r>
                      <a:r>
                        <a:rPr lang="en-IN" sz="1800"/>
                        <a:t>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068234"/>
                  </a:ext>
                </a:extLst>
              </a:tr>
              <a:tr h="13950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139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Error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When a factor is found,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isPrime</a:t>
                      </a:r>
                      <a:r>
                        <a:rPr lang="en-IN" sz="1800"/>
                        <a:t> remains 1.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Set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isPrime = 0;</a:t>
                      </a:r>
                      <a:r>
                        <a:rPr lang="en-IN" sz="1800"/>
                        <a:t>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238542"/>
                  </a:ext>
                </a:extLst>
              </a:tr>
              <a:tr h="9655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145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Error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Prime number logic is reversed.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If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isPrime == 1</a:t>
                      </a:r>
                      <a:r>
                        <a:rPr lang="en-IN" sz="1800"/>
                        <a:t>, print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"Prime"</a:t>
                      </a:r>
                      <a:r>
                        <a:rPr lang="en-IN" sz="1800"/>
                        <a:t>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150491"/>
                  </a:ext>
                </a:extLst>
              </a:tr>
              <a:tr h="13950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147</a:t>
                      </a:r>
                      <a:endParaRPr lang="en-IN" sz="1800"/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Error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Non-prime number logic is reversed.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Print 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"Not Prime"</a:t>
                      </a:r>
                      <a:r>
                        <a:rPr lang="en-IN" sz="1800" dirty="0"/>
                        <a:t> when </a:t>
                      </a: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isPrime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 == 0</a:t>
                      </a:r>
                      <a:r>
                        <a:rPr lang="en-IN" sz="1800" dirty="0"/>
                        <a:t>.</a:t>
                      </a:r>
                    </a:p>
                  </a:txBody>
                  <a:tcPr marL="68093" marR="68093" marT="34046" marB="340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602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1872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1CB409-652A-D204-29B9-C0380B580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409726"/>
              </p:ext>
            </p:extLst>
          </p:nvPr>
        </p:nvGraphicFramePr>
        <p:xfrm>
          <a:off x="0" y="-1"/>
          <a:ext cx="12192000" cy="14057313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6873611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360602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0135677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51491743"/>
                    </a:ext>
                  </a:extLst>
                </a:gridCol>
              </a:tblGrid>
              <a:tr h="5808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Line No.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Error Type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Error Description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Correction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372257"/>
                  </a:ext>
                </a:extLst>
              </a:tr>
              <a:tr h="24396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158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Logical Error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Discount amount is added instead of subtracted.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Use 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finalAmount = purchaseAmount - discount;</a:t>
                      </a:r>
                      <a:r>
                        <a:rPr lang="en-IN" sz="1900"/>
                        <a:t>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187377"/>
                  </a:ext>
                </a:extLst>
              </a:tr>
              <a:tr h="1974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170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Logical Error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Sum is overwritten each iteration instead of accumulated.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Use 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sum += i;</a:t>
                      </a:r>
                      <a:r>
                        <a:rPr lang="en-IN" sz="1900"/>
                        <a:t>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262533"/>
                  </a:ext>
                </a:extLst>
              </a:tr>
              <a:tr h="15102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180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Logical Error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Temperature 35°C is printed as "Cold Weather".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Reverse the messages or condition.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011451"/>
                  </a:ext>
                </a:extLst>
              </a:tr>
              <a:tr h="15102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190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Logical Error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Grade A prints "Average Performance".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Print 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"Excellent Performance"</a:t>
                      </a:r>
                      <a:r>
                        <a:rPr lang="en-IN" sz="1900"/>
                        <a:t>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263551"/>
                  </a:ext>
                </a:extLst>
              </a:tr>
              <a:tr h="1974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192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Logical Error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Other grades print "Excellent Performance".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Print 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"Average Performance"</a:t>
                      </a:r>
                      <a:r>
                        <a:rPr lang="en-IN" sz="1900"/>
                        <a:t> or another suitable message.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161558"/>
                  </a:ext>
                </a:extLst>
              </a:tr>
              <a:tr h="1974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202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Logical Error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Rectangle area calculated using addition.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Use 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rectangleArea = length * width;</a:t>
                      </a:r>
                      <a:r>
                        <a:rPr lang="en-IN" sz="1900"/>
                        <a:t>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946043"/>
                  </a:ext>
                </a:extLst>
              </a:tr>
              <a:tr h="1045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210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Logical Error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Percentage ≥ 60 prints "Fail".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Print 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"Pass"</a:t>
                      </a:r>
                      <a:r>
                        <a:rPr lang="en-IN" sz="1900"/>
                        <a:t>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183607"/>
                  </a:ext>
                </a:extLst>
              </a:tr>
              <a:tr h="1045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212</a:t>
                      </a:r>
                      <a:endParaRPr lang="en-IN" sz="1900"/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Logical Error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Percentage &lt; 60 prints "Pass".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Print </a:t>
                      </a:r>
                      <a:r>
                        <a:rPr lang="en-IN" sz="1900" dirty="0">
                          <a:latin typeface="Courier New" panose="02070309020205020404" pitchFamily="49" charset="0"/>
                        </a:rPr>
                        <a:t>"Fail"</a:t>
                      </a:r>
                      <a:r>
                        <a:rPr lang="en-IN" sz="1900" dirty="0"/>
                        <a:t>.</a:t>
                      </a:r>
                    </a:p>
                  </a:txBody>
                  <a:tcPr marL="73720" marR="73720" marT="36860" marB="368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809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53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D4A08-1E89-AFD8-423D-2F996A4E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5670107"/>
            <a:ext cx="10515600" cy="2717097"/>
          </a:xfrm>
        </p:spPr>
        <p:txBody>
          <a:bodyPr/>
          <a:lstStyle/>
          <a:p>
            <a:r>
              <a:rPr lang="en-US" dirty="0"/>
              <a:t>Problem 7:-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530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F3FB3D-D59F-96E7-E123-6B304F3F3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55" y="2"/>
            <a:ext cx="4043032" cy="14057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DE565A-5497-C295-C156-7048A3F9A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487" y="0"/>
            <a:ext cx="3896483" cy="140573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2169B5-123E-76D9-7849-FBD57B6AF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970" y="0"/>
            <a:ext cx="3896483" cy="140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70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3E5B02-D2C7-8C1E-0D06-8A585060C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804209"/>
              </p:ext>
            </p:extLst>
          </p:nvPr>
        </p:nvGraphicFramePr>
        <p:xfrm>
          <a:off x="0" y="-1"/>
          <a:ext cx="12192000" cy="14057313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07142149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625934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65953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85457779"/>
                    </a:ext>
                  </a:extLst>
                </a:gridCol>
              </a:tblGrid>
              <a:tr h="4312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Line No.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Error Type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Error Description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Correction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500383"/>
                  </a:ext>
                </a:extLst>
              </a:tr>
              <a:tr h="1466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9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Loop condition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i &lt;= 5</a:t>
                      </a:r>
                      <a:r>
                        <a:rPr lang="en-IN" sz="1400"/>
                        <a:t> accesses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marks[5]</a:t>
                      </a:r>
                      <a:r>
                        <a:rPr lang="en-IN" sz="1400"/>
                        <a:t>, which is out of bounds.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i &lt; 5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144707"/>
                  </a:ext>
                </a:extLst>
              </a:tr>
              <a:tr h="1121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24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Logical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Integer division occurs before storing in float.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average = (float)total / 5;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094418"/>
                  </a:ext>
                </a:extLst>
              </a:tr>
              <a:tr h="1466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32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Loop writes to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numbers[10]</a:t>
                      </a:r>
                      <a:r>
                        <a:rPr lang="en-IN" sz="1400"/>
                        <a:t>, which is out of bounds.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for(i=0; i&lt;10; i++)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994839"/>
                  </a:ext>
                </a:extLst>
              </a:tr>
              <a:tr h="1466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46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Buffer overflow: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"ComputerScience"</a:t>
                      </a:r>
                      <a:r>
                        <a:rPr lang="en-IN" sz="1400"/>
                        <a:t> exceeds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name[10]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Increase array size or use a shorter string.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35052"/>
                  </a:ext>
                </a:extLst>
              </a:tr>
              <a:tr h="1811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54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Syntax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Cannot assign a string directly to a character array: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city = "Delhi";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strcpy(city, "Delhi");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078170"/>
                  </a:ext>
                </a:extLst>
              </a:tr>
              <a:tr h="1121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62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Logical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Strings compared using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IN" sz="1400"/>
                        <a:t> instead of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strcmp()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strcmp(str1, str2) == 0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61531"/>
                  </a:ext>
                </a:extLst>
              </a:tr>
              <a:tr h="1121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75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Security / 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gets()</a:t>
                      </a:r>
                      <a:r>
                        <a:rPr lang="en-IN" sz="1400"/>
                        <a:t> is unsafe and may cause buffer overflow.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fgets()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59599"/>
                  </a:ext>
                </a:extLst>
              </a:tr>
              <a:tr h="1811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84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Possible buffer overflow in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strcat(firstName, lastName)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Ensure destination array is large enough.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013789"/>
                  </a:ext>
                </a:extLst>
              </a:tr>
              <a:tr h="14661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94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Character array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grade</a:t>
                      </a:r>
                      <a:r>
                        <a:rPr lang="en-IN" sz="1400"/>
                        <a:t> is not null-terminated before printing as string.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Add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grade[2] = '\0';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395137"/>
                  </a:ext>
                </a:extLst>
              </a:tr>
              <a:tr h="7761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102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Negative array index: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arr[-1]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Use valid indices 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0–4</a:t>
                      </a:r>
                      <a:r>
                        <a:rPr lang="en-IN" sz="1400" dirty="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492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605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1F90F1-0CAF-D296-DF19-E0C906F55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641134"/>
              </p:ext>
            </p:extLst>
          </p:nvPr>
        </p:nvGraphicFramePr>
        <p:xfrm>
          <a:off x="0" y="-1"/>
          <a:ext cx="12192000" cy="14057309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75530936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1361324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9337763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70570886"/>
                    </a:ext>
                  </a:extLst>
                </a:gridCol>
              </a:tblGrid>
              <a:tr h="4312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Line No.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Error Type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Error Description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Correction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794607"/>
                  </a:ext>
                </a:extLst>
              </a:tr>
              <a:tr h="1466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110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scanf("%s", department)</a:t>
                      </a:r>
                      <a:r>
                        <a:rPr lang="en-IN" sz="1400"/>
                        <a:t> may overflow input buffer.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width specifier: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scanf("%9s", department);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867703"/>
                  </a:ext>
                </a:extLst>
              </a:tr>
              <a:tr h="1466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116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"student@gmail.com"</a:t>
                      </a:r>
                      <a:r>
                        <a:rPr lang="en-IN" sz="1400"/>
                        <a:t> exceeds size of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email[15]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Increase array size.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502017"/>
                  </a:ext>
                </a:extLst>
              </a:tr>
              <a:tr h="1121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128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scores[3]</a:t>
                      </a:r>
                      <a:r>
                        <a:rPr lang="en-IN" sz="1400"/>
                        <a:t> is out of bounds for array size 3.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indices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0–2</a:t>
                      </a:r>
                      <a:r>
                        <a:rPr lang="en-IN" sz="1400"/>
                        <a:t> only.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554683"/>
                  </a:ext>
                </a:extLst>
              </a:tr>
              <a:tr h="1121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138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"Programming"</a:t>
                      </a:r>
                      <a:r>
                        <a:rPr lang="en-IN" sz="1400"/>
                        <a:t> exceeds size of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subject[10]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Increase array size.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516550"/>
                  </a:ext>
                </a:extLst>
              </a:tr>
              <a:tr h="1466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146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Logical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String comparison using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IN" sz="1400"/>
                        <a:t> instead of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strcmp()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strcmp(username, "admin") == 0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966519"/>
                  </a:ext>
                </a:extLst>
              </a:tr>
              <a:tr h="1121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158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"987654321012"</a:t>
                      </a:r>
                      <a:r>
                        <a:rPr lang="en-IN" sz="1400"/>
                        <a:t> exceeds size of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mobile[10]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Increase array size.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852294"/>
                  </a:ext>
                </a:extLst>
              </a:tr>
              <a:tr h="1466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168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Loop condition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i &lt;= 5</a:t>
                      </a:r>
                      <a:r>
                        <a:rPr lang="en-IN" sz="1400"/>
                        <a:t> accesses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attendance[5]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i &lt; 5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857779"/>
                  </a:ext>
                </a:extLst>
              </a:tr>
              <a:tr h="1466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178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course[20]</a:t>
                      </a:r>
                      <a:r>
                        <a:rPr lang="en-IN" sz="1400"/>
                        <a:t> accesses memory beyond valid range.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 index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0–19</a:t>
                      </a:r>
                      <a:r>
                        <a:rPr lang="en-IN" sz="1400"/>
                        <a:t> only.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515480"/>
                  </a:ext>
                </a:extLst>
              </a:tr>
              <a:tr h="1121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190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college</a:t>
                      </a:r>
                      <a:r>
                        <a:rPr lang="en-IN" sz="1400"/>
                        <a:t> string is not null-terminated.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Add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college[5] = '\0';</a:t>
                      </a:r>
                      <a:r>
                        <a:rPr lang="en-IN" sz="140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942358"/>
                  </a:ext>
                </a:extLst>
              </a:tr>
              <a:tr h="18110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210</a:t>
                      </a:r>
                      <a:endParaRPr lang="en-IN" sz="1400"/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Runtime Error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"IT-A"</a:t>
                      </a:r>
                      <a:r>
                        <a:rPr lang="en-IN" sz="1400"/>
                        <a:t> requires 5 bytes including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'\0'</a:t>
                      </a:r>
                      <a:r>
                        <a:rPr lang="en-IN" sz="1400"/>
                        <a:t>, but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section[3]</a:t>
                      </a:r>
                      <a:r>
                        <a:rPr lang="en-IN" sz="1400"/>
                        <a:t> is too small.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Use </a:t>
                      </a:r>
                      <a:r>
                        <a:rPr lang="en-IN" sz="1400" dirty="0">
                          <a:latin typeface="Courier New" panose="02070309020205020404" pitchFamily="49" charset="0"/>
                        </a:rPr>
                        <a:t>char section[5] = "IT-A";</a:t>
                      </a:r>
                      <a:r>
                        <a:rPr lang="en-IN" sz="1400" dirty="0"/>
                        <a:t>.</a:t>
                      </a:r>
                    </a:p>
                  </a:txBody>
                  <a:tcPr marL="54725" marR="54725" marT="27362" marB="273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313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391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8448-BCD2-986F-A7E2-C55D299A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40" y="4985145"/>
            <a:ext cx="10515600" cy="2717097"/>
          </a:xfrm>
        </p:spPr>
        <p:txBody>
          <a:bodyPr/>
          <a:lstStyle/>
          <a:p>
            <a:r>
              <a:rPr lang="en-US" dirty="0"/>
              <a:t>Problem 8:-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292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688215-A980-94E6-2C63-BE6AF420D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0"/>
            <a:ext cx="3400051" cy="140317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732771-3772-35B3-3197-F378B8110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131" y="0"/>
            <a:ext cx="4254833" cy="140573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3A741C-6626-C761-CF42-E2D7E006A3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964" y="25558"/>
            <a:ext cx="3371680" cy="140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51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17C61E-1A4E-9FC0-72A9-8FC20E8D8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473065"/>
              </p:ext>
            </p:extLst>
          </p:nvPr>
        </p:nvGraphicFramePr>
        <p:xfrm>
          <a:off x="0" y="0"/>
          <a:ext cx="12192000" cy="1405731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9067619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7686594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6739733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29713781"/>
                    </a:ext>
                  </a:extLst>
                </a:gridCol>
              </a:tblGrid>
              <a:tr h="571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Line No.</a:t>
                      </a:r>
                      <a:endParaRPr lang="en-IN" sz="19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Error Type</a:t>
                      </a:r>
                      <a:endParaRPr lang="en-IN" sz="19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Error Description</a:t>
                      </a:r>
                      <a:endParaRPr lang="en-IN" sz="19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Correction</a:t>
                      </a:r>
                      <a:endParaRPr lang="en-IN" sz="19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6049"/>
                  </a:ext>
                </a:extLst>
              </a:tr>
              <a:tr h="2400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15</a:t>
                      </a:r>
                      <a:endParaRPr lang="en-IN" sz="19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Syntax / Semantic Error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add(num1)</a:t>
                      </a:r>
                      <a:r>
                        <a:rPr lang="en-IN" sz="1900"/>
                        <a:t> called with only one argument, but function requires two arguments.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Use 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add(num1, num2);</a:t>
                      </a:r>
                      <a:r>
                        <a:rPr lang="en-IN" sz="1900"/>
                        <a:t>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578596"/>
                  </a:ext>
                </a:extLst>
              </a:tr>
              <a:tr h="28571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21</a:t>
                      </a:r>
                      <a:endParaRPr lang="en-IN" sz="19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Syntax / Semantic Error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average(70,80)</a:t>
                      </a:r>
                      <a:r>
                        <a:rPr lang="en-IN" sz="1900"/>
                        <a:t> called with only two arguments, but function requires three arguments.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Use 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average(70,80,90);</a:t>
                      </a:r>
                      <a:r>
                        <a:rPr lang="en-IN" sz="1900"/>
                        <a:t>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063418"/>
                  </a:ext>
                </a:extLst>
              </a:tr>
              <a:tr h="2400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61</a:t>
                      </a:r>
                      <a:endParaRPr lang="en-IN" sz="19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Semantic / Linker Error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calculateGrade()</a:t>
                      </a:r>
                      <a:r>
                        <a:rPr lang="en-IN" sz="1900"/>
                        <a:t> called without declaration and definition.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Add function prototype and definition.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940964"/>
                  </a:ext>
                </a:extLst>
              </a:tr>
              <a:tr h="1942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67</a:t>
                      </a:r>
                      <a:endParaRPr lang="en-IN" sz="19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Semantic / Linker Error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circleArea()</a:t>
                      </a:r>
                      <a:r>
                        <a:rPr lang="en-IN" sz="1900"/>
                        <a:t> called without declaration and definition.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Add function prototype and definition.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715322"/>
                  </a:ext>
                </a:extLst>
              </a:tr>
              <a:tr h="1942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75</a:t>
                      </a:r>
                      <a:endParaRPr lang="en-IN" sz="19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Semantic / Linker Error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sumArray()</a:t>
                      </a:r>
                      <a:r>
                        <a:rPr lang="en-IN" sz="1900"/>
                        <a:t> called without declaration and definition.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Add function prototype and definition.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89829"/>
                  </a:ext>
                </a:extLst>
              </a:tr>
              <a:tr h="19428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 b="1"/>
                        <a:t>81</a:t>
                      </a:r>
                      <a:endParaRPr lang="en-IN" sz="19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900"/>
                        <a:t>Semantic / Linker Error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Courier New" panose="02070309020205020404" pitchFamily="49" charset="0"/>
                        </a:rPr>
                        <a:t>displayResult()</a:t>
                      </a:r>
                      <a:r>
                        <a:rPr lang="en-IN" sz="1900"/>
                        <a:t> called without declaration and definition.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Add function prototype and definition.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468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706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B12AD7-7A69-5EF1-7DC6-1F1E1F4C3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278897"/>
              </p:ext>
            </p:extLst>
          </p:nvPr>
        </p:nvGraphicFramePr>
        <p:xfrm>
          <a:off x="0" y="0"/>
          <a:ext cx="12192000" cy="14057313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5299934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3305192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5069063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00506633"/>
                    </a:ext>
                  </a:extLst>
                </a:gridCol>
              </a:tblGrid>
              <a:tr h="459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Line No.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Error Type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Error Description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Correction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022406"/>
                  </a:ext>
                </a:extLst>
              </a:tr>
              <a:tr h="1561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95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Logical Error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Base case of factorial returns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-IN" sz="1500"/>
                        <a:t>; factorial of 0 should be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IN" sz="1500"/>
                        <a:t>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Change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return 0;</a:t>
                      </a:r>
                      <a:r>
                        <a:rPr lang="en-IN" sz="1500"/>
                        <a:t> to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return 1;</a:t>
                      </a:r>
                      <a:r>
                        <a:rPr lang="en-IN" sz="1500"/>
                        <a:t>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83610"/>
                  </a:ext>
                </a:extLst>
              </a:tr>
              <a:tr h="1929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112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/>
                        <a:t>Logical Error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maximum()</a:t>
                      </a:r>
                      <a:r>
                        <a:rPr lang="en-IN" sz="1500"/>
                        <a:t> returns the smaller value instead of the larger value.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Return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a</a:t>
                      </a:r>
                      <a:r>
                        <a:rPr lang="en-IN" sz="1500"/>
                        <a:t> if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a &gt; b</a:t>
                      </a:r>
                      <a:r>
                        <a:rPr lang="en-IN" sz="1500"/>
                        <a:t>, else return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b</a:t>
                      </a:r>
                      <a:r>
                        <a:rPr lang="en-IN" sz="1500"/>
                        <a:t>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706139"/>
                  </a:ext>
                </a:extLst>
              </a:tr>
              <a:tr h="1929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125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Runtime / Logical Error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Fibonacci recursion uses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fibonacci(n)</a:t>
                      </a:r>
                      <a:r>
                        <a:rPr lang="en-IN" sz="1500"/>
                        <a:t> causing infinite recursion.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Use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return fibonacci(n-1) + fibonacci(n-2);</a:t>
                      </a:r>
                      <a:r>
                        <a:rPr lang="en-IN" sz="1500"/>
                        <a:t>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793356"/>
                  </a:ext>
                </a:extLst>
              </a:tr>
              <a:tr h="1929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138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Logical Error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Percentage formula performs integer division before multiplication.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Use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(marks * 100) / total</a:t>
                      </a:r>
                      <a:r>
                        <a:rPr lang="en-IN" sz="1500"/>
                        <a:t>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179815"/>
                  </a:ext>
                </a:extLst>
              </a:tr>
              <a:tr h="1929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148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Syntax Error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Non-void function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simpleInterest()</a:t>
                      </a:r>
                      <a:r>
                        <a:rPr lang="en-IN" sz="1500"/>
                        <a:t> uses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return;</a:t>
                      </a:r>
                      <a:r>
                        <a:rPr lang="en-IN" sz="1500"/>
                        <a:t> without a value.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Use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return si;</a:t>
                      </a:r>
                      <a:r>
                        <a:rPr lang="en-IN" sz="1500"/>
                        <a:t>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702707"/>
                  </a:ext>
                </a:extLst>
              </a:tr>
              <a:tr h="1561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163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Logical Error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Power calculation loop runs one time less than required.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Use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for(int i=0; i&lt;exp; i++)</a:t>
                      </a:r>
                      <a:r>
                        <a:rPr lang="en-IN" sz="1500"/>
                        <a:t> or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i&lt;=exp</a:t>
                      </a:r>
                      <a:r>
                        <a:rPr lang="en-IN" sz="1500"/>
                        <a:t>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644891"/>
                  </a:ext>
                </a:extLst>
              </a:tr>
              <a:tr h="1194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181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Semantic Warning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reverseNumber()</a:t>
                      </a:r>
                      <a:r>
                        <a:rPr lang="en-IN" sz="1500"/>
                        <a:t> does not return any value.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Add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return rev;</a:t>
                      </a:r>
                      <a:r>
                        <a:rPr lang="en-IN" sz="1500"/>
                        <a:t>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588825"/>
                  </a:ext>
                </a:extLst>
              </a:tr>
              <a:tr h="1561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197</a:t>
                      </a:r>
                      <a:endParaRPr lang="en-IN" sz="1500"/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Logical Error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isPrime()</a:t>
                      </a:r>
                      <a:r>
                        <a:rPr lang="en-IN" sz="1500"/>
                        <a:t> returns 1 when number is not prime.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Return </a:t>
                      </a:r>
                      <a:r>
                        <a:rPr lang="en-IN" sz="1500" dirty="0"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-IN" sz="1500" dirty="0"/>
                        <a:t> when factor found, otherwise return </a:t>
                      </a:r>
                      <a:r>
                        <a:rPr lang="en-IN" sz="1500" dirty="0"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IN" sz="1500" dirty="0"/>
                        <a:t>.</a:t>
                      </a:r>
                    </a:p>
                  </a:txBody>
                  <a:tcPr marL="58302" marR="58302" marT="29151" marB="291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099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735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EDC679-0E6F-4534-771C-E223EC9C7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451878"/>
              </p:ext>
            </p:extLst>
          </p:nvPr>
        </p:nvGraphicFramePr>
        <p:xfrm>
          <a:off x="0" y="0"/>
          <a:ext cx="12192000" cy="1405731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187264197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8898272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3555454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85650490"/>
                    </a:ext>
                  </a:extLst>
                </a:gridCol>
              </a:tblGrid>
              <a:tr h="5448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Line No.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Error Type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Error Description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Correction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095911"/>
                  </a:ext>
                </a:extLst>
              </a:tr>
              <a:tr h="185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220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Runtime Error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Loop condition </a:t>
                      </a: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 &lt;= size</a:t>
                      </a:r>
                      <a:r>
                        <a:rPr lang="en-IN" sz="1800" dirty="0"/>
                        <a:t> accesses array out of bounds.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i &lt; size</a:t>
                      </a:r>
                      <a:r>
                        <a:rPr lang="en-IN" sz="1800"/>
                        <a:t>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994779"/>
                  </a:ext>
                </a:extLst>
              </a:tr>
              <a:tr h="185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227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Runtime Error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Infinite recursion in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recursiveDemo()</a:t>
                      </a:r>
                      <a:r>
                        <a:rPr lang="en-IN" sz="1800"/>
                        <a:t>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Add a terminating base condition.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932356"/>
                  </a:ext>
                </a:extLst>
              </a:tr>
              <a:tr h="185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237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Error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Rectangle area calculated using addition instead of multiplication.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length * width</a:t>
                      </a:r>
                      <a:r>
                        <a:rPr lang="en-IN" sz="1800"/>
                        <a:t>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259938"/>
                  </a:ext>
                </a:extLst>
              </a:tr>
              <a:tr h="1416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247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Error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cube()</a:t>
                      </a:r>
                      <a:r>
                        <a:rPr lang="en-IN" sz="1800"/>
                        <a:t> calculates square instead of cube.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return n * n * n;</a:t>
                      </a:r>
                      <a:r>
                        <a:rPr lang="en-IN" sz="1800"/>
                        <a:t>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8246330"/>
                  </a:ext>
                </a:extLst>
              </a:tr>
              <a:tr h="2288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191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Logical Issue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updateValue()</a:t>
                      </a:r>
                      <a:r>
                        <a:rPr lang="en-IN" sz="1800"/>
                        <a:t> modifies local copy only; original variable remains unchanged.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Pass pointer (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int *x</a:t>
                      </a:r>
                      <a:r>
                        <a:rPr lang="en-IN" sz="1800"/>
                        <a:t>) and modify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*x</a:t>
                      </a:r>
                      <a:r>
                        <a:rPr lang="en-IN" sz="1800"/>
                        <a:t>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5984"/>
                  </a:ext>
                </a:extLst>
              </a:tr>
              <a:tr h="1416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131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Warning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printMessage()</a:t>
                      </a:r>
                      <a:r>
                        <a:rPr lang="en-IN" sz="1800"/>
                        <a:t> is defined but never called.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Call the function or remove it.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639697"/>
                  </a:ext>
                </a:extLst>
              </a:tr>
              <a:tr h="1416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152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Warning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displayMenu()</a:t>
                      </a:r>
                      <a:r>
                        <a:rPr lang="en-IN" sz="1800"/>
                        <a:t> is defined but never called.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Call the function or remove it.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439228"/>
                  </a:ext>
                </a:extLst>
              </a:tr>
              <a:tr h="1416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243</a:t>
                      </a:r>
                      <a:endParaRPr lang="en-IN" sz="1800"/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Warning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square()</a:t>
                      </a:r>
                      <a:r>
                        <a:rPr lang="en-IN" sz="1800"/>
                        <a:t> is defined but never called.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Call the function or remove it.</a:t>
                      </a:r>
                    </a:p>
                  </a:txBody>
                  <a:tcPr marL="69149" marR="69149" marT="34574" marB="345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682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046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CE8AD-3CBD-766C-D1BE-BF5F57B26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4907" y="5484548"/>
            <a:ext cx="10515600" cy="2717097"/>
          </a:xfrm>
        </p:spPr>
        <p:txBody>
          <a:bodyPr/>
          <a:lstStyle/>
          <a:p>
            <a:r>
              <a:rPr lang="en-US" dirty="0"/>
              <a:t>Problem 9:-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529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7425EF-19C5-0E1B-03C6-5B37E8EE6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45466" cy="14126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129E1F-A25D-D6F1-DE38-A92BE4408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221" y="-1"/>
            <a:ext cx="4896050" cy="140573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99D65-648D-95FE-49F5-B9FF0C4F99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377" y="-69086"/>
            <a:ext cx="4198623" cy="140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546178-6A62-5BCA-9D3E-33743135E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52832"/>
              </p:ext>
            </p:extLst>
          </p:nvPr>
        </p:nvGraphicFramePr>
        <p:xfrm>
          <a:off x="0" y="0"/>
          <a:ext cx="12192000" cy="1405731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5896897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7553797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1175635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57020877"/>
                    </a:ext>
                  </a:extLst>
                </a:gridCol>
              </a:tblGrid>
              <a:tr h="4170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Line No.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Error Type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Error Description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Correction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818910"/>
                  </a:ext>
                </a:extLst>
              </a:tr>
              <a:tr h="1087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13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Runtime Error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Uninitialized pointer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ptr1</a:t>
                      </a:r>
                      <a:r>
                        <a:rPr lang="en-IN" sz="1500"/>
                        <a:t> is dereferenced.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Initialize pointer before use.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450278"/>
                  </a:ext>
                </a:extLst>
              </a:tr>
              <a:tr h="1087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17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Runtime Error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NULL pointer dereference: </a:t>
                      </a:r>
                      <a:r>
                        <a:rPr lang="en-IN" sz="1500" dirty="0">
                          <a:latin typeface="Courier New" panose="02070309020205020404" pitchFamily="49" charset="0"/>
                        </a:rPr>
                        <a:t>*ptr2 = 100;</a:t>
                      </a:r>
                      <a:endParaRPr lang="en-IN" sz="1500" dirty="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Allocate memory or assign a valid address.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86959"/>
                  </a:ext>
                </a:extLst>
              </a:tr>
              <a:tr h="14229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27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Runtime Error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ptr3++</a:t>
                      </a:r>
                      <a:r>
                        <a:rPr lang="en-IN" sz="1500"/>
                        <a:t> moves pointer beyond variable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en-IN" sz="1500"/>
                        <a:t>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Do not increment pointer pointing to a single variable.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394092"/>
                  </a:ext>
                </a:extLst>
              </a:tr>
              <a:tr h="1087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29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Runtime Error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Dereferencing invalid pointer after increment.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Access only valid memory locations.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09154"/>
                  </a:ext>
                </a:extLst>
              </a:tr>
              <a:tr h="1087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35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Runtime Error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*(ptr4 + 10)</a:t>
                      </a:r>
                      <a:r>
                        <a:rPr lang="en-IN" sz="1500"/>
                        <a:t> accesses array beyond bounds.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Use indices within array range (0–4).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167641"/>
                  </a:ext>
                </a:extLst>
              </a:tr>
              <a:tr h="14229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45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Runtime Error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Use-after-free: accessing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*ptr5</a:t>
                      </a:r>
                      <a:r>
                        <a:rPr lang="en-IN" sz="1500"/>
                        <a:t> after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free(ptr5)</a:t>
                      </a:r>
                      <a:r>
                        <a:rPr lang="en-IN" sz="1500"/>
                        <a:t>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Do not access memory after freeing it.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210635"/>
                  </a:ext>
                </a:extLst>
              </a:tr>
              <a:tr h="14229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53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Memory Leak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Memory allocated to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ptr6</a:t>
                      </a:r>
                      <a:r>
                        <a:rPr lang="en-IN" sz="1500"/>
                        <a:t> is lost after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ptr6 = NULL</a:t>
                      </a:r>
                      <a:r>
                        <a:rPr lang="en-IN" sz="1500"/>
                        <a:t>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Free memory before assigning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NULL</a:t>
                      </a:r>
                      <a:r>
                        <a:rPr lang="en-IN" sz="1500"/>
                        <a:t>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681103"/>
                  </a:ext>
                </a:extLst>
              </a:tr>
              <a:tr h="14229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61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Runtime Error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Writing 10 integers into only 5 allocated bytes.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Allocate enough memory: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malloc(10 * sizeof(int))</a:t>
                      </a:r>
                      <a:r>
                        <a:rPr lang="en-IN" sz="1500"/>
                        <a:t>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81285"/>
                  </a:ext>
                </a:extLst>
              </a:tr>
              <a:tr h="1087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73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Runtime Error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ptr8[3]</a:t>
                      </a:r>
                      <a:r>
                        <a:rPr lang="en-IN" sz="1500"/>
                        <a:t> is out of bounds for array of size 3.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Use valid indices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0–2</a:t>
                      </a:r>
                      <a:r>
                        <a:rPr lang="en-IN" sz="1500"/>
                        <a:t>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759784"/>
                  </a:ext>
                </a:extLst>
              </a:tr>
              <a:tr h="1087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83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Runtime Error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Double free: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free(ptr9)</a:t>
                      </a:r>
                      <a:r>
                        <a:rPr lang="en-IN" sz="1500"/>
                        <a:t> called twice.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Free memory only once.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579329"/>
                  </a:ext>
                </a:extLst>
              </a:tr>
              <a:tr h="14229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89</a:t>
                      </a:r>
                      <a:endParaRPr lang="en-IN" sz="1500"/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/>
                        <a:t>Runtime Error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Reading uninitialized memory: </a:t>
                      </a:r>
                      <a:r>
                        <a:rPr lang="en-IN" sz="1500">
                          <a:latin typeface="Courier New" panose="02070309020205020404" pitchFamily="49" charset="0"/>
                        </a:rPr>
                        <a:t>*ptr10</a:t>
                      </a:r>
                      <a:r>
                        <a:rPr lang="en-IN" sz="1500"/>
                        <a:t>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Initialize allocated memory before reading.</a:t>
                      </a:r>
                    </a:p>
                  </a:txBody>
                  <a:tcPr marL="55751" marR="55751" marT="27876" marB="27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443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902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6BB222-B595-39C6-4AC7-06707FD6B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063635"/>
              </p:ext>
            </p:extLst>
          </p:nvPr>
        </p:nvGraphicFramePr>
        <p:xfrm>
          <a:off x="0" y="1"/>
          <a:ext cx="12192000" cy="14057314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4145867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9589174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4280449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45162582"/>
                    </a:ext>
                  </a:extLst>
                </a:gridCol>
              </a:tblGrid>
              <a:tr h="3042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Line No.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Error Type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Error Description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Correction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206522"/>
                  </a:ext>
                </a:extLst>
              </a:tr>
              <a:tr h="1034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97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Runtime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Loop condition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 &lt;= 5</a:t>
                      </a:r>
                      <a:r>
                        <a:rPr lang="en-IN" sz="1000"/>
                        <a:t> writes to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numbers[5]</a:t>
                      </a:r>
                      <a:r>
                        <a:rPr lang="en-IN" sz="1000"/>
                        <a:t> (out of bounds).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 &lt; 5</a:t>
                      </a:r>
                      <a:r>
                        <a:rPr lang="en-IN" sz="1000"/>
                        <a:t>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397146"/>
                  </a:ext>
                </a:extLst>
              </a:tr>
              <a:tr h="7911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113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Semantic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pptr = &amp;value;</a:t>
                      </a:r>
                      <a:r>
                        <a:rPr lang="en-IN" sz="1000"/>
                        <a:t> assigns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int*</a:t>
                      </a:r>
                      <a:r>
                        <a:rPr lang="en-IN" sz="1000"/>
                        <a:t> to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int**</a:t>
                      </a:r>
                      <a:r>
                        <a:rPr lang="en-IN" sz="1000"/>
                        <a:t>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pptr = &amp;ptr;</a:t>
                      </a:r>
                      <a:r>
                        <a:rPr lang="en-IN" sz="1000"/>
                        <a:t> where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ptr</a:t>
                      </a:r>
                      <a:r>
                        <a:rPr lang="en-IN" sz="1000"/>
                        <a:t> is an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int*</a:t>
                      </a:r>
                      <a:r>
                        <a:rPr lang="en-IN" sz="1000"/>
                        <a:t>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399161"/>
                  </a:ext>
                </a:extLst>
              </a:tr>
              <a:tr h="7911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115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Runtime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Invalid double dereference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**pptr</a:t>
                      </a:r>
                      <a:r>
                        <a:rPr lang="en-IN" sz="1000"/>
                        <a:t>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Ensure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pptr</a:t>
                      </a:r>
                      <a:r>
                        <a:rPr lang="en-IN" sz="1000"/>
                        <a:t> points to a valid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int*</a:t>
                      </a:r>
                      <a:r>
                        <a:rPr lang="en-IN" sz="1000"/>
                        <a:t>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83404"/>
                  </a:ext>
                </a:extLst>
              </a:tr>
              <a:tr h="1034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121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Runtime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Buffer overflow: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"Programming"</a:t>
                      </a:r>
                      <a:r>
                        <a:rPr lang="en-IN" sz="1000"/>
                        <a:t> exceeds allocated 5 bytes.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Allocate sufficient memory.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769282"/>
                  </a:ext>
                </a:extLst>
              </a:tr>
              <a:tr h="1034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131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Runtime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Pointer increment moves beyond allocated memory.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Do not increment beyond allocated block.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026551"/>
                  </a:ext>
                </a:extLst>
              </a:tr>
              <a:tr h="7911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133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Runtime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Dereferencing invalid pointer after increment.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Access only valid allocated memory.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744364"/>
                  </a:ext>
                </a:extLst>
              </a:tr>
              <a:tr h="1034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137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Runtime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NULL pointer dereference in condition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*ptr12 &gt; 0</a:t>
                      </a:r>
                      <a:r>
                        <a:rPr lang="en-IN" sz="1000"/>
                        <a:t>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Check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ptr12 != NULL</a:t>
                      </a:r>
                      <a:r>
                        <a:rPr lang="en-IN" sz="1000"/>
                        <a:t> first.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065434"/>
                  </a:ext>
                </a:extLst>
              </a:tr>
              <a:tr h="1034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151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Runtime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ptr13[100]</a:t>
                      </a:r>
                      <a:r>
                        <a:rPr lang="en-IN" sz="1000"/>
                        <a:t> is out of bounds (valid indices 0–99).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 indices within allocated range.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495220"/>
                  </a:ext>
                </a:extLst>
              </a:tr>
              <a:tr h="1034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159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Runtime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Use-after-free: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*ptr14 = 999;</a:t>
                      </a:r>
                      <a:r>
                        <a:rPr lang="en-IN" sz="1000"/>
                        <a:t> after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free(ptr14)</a:t>
                      </a:r>
                      <a:r>
                        <a:rPr lang="en-IN" sz="1000"/>
                        <a:t>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Do not access freed memory.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225552"/>
                  </a:ext>
                </a:extLst>
              </a:tr>
              <a:tr h="1277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167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Warning / Semantic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p = matrix;</a:t>
                      </a:r>
                      <a:r>
                        <a:rPr lang="en-IN" sz="1000"/>
                        <a:t> incompatible pointer type (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int (*)[3]</a:t>
                      </a:r>
                      <a:r>
                        <a:rPr lang="en-IN" sz="1000"/>
                        <a:t> to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int *</a:t>
                      </a:r>
                      <a:r>
                        <a:rPr lang="en-IN" sz="1000"/>
                        <a:t>).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p = &amp;matrix[0][0];</a:t>
                      </a:r>
                      <a:r>
                        <a:rPr lang="en-IN" sz="1000"/>
                        <a:t>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612401"/>
                  </a:ext>
                </a:extLst>
              </a:tr>
              <a:tr h="1034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169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Runtime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*(p + 20)</a:t>
                      </a:r>
                      <a:r>
                        <a:rPr lang="en-IN" sz="1000"/>
                        <a:t> accesses memory outside matrix bounds.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 valid indices only.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365955"/>
                  </a:ext>
                </a:extLst>
              </a:tr>
              <a:tr h="1034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177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Memory Leak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First allocated memory for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ptr15</a:t>
                      </a:r>
                      <a:r>
                        <a:rPr lang="en-IN" sz="1000"/>
                        <a:t> is lost when reassigned.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Free old memory before reassigning.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740682"/>
                  </a:ext>
                </a:extLst>
              </a:tr>
              <a:tr h="10345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188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Runtime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Loop condition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 &lt;= size</a:t>
                      </a:r>
                      <a:r>
                        <a:rPr lang="en-IN" sz="1000"/>
                        <a:t> accesses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arr[size]</a:t>
                      </a:r>
                      <a:r>
                        <a:rPr lang="en-IN" sz="1000"/>
                        <a:t>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 &lt; size</a:t>
                      </a:r>
                      <a:r>
                        <a:rPr lang="en-IN" sz="1000"/>
                        <a:t>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005385"/>
                  </a:ext>
                </a:extLst>
              </a:tr>
              <a:tr h="7911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/>
                        <a:t>180</a:t>
                      </a:r>
                      <a:endParaRPr lang="en-IN" sz="1000"/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/>
                        <a:t>Logical Error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swap()</a:t>
                      </a:r>
                      <a:r>
                        <a:rPr lang="en-IN" sz="1000"/>
                        <a:t> swaps local pointers, not actual values.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Use </a:t>
                      </a:r>
                      <a:r>
                        <a:rPr lang="en-IN" sz="1000" dirty="0">
                          <a:latin typeface="Courier New" panose="02070309020205020404" pitchFamily="49" charset="0"/>
                        </a:rPr>
                        <a:t>int temp = *a; *a = *b; *b = temp;</a:t>
                      </a:r>
                      <a:r>
                        <a:rPr lang="en-IN" sz="1000" dirty="0"/>
                        <a:t>.</a:t>
                      </a:r>
                    </a:p>
                  </a:txBody>
                  <a:tcPr marL="38615" marR="38615" marT="19308" marB="193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036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366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531246D-0E71-7531-D126-A58F4C7FB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1462" y="5670107"/>
            <a:ext cx="10515600" cy="2717097"/>
          </a:xfrm>
        </p:spPr>
        <p:txBody>
          <a:bodyPr/>
          <a:lstStyle/>
          <a:p>
            <a:r>
              <a:rPr lang="en-US" dirty="0"/>
              <a:t>Problem 10:-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2075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0B9BE3-8945-F481-14D3-F7BFE61D1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738" y="-61597"/>
            <a:ext cx="3024553" cy="14180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FA57D3-CB82-5587-CFD7-19F695D53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291" y="-61597"/>
            <a:ext cx="3025581" cy="140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82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F06BEA-42D9-0CEF-2EAF-CDD4762F6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767741"/>
              </p:ext>
            </p:extLst>
          </p:nvPr>
        </p:nvGraphicFramePr>
        <p:xfrm>
          <a:off x="0" y="0"/>
          <a:ext cx="12192000" cy="1405731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60397392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3413020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431897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7039339"/>
                    </a:ext>
                  </a:extLst>
                </a:gridCol>
              </a:tblGrid>
              <a:tr h="651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Line No.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Error Type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Error Description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Correction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640063"/>
                  </a:ext>
                </a:extLst>
              </a:tr>
              <a:tr h="1232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11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Syntax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Missing semicolon after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int choice = 1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;</a:t>
                      </a:r>
                      <a:r>
                        <a:rPr lang="en-IN" sz="1300"/>
                        <a:t> →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int choice = 1;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417928"/>
                  </a:ext>
                </a:extLst>
              </a:tr>
              <a:tr h="941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13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Semantic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String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"90"</a:t>
                      </a:r>
                      <a:r>
                        <a:rPr lang="en-IN" sz="1300"/>
                        <a:t> assigned to integer variable.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int marks = 90;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95233"/>
                  </a:ext>
                </a:extLst>
              </a:tr>
              <a:tr h="1232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19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Semantic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add(a)</a:t>
                      </a:r>
                      <a:r>
                        <a:rPr lang="en-IN" sz="1300"/>
                        <a:t> called with one argument instead of two.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add(a, b);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322670"/>
                  </a:ext>
                </a:extLst>
              </a:tr>
              <a:tr h="1232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23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Assignment operator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IN" sz="1300"/>
                        <a:t> used instead of comparison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IN" sz="1300"/>
                        <a:t>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if(a == b)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068620"/>
                  </a:ext>
                </a:extLst>
              </a:tr>
              <a:tr h="651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28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Semantic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Variable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score</a:t>
                      </a:r>
                      <a:r>
                        <a:rPr lang="en-IN" sz="1300"/>
                        <a:t> is not declared.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Declare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score</a:t>
                      </a:r>
                      <a:r>
                        <a:rPr lang="en-IN" sz="1300"/>
                        <a:t> before use.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448700"/>
                  </a:ext>
                </a:extLst>
              </a:tr>
              <a:tr h="941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32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Runtime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arr[10]</a:t>
                      </a:r>
                      <a:r>
                        <a:rPr lang="en-IN" sz="1300"/>
                        <a:t> is outside bounds of array size 5.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indices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0–4</a:t>
                      </a:r>
                      <a:r>
                        <a:rPr lang="en-IN" sz="1300"/>
                        <a:t> only.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137276"/>
                  </a:ext>
                </a:extLst>
              </a:tr>
              <a:tr h="651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34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Runtime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Negative index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arr[-1]</a:t>
                      </a:r>
                      <a:r>
                        <a:rPr lang="en-IN" sz="1300"/>
                        <a:t>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a valid array index.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237785"/>
                  </a:ext>
                </a:extLst>
              </a:tr>
              <a:tr h="15228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38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Runtime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Buffer overflow: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"ProgrammingLanguage"</a:t>
                      </a:r>
                      <a:r>
                        <a:rPr lang="en-IN" sz="1300"/>
                        <a:t> exceeds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name[10]</a:t>
                      </a:r>
                      <a:r>
                        <a:rPr lang="en-IN" sz="1300"/>
                        <a:t>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Increase array size or shorten string.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597402"/>
                  </a:ext>
                </a:extLst>
              </a:tr>
              <a:tr h="941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44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Syntax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Cannot assign string directly to character array.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strcpy(city, "Delhi");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56001"/>
                  </a:ext>
                </a:extLst>
              </a:tr>
              <a:tr h="1232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52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Logical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String comparison using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IN" sz="1300"/>
                        <a:t>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strcmp(user, "admin") == 0</a:t>
                      </a:r>
                      <a:r>
                        <a:rPr lang="en-IN" sz="1300"/>
                        <a:t>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35017"/>
                  </a:ext>
                </a:extLst>
              </a:tr>
              <a:tr h="941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60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Runtime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Division by zero (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x / y</a:t>
                      </a:r>
                      <a:r>
                        <a:rPr lang="en-IN" sz="1300"/>
                        <a:t>, where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y = 0</a:t>
                      </a:r>
                      <a:r>
                        <a:rPr lang="en-IN" sz="1300"/>
                        <a:t>).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Check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y != 0</a:t>
                      </a:r>
                      <a:r>
                        <a:rPr lang="en-IN" sz="1300"/>
                        <a:t> before division.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239251"/>
                  </a:ext>
                </a:extLst>
              </a:tr>
              <a:tr h="941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64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Runtime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NULL pointer dereference: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*ptr1 = 500</a:t>
                      </a:r>
                      <a:r>
                        <a:rPr lang="en-IN" sz="1300"/>
                        <a:t>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Allocate memory or assign valid address.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01613"/>
                  </a:ext>
                </a:extLst>
              </a:tr>
              <a:tr h="941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68</a:t>
                      </a:r>
                      <a:endParaRPr lang="en-IN" sz="1300"/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Runtime Error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Dereferencing uninitialized pointer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ptr2</a:t>
                      </a:r>
                      <a:r>
                        <a:rPr lang="en-IN" sz="1300"/>
                        <a:t>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Initialize pointer before use.</a:t>
                      </a:r>
                    </a:p>
                  </a:txBody>
                  <a:tcPr marL="47958" marR="47958" marT="23979" marB="239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595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728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199CDC-E7EA-4011-9921-C248D66D9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603684"/>
              </p:ext>
            </p:extLst>
          </p:nvPr>
        </p:nvGraphicFramePr>
        <p:xfrm>
          <a:off x="0" y="-1"/>
          <a:ext cx="12192000" cy="14057313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90914095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6106054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67028008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30276848"/>
                    </a:ext>
                  </a:extLst>
                </a:gridCol>
              </a:tblGrid>
              <a:tr h="4778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Line No.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Error Type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Error Description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Correction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620132"/>
                  </a:ext>
                </a:extLst>
              </a:tr>
              <a:tr h="16257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78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Runtime Error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Use-after-free: accessing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*ptr3</a:t>
                      </a:r>
                      <a:r>
                        <a:rPr lang="en-IN" sz="1600"/>
                        <a:t> after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free(ptr3)</a:t>
                      </a:r>
                      <a:r>
                        <a:rPr lang="en-IN" sz="1600"/>
                        <a:t>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Do not access freed memory.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734883"/>
                  </a:ext>
                </a:extLst>
              </a:tr>
              <a:tr h="8605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80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Runtime Error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Double free of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ptr3</a:t>
                      </a:r>
                      <a:r>
                        <a:rPr lang="en-IN" sz="1600"/>
                        <a:t>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Free memory only once.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155741"/>
                  </a:ext>
                </a:extLst>
              </a:tr>
              <a:tr h="16257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88</a:t>
                      </a:r>
                      <a:endParaRPr lang="en-IN" sz="1600" dirty="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Runtime Error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Heap buffer overflow: writing 10 elements into 5-byte allocation.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Allocate enough memory or reduce loop limit.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671497"/>
                  </a:ext>
                </a:extLst>
              </a:tr>
              <a:tr h="1243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98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Semantic Error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average(70,80)</a:t>
                      </a:r>
                      <a:r>
                        <a:rPr lang="en-IN" sz="1600"/>
                        <a:t> called with only two arguments.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average(70,80,90);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938431"/>
                  </a:ext>
                </a:extLst>
              </a:tr>
              <a:tr h="1243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106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Logical Error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Age &gt; 18 prints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"Not Eligible"</a:t>
                      </a:r>
                      <a:r>
                        <a:rPr lang="en-IN" sz="1600"/>
                        <a:t>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Print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"Eligible"</a:t>
                      </a:r>
                      <a:r>
                        <a:rPr lang="en-IN" sz="1600"/>
                        <a:t> for age ≥ 18.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741509"/>
                  </a:ext>
                </a:extLst>
              </a:tr>
              <a:tr h="1243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117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Logical Error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isPrime</a:t>
                      </a:r>
                      <a:r>
                        <a:rPr lang="en-IN" sz="1600"/>
                        <a:t> remains 1 when a factor is found.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Set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isPrime = 0;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532858"/>
                  </a:ext>
                </a:extLst>
              </a:tr>
              <a:tr h="1243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123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Logical Error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Prime logic reversed.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Print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"Prime"</a:t>
                      </a:r>
                      <a:r>
                        <a:rPr lang="en-IN" sz="1600"/>
                        <a:t> when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isPrime == 1</a:t>
                      </a:r>
                      <a:r>
                        <a:rPr lang="en-IN" sz="1600"/>
                        <a:t>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104583"/>
                  </a:ext>
                </a:extLst>
              </a:tr>
              <a:tr h="1243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125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Logical Error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Non-prime logic reversed.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Print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"Not Prime"</a:t>
                      </a:r>
                      <a:r>
                        <a:rPr lang="en-IN" sz="1600"/>
                        <a:t> when </a:t>
                      </a:r>
                      <a:r>
                        <a:rPr lang="en-IN" sz="1600">
                          <a:latin typeface="Courier New" panose="02070309020205020404" pitchFamily="49" charset="0"/>
                        </a:rPr>
                        <a:t>isPrime == 0</a:t>
                      </a:r>
                      <a:r>
                        <a:rPr lang="en-IN" sz="1600"/>
                        <a:t>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054199"/>
                  </a:ext>
                </a:extLst>
              </a:tr>
              <a:tr h="12431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129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Linker Error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displayReport()</a:t>
                      </a:r>
                      <a:r>
                        <a:rPr lang="en-IN" sz="1600"/>
                        <a:t> declared but not defined.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Add function definition.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903090"/>
                  </a:ext>
                </a:extLst>
              </a:tr>
              <a:tr h="20084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131</a:t>
                      </a:r>
                      <a:endParaRPr lang="en-IN" sz="1600"/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Semantic / Linker Error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calculateSalary()</a:t>
                      </a:r>
                      <a:r>
                        <a:rPr lang="en-IN" sz="1600"/>
                        <a:t> called without declaration and definition.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Add prototype and function definition.</a:t>
                      </a:r>
                    </a:p>
                  </a:txBody>
                  <a:tcPr marL="60681" marR="60681" marT="30341" marB="303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225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1507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9C5C88-2493-8CBE-B04B-BE8F3497F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772531"/>
              </p:ext>
            </p:extLst>
          </p:nvPr>
        </p:nvGraphicFramePr>
        <p:xfrm>
          <a:off x="0" y="-1"/>
          <a:ext cx="12192000" cy="14057317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159254077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9411109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3433464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92474052"/>
                    </a:ext>
                  </a:extLst>
                </a:gridCol>
              </a:tblGrid>
              <a:tr h="5997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/>
                        <a:t>Line No.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/>
                        <a:t>Error Type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/>
                        <a:t>Error Description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b="1"/>
                        <a:t>Correction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965033"/>
                  </a:ext>
                </a:extLst>
              </a:tr>
              <a:tr h="20430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/>
                        <a:t>139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/>
                        <a:t>Runtime Error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fscanf()</a:t>
                      </a:r>
                      <a:r>
                        <a:rPr lang="en-IN" sz="2100"/>
                        <a:t> may operate on NULL file pointer if file open fails.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Check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if(fp != NULL)</a:t>
                      </a:r>
                      <a:r>
                        <a:rPr lang="en-IN" sz="2100"/>
                        <a:t> before reading.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905181"/>
                  </a:ext>
                </a:extLst>
              </a:tr>
              <a:tr h="1080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/>
                        <a:t>145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dirty="0"/>
                        <a:t>Syntax Error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Missing colon after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case 1</a:t>
                      </a:r>
                      <a:r>
                        <a:rPr lang="en-IN" sz="2100"/>
                        <a:t>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Use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case 1: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555648"/>
                  </a:ext>
                </a:extLst>
              </a:tr>
              <a:tr h="1561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/>
                        <a:t>156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/>
                        <a:t>Semantic Warning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Multi-character constant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'AB'</a:t>
                      </a:r>
                      <a:r>
                        <a:rPr lang="en-IN" sz="2100"/>
                        <a:t> assigned to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char</a:t>
                      </a:r>
                      <a:r>
                        <a:rPr lang="en-IN" sz="2100"/>
                        <a:t>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Use a single character such as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'A'</a:t>
                      </a:r>
                      <a:r>
                        <a:rPr lang="en-IN" sz="2100"/>
                        <a:t>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873632"/>
                  </a:ext>
                </a:extLst>
              </a:tr>
              <a:tr h="1561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/>
                        <a:t>165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/>
                        <a:t>Runtime Error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scores[3]</a:t>
                      </a:r>
                      <a:r>
                        <a:rPr lang="en-IN" sz="2100"/>
                        <a:t> out of bounds for array size 3.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Use indices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0–2</a:t>
                      </a:r>
                      <a:r>
                        <a:rPr lang="en-IN" sz="2100"/>
                        <a:t> only.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334548"/>
                  </a:ext>
                </a:extLst>
              </a:tr>
              <a:tr h="1561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/>
                        <a:t>169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/>
                        <a:t>Runtime Error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Loop condition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i &lt;= 3</a:t>
                      </a:r>
                      <a:r>
                        <a:rPr lang="en-IN" sz="2100"/>
                        <a:t> accesses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scores[3]</a:t>
                      </a:r>
                      <a:r>
                        <a:rPr lang="en-IN" sz="2100"/>
                        <a:t>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Use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i &lt; 3</a:t>
                      </a:r>
                      <a:r>
                        <a:rPr lang="en-IN" sz="2100"/>
                        <a:t>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179278"/>
                  </a:ext>
                </a:extLst>
              </a:tr>
              <a:tr h="1561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/>
                        <a:t>181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/>
                        <a:t>Logical Error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Incorrect circle area formula (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2πr²</a:t>
                      </a:r>
                      <a:r>
                        <a:rPr lang="en-IN" sz="2100"/>
                        <a:t>).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Use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3.14 * radius * radius</a:t>
                      </a:r>
                      <a:r>
                        <a:rPr lang="en-IN" sz="2100"/>
                        <a:t>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402315"/>
                  </a:ext>
                </a:extLst>
              </a:tr>
              <a:tr h="2524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/>
                        <a:t>185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/>
                        <a:t>Logical / Syntax Error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Extra semicolon after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while(choice &gt; 0)</a:t>
                      </a:r>
                      <a:r>
                        <a:rPr lang="en-IN" sz="2100"/>
                        <a:t> creates empty loop.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Remove the semicolon.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858896"/>
                  </a:ext>
                </a:extLst>
              </a:tr>
              <a:tr h="1561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/>
                        <a:t>190</a:t>
                      </a:r>
                      <a:endParaRPr lang="en-IN" sz="2100"/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/>
                        <a:t>Syntax Error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continue</a:t>
                      </a:r>
                      <a:r>
                        <a:rPr lang="en-IN" sz="2100"/>
                        <a:t> used outside any loop.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/>
                        <a:t>Remove it or place it inside a loop.</a:t>
                      </a:r>
                    </a:p>
                  </a:txBody>
                  <a:tcPr marL="78939" marR="78939" marT="39470" marB="39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181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933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4563</Words>
  <Application>Microsoft Office PowerPoint</Application>
  <PresentationFormat>Custom</PresentationFormat>
  <Paragraphs>1014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Courier New</vt:lpstr>
      <vt:lpstr>Office Theme</vt:lpstr>
      <vt:lpstr>Problem 1:-</vt:lpstr>
      <vt:lpstr>PowerPoint Presentation</vt:lpstr>
      <vt:lpstr>Problem 2 :-</vt:lpstr>
      <vt:lpstr>PowerPoint Presentation</vt:lpstr>
      <vt:lpstr>PowerPoint Presentation</vt:lpstr>
      <vt:lpstr>Problem 3:-</vt:lpstr>
      <vt:lpstr>PowerPoint Presentation</vt:lpstr>
      <vt:lpstr>PowerPoint Presentation</vt:lpstr>
      <vt:lpstr>Problem 4 :-</vt:lpstr>
      <vt:lpstr>PowerPoint Presentation</vt:lpstr>
      <vt:lpstr>PowerPoint Presentation</vt:lpstr>
      <vt:lpstr>PowerPoint Presentation</vt:lpstr>
      <vt:lpstr>Problem 5 :-  </vt:lpstr>
      <vt:lpstr>PowerPoint Presentation</vt:lpstr>
      <vt:lpstr>PowerPoint Presentation</vt:lpstr>
      <vt:lpstr>PowerPoint Presentation</vt:lpstr>
      <vt:lpstr>Problem 6:-</vt:lpstr>
      <vt:lpstr>PowerPoint Presentation</vt:lpstr>
      <vt:lpstr>PowerPoint Presentation</vt:lpstr>
      <vt:lpstr>PowerPoint Presentation</vt:lpstr>
      <vt:lpstr>PowerPoint Presentation</vt:lpstr>
      <vt:lpstr>Problem 7:- </vt:lpstr>
      <vt:lpstr>PowerPoint Presentation</vt:lpstr>
      <vt:lpstr>PowerPoint Presentation</vt:lpstr>
      <vt:lpstr>PowerPoint Presentation</vt:lpstr>
      <vt:lpstr>Problem 8:-</vt:lpstr>
      <vt:lpstr>PowerPoint Presentation</vt:lpstr>
      <vt:lpstr>PowerPoint Presentation</vt:lpstr>
      <vt:lpstr>PowerPoint Presentation</vt:lpstr>
      <vt:lpstr>PowerPoint Presentation</vt:lpstr>
      <vt:lpstr>Problem 9:-</vt:lpstr>
      <vt:lpstr>PowerPoint Presentation</vt:lpstr>
      <vt:lpstr>PowerPoint Presentation</vt:lpstr>
      <vt:lpstr>PowerPoint Presentation</vt:lpstr>
      <vt:lpstr>Problem 10:-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CHOUDHARY</dc:creator>
  <cp:lastModifiedBy>MANOJ CHOUDHARY</cp:lastModifiedBy>
  <cp:revision>3</cp:revision>
  <dcterms:created xsi:type="dcterms:W3CDTF">2026-06-20T16:33:17Z</dcterms:created>
  <dcterms:modified xsi:type="dcterms:W3CDTF">2026-06-21T07:43:38Z</dcterms:modified>
</cp:coreProperties>
</file>