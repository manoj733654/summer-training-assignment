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</p:sldIdLst>
  <p:sldSz cx="12192000" cy="14003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606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91751"/>
            <a:ext cx="10363200" cy="487523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354995"/>
            <a:ext cx="9144000" cy="338089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9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46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491114"/>
            <a:ext cx="10515600" cy="582499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371219"/>
            <a:ext cx="10515600" cy="306322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7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727741"/>
            <a:ext cx="5181600" cy="8884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727741"/>
            <a:ext cx="5181600" cy="88849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94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45551"/>
            <a:ext cx="10515600" cy="27066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432764"/>
            <a:ext cx="5157787" cy="168234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115108"/>
            <a:ext cx="5157787" cy="7523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432764"/>
            <a:ext cx="5183188" cy="168234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115108"/>
            <a:ext cx="5183188" cy="7523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2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47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70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3556"/>
            <a:ext cx="3932237" cy="326744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16225"/>
            <a:ext cx="6172200" cy="995144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01001"/>
            <a:ext cx="3932237" cy="7782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3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33556"/>
            <a:ext cx="3932237" cy="3267446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16225"/>
            <a:ext cx="6172200" cy="995144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201001"/>
            <a:ext cx="3932237" cy="7782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0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4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45548"/>
            <a:ext cx="2628900" cy="118671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45548"/>
            <a:ext cx="7734300" cy="118671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8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45551"/>
            <a:ext cx="10515600" cy="2706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727741"/>
            <a:ext cx="10515600" cy="8884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979023"/>
            <a:ext cx="2743200" cy="745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95382-80DA-430A-B6F3-2C38B864D15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979023"/>
            <a:ext cx="4114800" cy="745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979023"/>
            <a:ext cx="2743200" cy="7455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CF37D-6DEE-49B9-8683-10F7FFB38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0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D6387-DC8C-CE19-7683-7DB90C15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80" y="4295004"/>
            <a:ext cx="10515600" cy="2706665"/>
          </a:xfrm>
        </p:spPr>
        <p:txBody>
          <a:bodyPr/>
          <a:lstStyle/>
          <a:p>
            <a:r>
              <a:rPr lang="en-US" dirty="0"/>
              <a:t>Problem 1 :-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19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CD5F61-F7D3-1126-E14E-7B1504E42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775538"/>
              </p:ext>
            </p:extLst>
          </p:nvPr>
        </p:nvGraphicFramePr>
        <p:xfrm>
          <a:off x="5580184" y="0"/>
          <a:ext cx="6424248" cy="14013936"/>
        </p:xfrm>
        <a:graphic>
          <a:graphicData uri="http://schemas.openxmlformats.org/drawingml/2006/table">
            <a:tbl>
              <a:tblPr/>
              <a:tblGrid>
                <a:gridCol w="1606062">
                  <a:extLst>
                    <a:ext uri="{9D8B030D-6E8A-4147-A177-3AD203B41FA5}">
                      <a16:colId xmlns:a16="http://schemas.microsoft.com/office/drawing/2014/main" val="3196807445"/>
                    </a:ext>
                  </a:extLst>
                </a:gridCol>
                <a:gridCol w="1606062">
                  <a:extLst>
                    <a:ext uri="{9D8B030D-6E8A-4147-A177-3AD203B41FA5}">
                      <a16:colId xmlns:a16="http://schemas.microsoft.com/office/drawing/2014/main" val="1056200794"/>
                    </a:ext>
                  </a:extLst>
                </a:gridCol>
                <a:gridCol w="1606062">
                  <a:extLst>
                    <a:ext uri="{9D8B030D-6E8A-4147-A177-3AD203B41FA5}">
                      <a16:colId xmlns:a16="http://schemas.microsoft.com/office/drawing/2014/main" val="2620737644"/>
                    </a:ext>
                  </a:extLst>
                </a:gridCol>
                <a:gridCol w="1606062">
                  <a:extLst>
                    <a:ext uri="{9D8B030D-6E8A-4147-A177-3AD203B41FA5}">
                      <a16:colId xmlns:a16="http://schemas.microsoft.com/office/drawing/2014/main" val="1871788380"/>
                    </a:ext>
                  </a:extLst>
                </a:gridCol>
              </a:tblGrid>
              <a:tr h="613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Line No.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Error Type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Error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Correction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385500"/>
                  </a:ext>
                </a:extLst>
              </a:tr>
              <a:tr h="208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9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Syntax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Missing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2200"/>
                        <a:t> after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int department = 1</a:t>
                      </a:r>
                      <a:endParaRPr lang="en-IN" sz="220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int department = 1;</a:t>
                      </a:r>
                      <a:endParaRPr lang="en-IN" sz="220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344244"/>
                  </a:ext>
                </a:extLst>
              </a:tr>
              <a:tr h="2141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11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Semantic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int marks = "90";</a:t>
                      </a:r>
                      <a:r>
                        <a:rPr lang="en-IN" sz="2200"/>
                        <a:t> (string assigned to int)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int marks = 90;</a:t>
                      </a:r>
                      <a:endParaRPr lang="en-IN" sz="220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25640"/>
                  </a:ext>
                </a:extLst>
              </a:tr>
              <a:tr h="2085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24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Logical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if(x = 10)</a:t>
                      </a:r>
                      <a:r>
                        <a:rPr lang="en-IN" sz="2200"/>
                        <a:t> uses assignment instead of comparison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if(x == 10)</a:t>
                      </a:r>
                      <a:endParaRPr lang="en-IN" sz="220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100577"/>
                  </a:ext>
                </a:extLst>
              </a:tr>
              <a:tr h="1798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29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Semantic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score</a:t>
                      </a:r>
                      <a:r>
                        <a:rPr lang="en-IN" sz="2200"/>
                        <a:t> is undeclared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Declare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int score;</a:t>
                      </a:r>
                      <a:r>
                        <a:rPr lang="en-IN" sz="2200"/>
                        <a:t> or use correct variable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403556"/>
                  </a:ext>
                </a:extLst>
              </a:tr>
              <a:tr h="111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47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Linker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2200"/>
                        <a:t> called but not defined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Define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2200"/>
                        <a:t> function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433900"/>
                  </a:ext>
                </a:extLst>
              </a:tr>
              <a:tr h="1456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56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Scope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temp</a:t>
                      </a:r>
                      <a:r>
                        <a:rPr lang="en-IN" sz="2200"/>
                        <a:t> used outside its block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Declare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temp</a:t>
                      </a:r>
                      <a:r>
                        <a:rPr lang="en-IN" sz="2200"/>
                        <a:t> outside block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002038"/>
                  </a:ext>
                </a:extLst>
              </a:tr>
              <a:tr h="159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60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Runtime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IN" sz="2200"/>
                        <a:t> out of bounds for array size 5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Use index </a:t>
                      </a:r>
                      <a:r>
                        <a:rPr lang="en-IN" sz="2200">
                          <a:latin typeface="Courier New" panose="02070309020205020404" pitchFamily="49" charset="0"/>
                        </a:rPr>
                        <a:t>0–4</a:t>
                      </a:r>
                      <a:endParaRPr lang="en-IN" sz="220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208491"/>
                  </a:ext>
                </a:extLst>
              </a:tr>
              <a:tr h="1113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64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Semantic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2200"/>
                        <a:t> used for float variable</a:t>
                      </a:r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Use </a:t>
                      </a:r>
                      <a:r>
                        <a:rPr lang="en-IN" sz="2200" dirty="0">
                          <a:latin typeface="Courier New" panose="02070309020205020404" pitchFamily="49" charset="0"/>
                        </a:rPr>
                        <a:t>%f</a:t>
                      </a:r>
                      <a:endParaRPr lang="en-IN" sz="2200" dirty="0"/>
                    </a:p>
                  </a:txBody>
                  <a:tcPr marL="84621" marR="84621" marT="42311" marB="423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191962"/>
                  </a:ext>
                </a:extLst>
              </a:tr>
            </a:tbl>
          </a:graphicData>
        </a:graphic>
      </p:graphicFrame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394CAEA-3C8E-9718-DE0F-4C589E1D8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8" y="187569"/>
            <a:ext cx="4195747" cy="1401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A7EDD0-6F18-3D7C-E37C-BD6934340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01245" cy="1403192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F2F4FC-776A-31AA-D0E5-B2250E77D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55972"/>
              </p:ext>
            </p:extLst>
          </p:nvPr>
        </p:nvGraphicFramePr>
        <p:xfrm>
          <a:off x="3657600" y="0"/>
          <a:ext cx="8534400" cy="14003341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57092349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8828643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27900335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508831097"/>
                    </a:ext>
                  </a:extLst>
                </a:gridCol>
              </a:tblGrid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83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Scope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en-IN" sz="2100"/>
                        <a:t> used outside loop block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Declare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result</a:t>
                      </a:r>
                      <a:r>
                        <a:rPr lang="en-IN" sz="2100"/>
                        <a:t> before loop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242161"/>
                  </a:ext>
                </a:extLst>
              </a:tr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89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Logical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Both if and else print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"Eligible"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Else should print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"Not Eligible"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624059"/>
                  </a:ext>
                </a:extLst>
              </a:tr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93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Function Call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displayData()</a:t>
                      </a:r>
                      <a:r>
                        <a:rPr lang="en-IN" sz="2100"/>
                        <a:t> called without argument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displayData(value);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036685"/>
                  </a:ext>
                </a:extLst>
              </a:tr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125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Logical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while(z &gt; 0);</a:t>
                      </a:r>
                      <a:r>
                        <a:rPr lang="en-IN" sz="2100"/>
                        <a:t> contains extra semicolon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while(z &gt; 0)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774596"/>
                  </a:ext>
                </a:extLst>
              </a:tr>
              <a:tr h="19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130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Semantic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char grade = "A";</a:t>
                      </a:r>
                      <a:r>
                        <a:rPr lang="en-IN" sz="2100"/>
                        <a:t> uses string instead of character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455602"/>
                  </a:ext>
                </a:extLst>
              </a:tr>
              <a:tr h="104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134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Semantic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%s</a:t>
                      </a:r>
                      <a:r>
                        <a:rPr lang="en-IN" sz="2100"/>
                        <a:t> used for integer variable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Use </a:t>
                      </a:r>
                      <a:r>
                        <a:rPr lang="en-IN" sz="2100">
                          <a:latin typeface="Courier New" panose="02070309020205020404" pitchFamily="49" charset="0"/>
                        </a:rPr>
                        <a:t>%d</a:t>
                      </a:r>
                      <a:endParaRPr lang="en-IN" sz="2100"/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58720"/>
                  </a:ext>
                </a:extLst>
              </a:tr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138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Runtime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Dereferencing NULL pointer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Allocate memory or assign valid address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29857"/>
                  </a:ext>
                </a:extLst>
              </a:tr>
              <a:tr h="150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142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Linker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>
                          <a:latin typeface="Courier New" panose="02070309020205020404" pitchFamily="49" charset="0"/>
                        </a:rPr>
                        <a:t>calculateAverage()</a:t>
                      </a:r>
                      <a:r>
                        <a:rPr lang="en-IN" sz="2100"/>
                        <a:t> not declared/defined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Declare and define function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580749"/>
                  </a:ext>
                </a:extLst>
              </a:tr>
              <a:tr h="1967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142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Semantic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Return value assigned to int but function missing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Create proper function returning int</a:t>
                      </a:r>
                    </a:p>
                  </a:txBody>
                  <a:tcPr marL="78630" marR="78630" marT="39315" marB="393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70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88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7FC2E-A4F4-E910-F63A-5A330880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160" y="4295004"/>
            <a:ext cx="10515600" cy="2706665"/>
          </a:xfrm>
        </p:spPr>
        <p:txBody>
          <a:bodyPr/>
          <a:lstStyle/>
          <a:p>
            <a:r>
              <a:rPr lang="en-US" dirty="0"/>
              <a:t>Problem 2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48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BC1C96-AB41-58EA-A273-C075A5509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78794" cy="14003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E5D976-12C1-65B2-D3EB-B5D4775F7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025105"/>
              </p:ext>
            </p:extLst>
          </p:nvPr>
        </p:nvGraphicFramePr>
        <p:xfrm>
          <a:off x="3778794" y="0"/>
          <a:ext cx="8413208" cy="14003336"/>
        </p:xfrm>
        <a:graphic>
          <a:graphicData uri="http://schemas.openxmlformats.org/drawingml/2006/table">
            <a:tbl>
              <a:tblPr/>
              <a:tblGrid>
                <a:gridCol w="2103302">
                  <a:extLst>
                    <a:ext uri="{9D8B030D-6E8A-4147-A177-3AD203B41FA5}">
                      <a16:colId xmlns:a16="http://schemas.microsoft.com/office/drawing/2014/main" val="278575553"/>
                    </a:ext>
                  </a:extLst>
                </a:gridCol>
                <a:gridCol w="2103302">
                  <a:extLst>
                    <a:ext uri="{9D8B030D-6E8A-4147-A177-3AD203B41FA5}">
                      <a16:colId xmlns:a16="http://schemas.microsoft.com/office/drawing/2014/main" val="623775060"/>
                    </a:ext>
                  </a:extLst>
                </a:gridCol>
                <a:gridCol w="2103302">
                  <a:extLst>
                    <a:ext uri="{9D8B030D-6E8A-4147-A177-3AD203B41FA5}">
                      <a16:colId xmlns:a16="http://schemas.microsoft.com/office/drawing/2014/main" val="3985914495"/>
                    </a:ext>
                  </a:extLst>
                </a:gridCol>
                <a:gridCol w="2103302">
                  <a:extLst>
                    <a:ext uri="{9D8B030D-6E8A-4147-A177-3AD203B41FA5}">
                      <a16:colId xmlns:a16="http://schemas.microsoft.com/office/drawing/2014/main" val="1617612492"/>
                    </a:ext>
                  </a:extLst>
                </a:gridCol>
              </a:tblGrid>
              <a:tr h="551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 Type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Correction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283351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int marks = "90";</a:t>
                      </a:r>
                      <a:r>
                        <a:rPr lang="en-IN" sz="1800"/>
                        <a:t> assigning string to int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int marks = 90;</a:t>
                      </a:r>
                      <a:endParaRPr lang="en-IN" sz="1800" dirty="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658232"/>
                  </a:ext>
                </a:extLst>
              </a:tr>
              <a:tr h="1874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16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Syntax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Missing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 sz="1800"/>
                        <a:t> after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printf("Program Started\n")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;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934317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32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add()</a:t>
                      </a:r>
                      <a:r>
                        <a:rPr lang="en-IN" sz="1800"/>
                        <a:t> called before declaration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prototype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int add(int,int);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292432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38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Printing address using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%d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%p</a:t>
                      </a:r>
                      <a:r>
                        <a:rPr lang="en-IN" sz="1800"/>
                        <a:t> and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(void*)&amp;number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54563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38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Cannot take address of register variable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Remove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&amp;number</a:t>
                      </a:r>
                      <a:r>
                        <a:rPr lang="en-IN" sz="1800"/>
                        <a:t> or remove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register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505699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40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Semantic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static int salary = "50000";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static int salary = 50000;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64453"/>
                  </a:ext>
                </a:extLst>
              </a:tr>
              <a:tr h="99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48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Scope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department</a:t>
                      </a:r>
                      <a:r>
                        <a:rPr lang="en-IN" sz="1800"/>
                        <a:t> out of scope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Declare outside block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45060"/>
                  </a:ext>
                </a:extLst>
              </a:tr>
              <a:tr h="99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56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Scope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temp</a:t>
                      </a:r>
                      <a:r>
                        <a:rPr lang="en-IN" sz="1800"/>
                        <a:t> out of scope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Declare before loop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040914"/>
                  </a:ext>
                </a:extLst>
              </a:tr>
              <a:tr h="1433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60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arr[10] = 500;</a:t>
                      </a:r>
                      <a:r>
                        <a:rPr lang="en-IN" sz="1800"/>
                        <a:t> out of bounds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valid index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0-4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398680"/>
                  </a:ext>
                </a:extLst>
              </a:tr>
              <a:tr h="992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65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</a:t>
                      </a:r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Division by zero </a:t>
                      </a:r>
                      <a:r>
                        <a:rPr lang="en-IN" sz="1800">
                          <a:latin typeface="Courier New" panose="02070309020205020404" pitchFamily="49" charset="0"/>
                        </a:rPr>
                        <a:t>a/b</a:t>
                      </a:r>
                      <a:endParaRPr lang="en-IN" sz="180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Ensure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b != 0</a:t>
                      </a:r>
                      <a:endParaRPr lang="en-IN" sz="1800" dirty="0"/>
                    </a:p>
                  </a:txBody>
                  <a:tcPr marL="69963" marR="69963" marT="34981" marB="34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053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44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AC007E-8663-365D-A148-2690EE94C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128"/>
            <a:ext cx="3204688" cy="1409446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142B02-7884-2CF5-9F3A-F2A709961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408539"/>
              </p:ext>
            </p:extLst>
          </p:nvPr>
        </p:nvGraphicFramePr>
        <p:xfrm>
          <a:off x="3204688" y="0"/>
          <a:ext cx="8987312" cy="14003337"/>
        </p:xfrm>
        <a:graphic>
          <a:graphicData uri="http://schemas.openxmlformats.org/drawingml/2006/table">
            <a:tbl>
              <a:tblPr/>
              <a:tblGrid>
                <a:gridCol w="2246828">
                  <a:extLst>
                    <a:ext uri="{9D8B030D-6E8A-4147-A177-3AD203B41FA5}">
                      <a16:colId xmlns:a16="http://schemas.microsoft.com/office/drawing/2014/main" val="681433761"/>
                    </a:ext>
                  </a:extLst>
                </a:gridCol>
                <a:gridCol w="2246828">
                  <a:extLst>
                    <a:ext uri="{9D8B030D-6E8A-4147-A177-3AD203B41FA5}">
                      <a16:colId xmlns:a16="http://schemas.microsoft.com/office/drawing/2014/main" val="2850497622"/>
                    </a:ext>
                  </a:extLst>
                </a:gridCol>
                <a:gridCol w="2246828">
                  <a:extLst>
                    <a:ext uri="{9D8B030D-6E8A-4147-A177-3AD203B41FA5}">
                      <a16:colId xmlns:a16="http://schemas.microsoft.com/office/drawing/2014/main" val="2281776176"/>
                    </a:ext>
                  </a:extLst>
                </a:gridCol>
                <a:gridCol w="2246828">
                  <a:extLst>
                    <a:ext uri="{9D8B030D-6E8A-4147-A177-3AD203B41FA5}">
                      <a16:colId xmlns:a16="http://schemas.microsoft.com/office/drawing/2014/main" val="2014416607"/>
                    </a:ext>
                  </a:extLst>
                </a:gridCol>
              </a:tblGrid>
              <a:tr h="2018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69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Logical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if(value= 100)</a:t>
                      </a:r>
                      <a:r>
                        <a:rPr lang="en-IN" sz="2000" dirty="0"/>
                        <a:t> assignment instead of comparison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if(value == 100)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201788"/>
                  </a:ext>
                </a:extLst>
              </a:tr>
              <a:tr h="1067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79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Logical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Both branches print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"Pass"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Change else message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683652"/>
                  </a:ext>
                </a:extLst>
              </a:tr>
              <a:tr h="1067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91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Semantic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char grade = "A";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207092"/>
                  </a:ext>
                </a:extLst>
              </a:tr>
              <a:tr h="1067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113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Uninitialized variable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data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Initialize before use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657404"/>
                  </a:ext>
                </a:extLst>
              </a:tr>
              <a:tr h="154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117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Dereferencing NULL pointer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Allocate memory or assign valid address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013754"/>
                  </a:ext>
                </a:extLst>
              </a:tr>
              <a:tr h="154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119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Linker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extern int companyCode;</a:t>
                      </a:r>
                      <a:r>
                        <a:rPr lang="en-IN" sz="2000"/>
                        <a:t> not defined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Define globally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431775"/>
                  </a:ext>
                </a:extLst>
              </a:tr>
              <a:tr h="154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123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Linker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calculateAverage()</a:t>
                      </a:r>
                      <a:r>
                        <a:rPr lang="en-IN" sz="2000"/>
                        <a:t> not declared/defined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prototype and function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432406"/>
                  </a:ext>
                </a:extLst>
              </a:tr>
              <a:tr h="154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129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Semantic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int employeeId = "EMP101";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char employeeId[] = "EMP101";</a:t>
                      </a:r>
                      <a:endParaRPr lang="en-IN" sz="2000"/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81797"/>
                  </a:ext>
                </a:extLst>
              </a:tr>
              <a:tr h="1067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136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Logical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Semicolon after while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Remove semicolon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137899"/>
                  </a:ext>
                </a:extLst>
              </a:tr>
              <a:tr h="1542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154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Linker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total</a:t>
                      </a:r>
                      <a:r>
                        <a:rPr lang="en-IN" sz="2000"/>
                        <a:t> declared extern but not defined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Define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int total = 0;</a:t>
                      </a:r>
                      <a:r>
                        <a:rPr lang="en-IN" sz="2000" dirty="0"/>
                        <a:t> globally</a:t>
                      </a:r>
                    </a:p>
                  </a:txBody>
                  <a:tcPr marL="75299" marR="75299" marT="37649" marB="37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29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8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DD94-D7EB-521A-1E32-F94D99FD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80" y="5053391"/>
            <a:ext cx="10515600" cy="2706665"/>
          </a:xfrm>
        </p:spPr>
        <p:txBody>
          <a:bodyPr/>
          <a:lstStyle/>
          <a:p>
            <a:r>
              <a:rPr lang="en-US" dirty="0"/>
              <a:t>Problem 3 :-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93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BD52D-479A-5A90-268B-7BD7A3D4D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74720" cy="140392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B40107-C717-3780-77A2-38EB3F6B0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23949"/>
              </p:ext>
            </p:extLst>
          </p:nvPr>
        </p:nvGraphicFramePr>
        <p:xfrm>
          <a:off x="3474720" y="0"/>
          <a:ext cx="8717280" cy="14003337"/>
        </p:xfrm>
        <a:graphic>
          <a:graphicData uri="http://schemas.openxmlformats.org/drawingml/2006/table">
            <a:tbl>
              <a:tblPr/>
              <a:tblGrid>
                <a:gridCol w="2179320">
                  <a:extLst>
                    <a:ext uri="{9D8B030D-6E8A-4147-A177-3AD203B41FA5}">
                      <a16:colId xmlns:a16="http://schemas.microsoft.com/office/drawing/2014/main" val="1916793450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3250868983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1178667479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2668671054"/>
                    </a:ext>
                  </a:extLst>
                </a:gridCol>
              </a:tblGrid>
              <a:tr h="946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Correction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54454"/>
                  </a:ext>
                </a:extLst>
              </a:tr>
              <a:tr h="24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semicolon after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int choice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 choice;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546817"/>
                  </a:ext>
                </a:extLst>
              </a:tr>
              <a:tr h="1703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default</a:t>
                      </a:r>
                      <a:r>
                        <a:rPr lang="en-IN"/>
                        <a:t> missing colon (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default: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034701"/>
                  </a:ext>
                </a:extLst>
              </a:tr>
              <a:tr h="24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Condition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if(index &gt; 5)</a:t>
                      </a:r>
                      <a:r>
                        <a:rPr lang="en-IN"/>
                        <a:t> is wrong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if(index &gt;= 5)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62660"/>
                  </a:ext>
                </a:extLst>
              </a:tr>
              <a:tr h="321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check before accessing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students[index]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if array is full before insertion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766128"/>
                  </a:ext>
                </a:extLst>
              </a:tr>
              <a:tr h="3216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for(i=0;i&lt;=totalStudents;i++)</a:t>
                      </a:r>
                      <a:r>
                        <a:rPr lang="en-IN"/>
                        <a:t> accesses one extra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for(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=0;i&lt;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totalStudents;i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++)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92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09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3668C1-4120-373E-5088-050226EAB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38"/>
            <a:ext cx="5720861" cy="137080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D5C756-6957-673D-3867-AC1CF6FFD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49944"/>
              </p:ext>
            </p:extLst>
          </p:nvPr>
        </p:nvGraphicFramePr>
        <p:xfrm>
          <a:off x="5720860" y="0"/>
          <a:ext cx="6471140" cy="14003339"/>
        </p:xfrm>
        <a:graphic>
          <a:graphicData uri="http://schemas.openxmlformats.org/drawingml/2006/table">
            <a:tbl>
              <a:tblPr/>
              <a:tblGrid>
                <a:gridCol w="1617785">
                  <a:extLst>
                    <a:ext uri="{9D8B030D-6E8A-4147-A177-3AD203B41FA5}">
                      <a16:colId xmlns:a16="http://schemas.microsoft.com/office/drawing/2014/main" val="2154917998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252543957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287909650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00886699"/>
                    </a:ext>
                  </a:extLst>
                </a:gridCol>
              </a:tblGrid>
              <a:tr h="583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Line No.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Error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Error Type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Correction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700134"/>
                  </a:ext>
                </a:extLst>
              </a:tr>
              <a:tr h="139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105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Division by zero (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total / 0</a:t>
                      </a:r>
                      <a:r>
                        <a:rPr lang="en-IN" sz="2000"/>
                        <a:t>)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total / totalStudents</a:t>
                      </a:r>
                      <a:endParaRPr lang="en-IN" sz="2000"/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130874"/>
                  </a:ext>
                </a:extLst>
              </a:tr>
              <a:tr h="1984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105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 check when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totalStudents == 0</a:t>
                      </a:r>
                      <a:endParaRPr lang="en-IN" sz="2000"/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Check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if(totalStudents &gt; 0)</a:t>
                      </a:r>
                      <a:r>
                        <a:rPr lang="en-IN" sz="2000"/>
                        <a:t> before division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911557"/>
                  </a:ext>
                </a:extLst>
              </a:tr>
              <a:tr h="2045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110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int highest = students[0].marks;</a:t>
                      </a:r>
                      <a:r>
                        <a:rPr lang="en-IN" sz="2000"/>
                        <a:t> loses decimal part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Semantic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float highest = students[0].marks;</a:t>
                      </a:r>
                      <a:endParaRPr lang="en-IN" sz="2000"/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50459"/>
                  </a:ext>
                </a:extLst>
              </a:tr>
              <a:tr h="1984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110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Accessing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students[0]</a:t>
                      </a:r>
                      <a:r>
                        <a:rPr lang="en-IN" sz="2000"/>
                        <a:t> when no students exist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Check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if(totalStudents &gt; 0)</a:t>
                      </a:r>
                      <a:r>
                        <a:rPr lang="en-IN" sz="2000"/>
                        <a:t> before accessing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675457"/>
                  </a:ext>
                </a:extLst>
              </a:tr>
              <a:tr h="2045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112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int lowest = students[0].marks;</a:t>
                      </a:r>
                      <a:r>
                        <a:rPr lang="en-IN" sz="2000"/>
                        <a:t> loses decimal part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Semantic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float lowest = students[0].marks;</a:t>
                      </a:r>
                      <a:endParaRPr lang="en-IN" sz="2000"/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77413"/>
                  </a:ext>
                </a:extLst>
              </a:tr>
              <a:tr h="1984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112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Accessing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students[0]</a:t>
                      </a:r>
                      <a:r>
                        <a:rPr lang="en-IN" sz="2000"/>
                        <a:t> when no students exist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Runtime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Check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if(totalStudents &gt; 0)</a:t>
                      </a:r>
                      <a:r>
                        <a:rPr lang="en-IN" sz="2000"/>
                        <a:t> before accessing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335838"/>
                  </a:ext>
                </a:extLst>
              </a:tr>
              <a:tr h="1984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118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Loop should start from 1 after initialization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Logical</a:t>
                      </a:r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for(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 = 1;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 &lt;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totalStudents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;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++)</a:t>
                      </a:r>
                      <a:endParaRPr lang="en-IN" sz="2000" dirty="0"/>
                    </a:p>
                  </a:txBody>
                  <a:tcPr marL="76597" marR="76597" marT="38298" marB="382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9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98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029F17-F51D-FD2C-8EA9-535AC12A3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" y="43883"/>
            <a:ext cx="3382533" cy="1395945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076EE-FCA2-CEA4-6593-A806D685C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1348"/>
              </p:ext>
            </p:extLst>
          </p:nvPr>
        </p:nvGraphicFramePr>
        <p:xfrm>
          <a:off x="3627878" y="0"/>
          <a:ext cx="8421884" cy="13959451"/>
        </p:xfrm>
        <a:graphic>
          <a:graphicData uri="http://schemas.openxmlformats.org/drawingml/2006/table">
            <a:tbl>
              <a:tblPr/>
              <a:tblGrid>
                <a:gridCol w="2105471">
                  <a:extLst>
                    <a:ext uri="{9D8B030D-6E8A-4147-A177-3AD203B41FA5}">
                      <a16:colId xmlns:a16="http://schemas.microsoft.com/office/drawing/2014/main" val="4209997431"/>
                    </a:ext>
                  </a:extLst>
                </a:gridCol>
                <a:gridCol w="2105471">
                  <a:extLst>
                    <a:ext uri="{9D8B030D-6E8A-4147-A177-3AD203B41FA5}">
                      <a16:colId xmlns:a16="http://schemas.microsoft.com/office/drawing/2014/main" val="2234259830"/>
                    </a:ext>
                  </a:extLst>
                </a:gridCol>
                <a:gridCol w="2105471">
                  <a:extLst>
                    <a:ext uri="{9D8B030D-6E8A-4147-A177-3AD203B41FA5}">
                      <a16:colId xmlns:a16="http://schemas.microsoft.com/office/drawing/2014/main" val="3419840476"/>
                    </a:ext>
                  </a:extLst>
                </a:gridCol>
                <a:gridCol w="2105471">
                  <a:extLst>
                    <a:ext uri="{9D8B030D-6E8A-4147-A177-3AD203B41FA5}">
                      <a16:colId xmlns:a16="http://schemas.microsoft.com/office/drawing/2014/main" val="3937962095"/>
                    </a:ext>
                  </a:extLst>
                </a:gridCol>
              </a:tblGrid>
              <a:tr h="337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Line No.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Error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Error Type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Correction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30213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130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Printing float using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%d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Format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%f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711467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132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Printing float using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%d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Format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%f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360611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135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totalStudent</a:t>
                      </a:r>
                      <a:r>
                        <a:rPr lang="en-IN" sz="1100"/>
                        <a:t> undeclared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totalStudents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82568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printGrade()</a:t>
                      </a:r>
                      <a:r>
                        <a:rPr lang="en-IN" sz="1100"/>
                        <a:t> not declared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Linker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Add function prototype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6668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138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printGrade()</a:t>
                      </a:r>
                      <a:r>
                        <a:rPr lang="en-IN" sz="1100"/>
                        <a:t> not defined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Linker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Define the function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29668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140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calculateRank()</a:t>
                      </a:r>
                      <a:r>
                        <a:rPr lang="en-IN" sz="1100"/>
                        <a:t> not declared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Linker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Add function prototype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767640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140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calculateRank()</a:t>
                      </a:r>
                      <a:r>
                        <a:rPr lang="en-IN" sz="1100"/>
                        <a:t> not defined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Linker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Define the function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724336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149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s.rollNo = "101"</a:t>
                      </a:r>
                      <a:r>
                        <a:rPr lang="en-IN" sz="1100"/>
                        <a:t> assigns string to int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s.rollNo = 101;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52140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153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s.marks = "90"</a:t>
                      </a:r>
                      <a:r>
                        <a:rPr lang="en-IN" sz="1100"/>
                        <a:t> assigns string to float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s.marks = 90;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746576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168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students[roll]</a:t>
                      </a:r>
                      <a:r>
                        <a:rPr lang="en-IN" sz="1100"/>
                        <a:t> may access invalid index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Validate roll number before access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492063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178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students[roll] = NULL</a:t>
                      </a:r>
                      <a:r>
                        <a:rPr lang="en-IN" sz="1100"/>
                        <a:t> invalid for structure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a deletion flag or shift records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45308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188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Comparing strings using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==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Logical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strcmp()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3949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198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Assigning float result to int variable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Semantic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float avg;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08351"/>
                  </a:ext>
                </a:extLst>
              </a:tr>
              <a:tr h="60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200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Printing float using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%d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Format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%f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88670"/>
                  </a:ext>
                </a:extLst>
              </a:tr>
              <a:tr h="1146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216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File opened in read mode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en-IN" sz="1100"/>
                        <a:t> but written using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fprintf()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File Handling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Open file with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"w"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592361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218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 check whether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fopen()</a:t>
                      </a:r>
                      <a:r>
                        <a:rPr lang="en-IN" sz="1100"/>
                        <a:t> succeeded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Check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if(fp != NULL)</a:t>
                      </a:r>
                      <a:endParaRPr lang="en-IN" sz="110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265912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227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File </a:t>
                      </a:r>
                      <a:r>
                        <a:rPr lang="en-IN" sz="1100">
                          <a:latin typeface="Courier New" panose="02070309020205020404" pitchFamily="49" charset="0"/>
                        </a:rPr>
                        <a:t>"missing.txt"</a:t>
                      </a:r>
                      <a:r>
                        <a:rPr lang="en-IN" sz="1100"/>
                        <a:t> may not exist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Verify file exists before reading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588991"/>
                  </a:ext>
                </a:extLst>
              </a:tr>
              <a:tr h="876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229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fscanf()</a:t>
                      </a:r>
                      <a:r>
                        <a:rPr lang="en-IN" sz="1100"/>
                        <a:t> used without checking file pointer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Runtime</a:t>
                      </a:r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Check 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if(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fp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!= NULL)</a:t>
                      </a:r>
                      <a:r>
                        <a:rPr lang="en-IN" sz="1100" dirty="0"/>
                        <a:t> before 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fscanf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100" dirty="0"/>
                    </a:p>
                  </a:txBody>
                  <a:tcPr marL="42924" marR="42924" marT="21462" marB="214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62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84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3BFFB-50B3-CEE6-19AE-A39CA94B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520" y="4646991"/>
            <a:ext cx="10515600" cy="2706665"/>
          </a:xfrm>
        </p:spPr>
        <p:txBody>
          <a:bodyPr/>
          <a:lstStyle/>
          <a:p>
            <a:r>
              <a:rPr lang="en-US" dirty="0"/>
              <a:t>Problem 4 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34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FD5BDA-41E9-8303-9BF0-5821CA4C5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6"/>
            <a:ext cx="2235200" cy="1394339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BD0A33-44A9-31CD-FF19-9C7D20374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6337"/>
              </p:ext>
            </p:extLst>
          </p:nvPr>
        </p:nvGraphicFramePr>
        <p:xfrm>
          <a:off x="2397760" y="59946"/>
          <a:ext cx="9794240" cy="13943390"/>
        </p:xfrm>
        <a:graphic>
          <a:graphicData uri="http://schemas.openxmlformats.org/drawingml/2006/table">
            <a:tbl>
              <a:tblPr/>
              <a:tblGrid>
                <a:gridCol w="2448560">
                  <a:extLst>
                    <a:ext uri="{9D8B030D-6E8A-4147-A177-3AD203B41FA5}">
                      <a16:colId xmlns:a16="http://schemas.microsoft.com/office/drawing/2014/main" val="1487219723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3331265973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1214255491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195874086"/>
                    </a:ext>
                  </a:extLst>
                </a:gridCol>
              </a:tblGrid>
              <a:tr h="363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Line No.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 Type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 Description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Correction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877727"/>
                  </a:ext>
                </a:extLst>
              </a:tr>
              <a:tr h="944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16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Linker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generateReport()</a:t>
                      </a:r>
                      <a:r>
                        <a:rPr lang="en-IN" sz="1200"/>
                        <a:t> is declared but not defined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Define the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generateReport()</a:t>
                      </a:r>
                      <a:r>
                        <a:rPr lang="en-IN" sz="1200"/>
                        <a:t> function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25582"/>
                  </a:ext>
                </a:extLst>
              </a:tr>
              <a:tr h="1815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64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Runtime / Array Bounds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accounts[totalAccounts]</a:t>
                      </a:r>
                      <a:r>
                        <a:rPr lang="en-IN" sz="1200"/>
                        <a:t> may exceed array size if more than 10 accounts are created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Check array limit before inserting a new account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72167"/>
                  </a:ext>
                </a:extLst>
              </a:tr>
              <a:tr h="944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69-74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Database full check occurs after account creation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Move the check before storing data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3655"/>
                  </a:ext>
                </a:extLst>
              </a:tr>
              <a:tr h="1525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80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 / Array Bounds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Loop condition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 &lt;= totalAccounts</a:t>
                      </a:r>
                      <a:r>
                        <a:rPr lang="en-IN" sz="1200"/>
                        <a:t> accesses one extra element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Change to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 &lt; totalAccounts</a:t>
                      </a:r>
                      <a:endParaRPr lang="en-IN" sz="1200"/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588871"/>
                  </a:ext>
                </a:extLst>
              </a:tr>
              <a:tr h="123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106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accounts[acc]</a:t>
                      </a:r>
                      <a:r>
                        <a:rPr lang="en-IN" sz="1200"/>
                        <a:t> uses account number as array index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Search for matching account number first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109691"/>
                  </a:ext>
                </a:extLst>
              </a:tr>
              <a:tr h="123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106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Invalid index may access memory outside array bounds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Validate account exists before deposit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56941"/>
                  </a:ext>
                </a:extLst>
              </a:tr>
              <a:tr h="123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125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accounts[acc]</a:t>
                      </a:r>
                      <a:r>
                        <a:rPr lang="en-IN" sz="1200"/>
                        <a:t> uses account number as array index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Search for matching account number first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928204"/>
                  </a:ext>
                </a:extLst>
              </a:tr>
              <a:tr h="1234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127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Logical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Withdrawal condition is reversed (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IN" sz="1200"/>
                        <a:t> instead of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sz="1200"/>
                        <a:t>)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if(balance &lt; amount)</a:t>
                      </a:r>
                      <a:endParaRPr lang="en-IN" sz="1200"/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636613"/>
                  </a:ext>
                </a:extLst>
              </a:tr>
              <a:tr h="1525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131-132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Runtime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Invalid account index may cause crash or undefined behavior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Validate account number before withdrawal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146577"/>
                  </a:ext>
                </a:extLst>
              </a:tr>
              <a:tr h="944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95-107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Validation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Deposit allows negative amounts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Check </a:t>
                      </a:r>
                      <a:r>
                        <a:rPr lang="en-IN" sz="1200">
                          <a:latin typeface="Courier New" panose="02070309020205020404" pitchFamily="49" charset="0"/>
                        </a:rPr>
                        <a:t>amount &gt; 0</a:t>
                      </a:r>
                      <a:r>
                        <a:rPr lang="en-IN" sz="1200"/>
                        <a:t> before depositing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049726"/>
                  </a:ext>
                </a:extLst>
              </a:tr>
              <a:tr h="944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114-132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Validation Error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Withdrawal allows negative amounts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Check </a:t>
                      </a:r>
                      <a:r>
                        <a:rPr lang="en-IN" sz="1200" dirty="0">
                          <a:latin typeface="Courier New" panose="02070309020205020404" pitchFamily="49" charset="0"/>
                        </a:rPr>
                        <a:t>amount &gt; 0</a:t>
                      </a:r>
                      <a:r>
                        <a:rPr lang="en-IN" sz="1200" dirty="0"/>
                        <a:t> before withdrawing</a:t>
                      </a:r>
                    </a:p>
                  </a:txBody>
                  <a:tcPr marL="46277" marR="46277" marT="23139" marB="231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66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898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85D4D0-13A8-D48C-01A8-AD5F326C7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186"/>
            <a:ext cx="1828800" cy="139551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116809-FFD9-3F03-8A17-21478A2A5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60280"/>
              </p:ext>
            </p:extLst>
          </p:nvPr>
        </p:nvGraphicFramePr>
        <p:xfrm>
          <a:off x="1828800" y="48186"/>
          <a:ext cx="10363200" cy="13955153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11805400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66865195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789749044"/>
                    </a:ext>
                  </a:extLst>
                </a:gridCol>
              </a:tblGrid>
              <a:tr h="40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Actual Line No.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Error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Correction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2814"/>
                  </a:ext>
                </a:extLst>
              </a:tr>
              <a:tr h="1042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172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total / totalAccounts</a:t>
                      </a:r>
                      <a:r>
                        <a:rPr lang="en-IN" sz="1300"/>
                        <a:t> may divide by zero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Check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totalAccounts &gt; 0</a:t>
                      </a:r>
                      <a:r>
                        <a:rPr lang="en-IN" sz="1300"/>
                        <a:t> before division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045903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181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totalAccount</a:t>
                      </a:r>
                      <a:r>
                        <a:rPr lang="en-IN" sz="1300"/>
                        <a:t> undeclared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totalAccounts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305505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184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calculateInterest()</a:t>
                      </a:r>
                      <a:r>
                        <a:rPr lang="en-IN" sz="1300"/>
                        <a:t> not declared/defined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Define function or call correct function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886393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185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saveAccounts()</a:t>
                      </a:r>
                      <a:r>
                        <a:rPr lang="en-IN" sz="1300"/>
                        <a:t> called without prototype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Add prototype before use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438736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192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a.accNo = "1001"</a:t>
                      </a:r>
                      <a:r>
                        <a:rPr lang="en-IN" sz="1300"/>
                        <a:t> type mismatch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a.accNo = 1001;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269321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196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a.balance = "50000"</a:t>
                      </a:r>
                      <a:r>
                        <a:rPr lang="en-IN" sz="1300"/>
                        <a:t> type mismatch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a.balance = 50000;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79430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209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Account number used as array index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Search account by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accNo</a:t>
                      </a:r>
                      <a:r>
                        <a:rPr lang="en-IN" sz="1300"/>
                        <a:t> first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62115"/>
                  </a:ext>
                </a:extLst>
              </a:tr>
              <a:tr h="1042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221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accounts[accNo] = NULL</a:t>
                      </a:r>
                      <a:r>
                        <a:rPr lang="en-IN" sz="1300"/>
                        <a:t> invalid for structure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Delete properly or shift records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760845"/>
                  </a:ext>
                </a:extLst>
              </a:tr>
              <a:tr h="1042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230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name == accounts[0].name</a:t>
                      </a:r>
                      <a:r>
                        <a:rPr lang="en-IN" sz="1300"/>
                        <a:t> compares addresses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strcmp()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802927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240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generateAverage()</a:t>
                      </a:r>
                      <a:r>
                        <a:rPr lang="en-IN" sz="1300"/>
                        <a:t> not declared/defined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Define function and add prototype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09140"/>
                  </a:ext>
                </a:extLst>
              </a:tr>
              <a:tr h="1042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254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File opened in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en-IN" sz="1300"/>
                        <a:t> mode but written with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fprintf()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Open in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"w"</a:t>
                      </a:r>
                      <a:r>
                        <a:rPr lang="en-IN" sz="1300"/>
                        <a:t> or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"a"</a:t>
                      </a:r>
                      <a:r>
                        <a:rPr lang="en-IN" sz="1300"/>
                        <a:t> mode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95097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256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fp</a:t>
                      </a:r>
                      <a:r>
                        <a:rPr lang="en-IN" sz="1300"/>
                        <a:t> may be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NULL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Check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if(fp != NULL)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940792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266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"missing.txt"</a:t>
                      </a:r>
                      <a:r>
                        <a:rPr lang="en-IN" sz="1300"/>
                        <a:t> may not exist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Check file opened successfully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929593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268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fscanf()</a:t>
                      </a:r>
                      <a:r>
                        <a:rPr lang="en-IN" sz="1300"/>
                        <a:t> may use NULL pointer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Validate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fp</a:t>
                      </a:r>
                      <a:r>
                        <a:rPr lang="en-IN" sz="1300"/>
                        <a:t> before reading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656206"/>
                  </a:ext>
                </a:extLst>
              </a:tr>
              <a:tr h="721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307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Courier New" panose="02070309020205020404" pitchFamily="49" charset="0"/>
                        </a:rPr>
                        <a:t>arr[10] = 500</a:t>
                      </a:r>
                      <a:r>
                        <a:rPr lang="en-IN" sz="1300"/>
                        <a:t> out-of-bounds access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 index 0–4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363140"/>
                  </a:ext>
                </a:extLst>
              </a:tr>
              <a:tr h="1042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311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NULL pointer dereference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*ptr = 100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Point to valid memory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37893"/>
                  </a:ext>
                </a:extLst>
              </a:tr>
              <a:tr h="40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316</a:t>
                      </a:r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Division by zero </a:t>
                      </a:r>
                      <a:r>
                        <a:rPr lang="en-IN" sz="1300">
                          <a:latin typeface="Courier New" panose="02070309020205020404" pitchFamily="49" charset="0"/>
                        </a:rPr>
                        <a:t>a/b</a:t>
                      </a:r>
                      <a:endParaRPr lang="en-IN" sz="130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Check </a:t>
                      </a:r>
                      <a:r>
                        <a:rPr lang="en-IN" sz="1300" dirty="0">
                          <a:latin typeface="Courier New" panose="02070309020205020404" pitchFamily="49" charset="0"/>
                        </a:rPr>
                        <a:t>b != 0</a:t>
                      </a:r>
                      <a:endParaRPr lang="en-IN" sz="1300" dirty="0"/>
                    </a:p>
                  </a:txBody>
                  <a:tcPr marL="51065" marR="51065" marT="25532" marB="255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38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994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300F-52DF-4B5D-D765-A6A7C868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338" y="4295004"/>
            <a:ext cx="10515600" cy="2706665"/>
          </a:xfrm>
        </p:spPr>
        <p:txBody>
          <a:bodyPr/>
          <a:lstStyle/>
          <a:p>
            <a:r>
              <a:rPr lang="en-US" dirty="0"/>
              <a:t>Problem 5:-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63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A7B61-A452-91BE-A27F-F694B1B56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037"/>
            <a:ext cx="2696308" cy="141154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FE362-B2BE-CB43-76B9-73F9DCD54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29826"/>
              </p:ext>
            </p:extLst>
          </p:nvPr>
        </p:nvGraphicFramePr>
        <p:xfrm>
          <a:off x="2696308" y="0"/>
          <a:ext cx="9495693" cy="13809788"/>
        </p:xfrm>
        <a:graphic>
          <a:graphicData uri="http://schemas.openxmlformats.org/drawingml/2006/table">
            <a:tbl>
              <a:tblPr/>
              <a:tblGrid>
                <a:gridCol w="3165231">
                  <a:extLst>
                    <a:ext uri="{9D8B030D-6E8A-4147-A177-3AD203B41FA5}">
                      <a16:colId xmlns:a16="http://schemas.microsoft.com/office/drawing/2014/main" val="2634411522"/>
                    </a:ext>
                  </a:extLst>
                </a:gridCol>
                <a:gridCol w="3165231">
                  <a:extLst>
                    <a:ext uri="{9D8B030D-6E8A-4147-A177-3AD203B41FA5}">
                      <a16:colId xmlns:a16="http://schemas.microsoft.com/office/drawing/2014/main" val="1335843900"/>
                    </a:ext>
                  </a:extLst>
                </a:gridCol>
                <a:gridCol w="3165231">
                  <a:extLst>
                    <a:ext uri="{9D8B030D-6E8A-4147-A177-3AD203B41FA5}">
                      <a16:colId xmlns:a16="http://schemas.microsoft.com/office/drawing/2014/main" val="2085449065"/>
                    </a:ext>
                  </a:extLst>
                </a:gridCol>
              </a:tblGrid>
              <a:tr h="95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208780"/>
                  </a:ext>
                </a:extLst>
              </a:tr>
              <a:tr h="172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IN"/>
                        <a:t> after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int choice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 choice;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964947"/>
                  </a:ext>
                </a:extLst>
              </a:tr>
              <a:tr h="95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Missing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IN" dirty="0"/>
                        <a:t> after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default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default: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048744"/>
                  </a:ext>
                </a:extLst>
              </a:tr>
              <a:tr h="172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Library full check occurs after adding the 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if(totalBooks &gt;= 20)</a:t>
                      </a:r>
                      <a:r>
                        <a:rPr lang="en-IN"/>
                        <a:t> before insertion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936428"/>
                  </a:ext>
                </a:extLst>
              </a:tr>
              <a:tr h="2493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 &lt;= totalBooks</a:t>
                      </a:r>
                      <a:r>
                        <a:rPr lang="en-IN"/>
                        <a:t> accesses one extra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for(i = 0; i &lt; totalBooks; i++)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648738"/>
                  </a:ext>
                </a:extLst>
              </a:tr>
              <a:tr h="172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 ID used as array index in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issueBook()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book using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bookId</a:t>
                      </a:r>
                      <a:r>
                        <a:rPr lang="en-IN"/>
                        <a:t> before updating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085722"/>
                  </a:ext>
                </a:extLst>
              </a:tr>
              <a:tr h="2493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Price may become negative after repeated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price before 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531285"/>
                  </a:ext>
                </a:extLst>
              </a:tr>
              <a:tr h="172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 ID used as array index in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returnBook()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 book using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bookId</a:t>
                      </a:r>
                      <a:r>
                        <a:rPr lang="en-IN" dirty="0"/>
                        <a:t> before updating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580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122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FDAFEC-C6E4-B852-A9FB-69FC3A18C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04967" cy="14003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61CE4F-2D27-22C0-7985-3935BBF3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40930"/>
              </p:ext>
            </p:extLst>
          </p:nvPr>
        </p:nvGraphicFramePr>
        <p:xfrm>
          <a:off x="1604968" y="-1"/>
          <a:ext cx="10587033" cy="14003332"/>
        </p:xfrm>
        <a:graphic>
          <a:graphicData uri="http://schemas.openxmlformats.org/drawingml/2006/table">
            <a:tbl>
              <a:tblPr/>
              <a:tblGrid>
                <a:gridCol w="3529011">
                  <a:extLst>
                    <a:ext uri="{9D8B030D-6E8A-4147-A177-3AD203B41FA5}">
                      <a16:colId xmlns:a16="http://schemas.microsoft.com/office/drawing/2014/main" val="2734884969"/>
                    </a:ext>
                  </a:extLst>
                </a:gridCol>
                <a:gridCol w="3529011">
                  <a:extLst>
                    <a:ext uri="{9D8B030D-6E8A-4147-A177-3AD203B41FA5}">
                      <a16:colId xmlns:a16="http://schemas.microsoft.com/office/drawing/2014/main" val="1933740907"/>
                    </a:ext>
                  </a:extLst>
                </a:gridCol>
                <a:gridCol w="3529011">
                  <a:extLst>
                    <a:ext uri="{9D8B030D-6E8A-4147-A177-3AD203B41FA5}">
                      <a16:colId xmlns:a16="http://schemas.microsoft.com/office/drawing/2014/main" val="2726529791"/>
                    </a:ext>
                  </a:extLst>
                </a:gridCol>
              </a:tblGrid>
              <a:tr h="30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Line No.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Error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Correction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28206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155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Possible division by zero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totalPrice/totalBooks</a:t>
                      </a:r>
                      <a:r>
                        <a:rPr lang="en-IN" sz="1000"/>
                        <a:t>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Check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if(totalBooks &gt; 0)</a:t>
                      </a:r>
                      <a:r>
                        <a:rPr lang="en-IN" sz="1000"/>
                        <a:t> before division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99551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158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totalBook</a:t>
                      </a:r>
                      <a:r>
                        <a:rPr lang="en-IN" sz="1000"/>
                        <a:t> undeclared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Replace with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totalBooks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615570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160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saveLibrary()</a:t>
                      </a:r>
                      <a:r>
                        <a:rPr lang="en-IN" sz="1000"/>
                        <a:t> called without prototype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Add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void saveLibrary();</a:t>
                      </a:r>
                      <a:r>
                        <a:rPr lang="en-IN" sz="1000"/>
                        <a:t> prototype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273434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162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calculateFine()</a:t>
                      </a:r>
                      <a:r>
                        <a:rPr lang="en-IN" sz="1000"/>
                        <a:t> not declared/defined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Define function and add prototype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76968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170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b.bookId = "101"</a:t>
                      </a:r>
                      <a:r>
                        <a:rPr lang="en-IN" sz="1000"/>
                        <a:t> (string assigned to int)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b.bookId = 101;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932885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176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b.price = "500"</a:t>
                      </a:r>
                      <a:r>
                        <a:rPr lang="en-IN" sz="1000"/>
                        <a:t> (string assigned to float)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b.price = 500;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895412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187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String comparison using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==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strcmp(title, books[0].title) == 0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449629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199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books[id] = NULL</a:t>
                      </a:r>
                      <a:r>
                        <a:rPr lang="en-IN" sz="1000"/>
                        <a:t> invalid for structure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Remove book by shifting elements or marking deleted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086362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210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Book ID used as array index in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updateBook()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Search book using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bookId</a:t>
                      </a:r>
                      <a:r>
                        <a:rPr lang="en-IN" sz="1000"/>
                        <a:t> before updating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434259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220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calculateAveragePrice()</a:t>
                      </a:r>
                      <a:r>
                        <a:rPr lang="en-IN" sz="1000"/>
                        <a:t> not declared/defined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Define function and add prototype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741482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230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File opened in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en-IN" sz="1000"/>
                        <a:t> mode but written using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fprintf()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Open file using 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"w"</a:t>
                      </a:r>
                      <a:r>
                        <a:rPr lang="en-IN" sz="1000" dirty="0"/>
                        <a:t> or 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"a"</a:t>
                      </a:r>
                      <a:r>
                        <a:rPr lang="en-IN" sz="1000" dirty="0"/>
                        <a:t> mode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59454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232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fp</a:t>
                      </a:r>
                      <a:r>
                        <a:rPr lang="en-IN" sz="1000"/>
                        <a:t> may be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NULL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Check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if(fp != NULL)</a:t>
                      </a:r>
                      <a:r>
                        <a:rPr lang="en-IN" sz="1000"/>
                        <a:t> before writing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262133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242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"missing.txt"</a:t>
                      </a:r>
                      <a:r>
                        <a:rPr lang="en-IN" sz="1000"/>
                        <a:t> may not exist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Check file opened successfully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382400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244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fscanf()</a:t>
                      </a:r>
                      <a:r>
                        <a:rPr lang="en-IN" sz="1000"/>
                        <a:t> may use NULL file pointer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Validate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fp</a:t>
                      </a:r>
                      <a:r>
                        <a:rPr lang="en-IN" sz="1000"/>
                        <a:t> before reading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48279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269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Dereferencing NULL pointer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*ptr = 100</a:t>
                      </a:r>
                      <a:r>
                        <a:rPr lang="en-IN" sz="1000"/>
                        <a:t>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Allocate memory or point to a valid variable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037150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273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Array out-of-bounds access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IN" sz="1000"/>
                        <a:t>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a valid index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0–4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246214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278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Division by zero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a/b</a:t>
                      </a:r>
                      <a:r>
                        <a:rPr lang="en-IN" sz="1000"/>
                        <a:t>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Check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if(b != 0)</a:t>
                      </a:r>
                      <a:r>
                        <a:rPr lang="en-IN" sz="1000"/>
                        <a:t> before division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498709"/>
                  </a:ext>
                </a:extLst>
              </a:tr>
              <a:tr h="788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286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Buffer overflow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"Programming"</a:t>
                      </a:r>
                      <a:r>
                        <a:rPr lang="en-IN" sz="1000"/>
                        <a:t> exceeds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name[5]</a:t>
                      </a:r>
                      <a:r>
                        <a:rPr lang="en-IN" sz="1000"/>
                        <a:t>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Increase array size, e.g.,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char name[20];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58694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296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malloc(5)</a:t>
                      </a:r>
                      <a:r>
                        <a:rPr lang="en-IN" sz="1000"/>
                        <a:t> allocates only 5 bytes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Use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malloc(5 * sizeof(int))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16588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298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Writing 20 elements into memory for 5 integers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Loop should run only up to allocated size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860173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304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Accessing memory after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free(ptr)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 not use pointer after 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free()</a:t>
                      </a:r>
                      <a:endParaRPr lang="en-IN" sz="1000"/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84942"/>
                  </a:ext>
                </a:extLst>
              </a:tr>
              <a:tr h="545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306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Double free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free(ptr)</a:t>
                      </a:r>
                      <a:r>
                        <a:rPr lang="en-IN" sz="1000"/>
                        <a:t> twice)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Free memory only once</a:t>
                      </a:r>
                    </a:p>
                  </a:txBody>
                  <a:tcPr marL="38464" marR="38464" marT="19232" marB="192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520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4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1887</Words>
  <Application>Microsoft Office PowerPoint</Application>
  <PresentationFormat>Custom</PresentationFormat>
  <Paragraphs>488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Problem 1 :- </vt:lpstr>
      <vt:lpstr>PowerPoint Presentation</vt:lpstr>
      <vt:lpstr>PowerPoint Presentation</vt:lpstr>
      <vt:lpstr>Problem 2 :-</vt:lpstr>
      <vt:lpstr>PowerPoint Presentation</vt:lpstr>
      <vt:lpstr>PowerPoint Presentation</vt:lpstr>
      <vt:lpstr>Problem 3 :- </vt:lpstr>
      <vt:lpstr>PowerPoint Presentation</vt:lpstr>
      <vt:lpstr>PowerPoint Presentation</vt:lpstr>
      <vt:lpstr>PowerPoint Presentation</vt:lpstr>
      <vt:lpstr>Problem 4 :-</vt:lpstr>
      <vt:lpstr>PowerPoint Presentation</vt:lpstr>
      <vt:lpstr>PowerPoint Presentation</vt:lpstr>
      <vt:lpstr>Problem 5:-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CHOUDHARY</dc:creator>
  <cp:lastModifiedBy>MANOJ CHOUDHARY</cp:lastModifiedBy>
  <cp:revision>1</cp:revision>
  <dcterms:created xsi:type="dcterms:W3CDTF">2026-06-18T17:56:38Z</dcterms:created>
  <dcterms:modified xsi:type="dcterms:W3CDTF">2026-06-18T19:30:35Z</dcterms:modified>
</cp:coreProperties>
</file>